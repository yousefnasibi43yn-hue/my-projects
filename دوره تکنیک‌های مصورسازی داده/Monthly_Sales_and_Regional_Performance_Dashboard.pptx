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Ex1.xml" ContentType="application/vnd.ms-office.chartex+xml"/>
  <Override PartName="/ppt/charts/style4.xml" ContentType="application/vnd.ms-office.chartstyle+xml"/>
  <Override PartName="/ppt/charts/colors4.xml" ContentType="application/vnd.ms-office.chartcolorstyle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rawings/drawing2.xml" ContentType="application/vnd.openxmlformats-officedocument.drawingml.chartshapes+xml"/>
  <Override PartName="/ppt/charts/chartEx2.xml" ContentType="application/vnd.ms-office.chartex+xml"/>
  <Override PartName="/ppt/charts/style6.xml" ContentType="application/vnd.ms-office.chartstyle+xml"/>
  <Override PartName="/ppt/charts/colors6.xml" ContentType="application/vnd.ms-office.chartcolorstyle+xml"/>
  <Override PartName="/ppt/charts/chartEx3.xml" ContentType="application/vnd.ms-office.chartex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5" r:id="rId1"/>
  </p:sldMasterIdLst>
  <p:sldIdLst>
    <p:sldId id="256" r:id="rId2"/>
    <p:sldId id="265" r:id="rId3"/>
    <p:sldId id="258" r:id="rId4"/>
    <p:sldId id="264" r:id="rId5"/>
    <p:sldId id="259" r:id="rId6"/>
    <p:sldId id="261" r:id="rId7"/>
    <p:sldId id="262" r:id="rId8"/>
    <p:sldId id="263" r:id="rId9"/>
    <p:sldId id="260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6E7A"/>
    <a:srgbClr val="00B050"/>
    <a:srgbClr val="FF0000"/>
    <a:srgbClr val="FFC000"/>
    <a:srgbClr val="334A51"/>
    <a:srgbClr val="7F7F7F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bbas\Desktop\&#1662;&#1585;&#1608;&#1688;&#1607;%20&#1583;&#1608;&#1585;&#1607;%20&#1578;&#1705;&#1606;&#1740;&#1705;%20&#1607;&#1575;&#1740;%20&#1605;&#1589;&#1608;&#1585;%20&#1587;&#1575;&#1586;&#1740;%20&#1575;&#1589;&#1604;&#1575;&#1581;%20&#1588;&#1583;&#1607;%20(Recovered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bbas\Desktop\&#1662;&#1585;&#1608;&#1688;&#1607;%20&#1583;&#1608;&#1585;&#1607;%20&#1578;&#1705;&#1606;&#1740;&#1705;%20&#1607;&#1575;&#1740;%20&#1605;&#1589;&#1608;&#1585;%20&#1587;&#1575;&#1586;&#1740;%20&#1575;&#1589;&#1604;&#1575;&#1581;%20&#1588;&#1583;&#1607;%20(Recovered).xlsx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bbas\Desktop\&#1662;&#1585;&#1608;&#1688;&#1607;%20&#1583;&#1608;&#1585;&#1607;%20&#1578;&#1705;&#1606;&#1740;&#1705;%20&#1607;&#1575;&#1740;%20&#1605;&#1589;&#1608;&#1585;%20&#1587;&#1575;&#1586;&#1740;%20&#1575;&#1589;&#1604;&#1575;&#1581;%20&#1588;&#1583;&#1607;%20(Recovered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bbas\Desktop\Monthly_Sales_and_Regional_Performance_Dashboard.xlsx" TargetMode="Externa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chartUserShapes" Target="../drawings/drawing2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C:\Users\Abbas\Desktop\&#1662;&#1585;&#1608;&#1688;&#1607;%20&#1583;&#1608;&#1585;&#1607;%20&#1578;&#1705;&#1606;&#1740;&#1705;%20&#1607;&#1575;&#1740;%20&#1605;&#1589;&#1608;&#1585;%20&#1587;&#1575;&#1586;&#1740;%20&#1575;&#1589;&#1604;&#1575;&#1581;%20&#1588;&#1583;&#1607;%20(Recovered).xlsx" TargetMode="Externa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file:///C:\Users\Abbas\Desktop\Monthly_Sales_and_Regional_Performance_Dashboard.xlsx" TargetMode="External"/></Relationships>
</file>

<file path=ppt/charts/_rels/chartEx3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oleObject" Target="file:///C:\Users\Abbas\Desktop\Monthly_Sales_and_Regional_Performance_Dashboard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2000" b="1" i="0" u="none" strike="noStrike" kern="1200" baseline="0">
                <a:solidFill>
                  <a:schemeClr val="tx1">
                    <a:alpha val="81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b="1" i="0" u="none" strike="noStrike" baseline="0" dirty="0">
                <a:solidFill>
                  <a:schemeClr val="tx1">
                    <a:alpha val="81000"/>
                  </a:schemeClr>
                </a:solidFill>
              </a:rPr>
              <a:t>A Shift in Monthly Sales Pattern Between 2020 and 2021</a:t>
            </a:r>
            <a:endParaRPr lang="fa-IR" sz="2000" b="1" i="0" u="none" strike="noStrike" baseline="0" dirty="0">
              <a:solidFill>
                <a:schemeClr val="tx1">
                  <a:alpha val="81000"/>
                </a:schemeClr>
              </a:solidFill>
            </a:endParaRPr>
          </a:p>
          <a:p>
            <a:pPr algn="l">
              <a:defRPr sz="2000">
                <a:solidFill>
                  <a:schemeClr val="tx1">
                    <a:alpha val="81000"/>
                  </a:schemeClr>
                </a:solidFill>
              </a:defRPr>
            </a:pPr>
            <a:r>
              <a:rPr lang="en-US" sz="1600" dirty="0">
                <a:solidFill>
                  <a:schemeClr val="tx1">
                    <a:alpha val="81000"/>
                  </a:schemeClr>
                </a:solidFill>
              </a:rPr>
              <a:t>2021 started stronger, but 2020 finished the year ahead.</a:t>
            </a:r>
          </a:p>
        </c:rich>
      </c:tx>
      <c:layout>
        <c:manualLayout>
          <c:xMode val="edge"/>
          <c:yMode val="edge"/>
          <c:x val="2.9446739325651519E-2"/>
          <c:y val="1.2333430705930614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2000" b="1" i="0" u="none" strike="noStrike" kern="1200" baseline="0">
              <a:solidFill>
                <a:schemeClr val="tx1">
                  <a:alpha val="81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7533522813074582E-2"/>
          <c:y val="0.18924969965600352"/>
          <c:w val="0.93898642973175472"/>
          <c:h val="0.71193391685881224"/>
        </c:manualLayout>
      </c:layout>
      <c:lineChart>
        <c:grouping val="standard"/>
        <c:varyColors val="0"/>
        <c:ser>
          <c:idx val="0"/>
          <c:order val="0"/>
          <c:tx>
            <c:strRef>
              <c:f>'Table001 (Page 1)'!$B$1:$B$2</c:f>
              <c:strCache>
                <c:ptCount val="2"/>
                <c:pt idx="0">
                  <c:v>Year</c:v>
                </c:pt>
                <c:pt idx="1">
                  <c:v>2020</c:v>
                </c:pt>
              </c:strCache>
            </c:strRef>
          </c:tx>
          <c:spPr>
            <a:ln w="19050" cap="rnd">
              <a:solidFill>
                <a:schemeClr val="tx1">
                  <a:lumMod val="65000"/>
                </a:schemeClr>
              </a:solidFill>
              <a:prstDash val="dash"/>
              <a:round/>
            </a:ln>
            <a:effectLst/>
          </c:spPr>
          <c:marker>
            <c:symbol val="none"/>
          </c:marker>
          <c:dPt>
            <c:idx val="6"/>
            <c:marker>
              <c:symbol val="none"/>
            </c:marker>
            <c:bubble3D val="0"/>
            <c:spPr>
              <a:ln w="19050" cap="rnd">
                <a:solidFill>
                  <a:schemeClr val="tx1">
                    <a:lumMod val="65000"/>
                  </a:schemeClr>
                </a:solidFill>
                <a:prstDash val="dash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E06C-404D-A5BD-4E01E6F3CFC4}"/>
              </c:ext>
            </c:extLst>
          </c:dPt>
          <c:dLbls>
            <c:dLbl>
              <c:idx val="0"/>
              <c:layout>
                <c:manualLayout>
                  <c:x val="-4.3411835652238842E-2"/>
                  <c:y val="5.810523065960374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06C-404D-A5BD-4E01E6F3CFC4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06C-404D-A5BD-4E01E6F3CFC4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06C-404D-A5BD-4E01E6F3CFC4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06C-404D-A5BD-4E01E6F3CFC4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06C-404D-A5BD-4E01E6F3CFC4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06C-404D-A5BD-4E01E6F3CFC4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06C-404D-A5BD-4E01E6F3CFC4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06C-404D-A5BD-4E01E6F3CFC4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06C-404D-A5BD-4E01E6F3CFC4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06C-404D-A5BD-4E01E6F3CFC4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06C-404D-A5BD-4E01E6F3CFC4}"/>
                </c:ext>
              </c:extLst>
            </c:dLbl>
            <c:dLbl>
              <c:idx val="11"/>
              <c:layout>
                <c:manualLayout>
                  <c:x val="-3.4225501224111839E-2"/>
                  <c:y val="-5.669687806879068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06C-404D-A5BD-4E01E6F3CFC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'Table001 (Page 1)'!$A$3:$A$14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'Table001 (Page 1)'!$B$3:$B$14</c:f>
              <c:numCache>
                <c:formatCode>"$"#,##0</c:formatCode>
                <c:ptCount val="12"/>
                <c:pt idx="0">
                  <c:v>38000</c:v>
                </c:pt>
                <c:pt idx="1">
                  <c:v>47000</c:v>
                </c:pt>
                <c:pt idx="2">
                  <c:v>49000</c:v>
                </c:pt>
                <c:pt idx="3">
                  <c:v>42000</c:v>
                </c:pt>
                <c:pt idx="4">
                  <c:v>42000</c:v>
                </c:pt>
                <c:pt idx="5">
                  <c:v>38000</c:v>
                </c:pt>
                <c:pt idx="6">
                  <c:v>43000</c:v>
                </c:pt>
                <c:pt idx="7">
                  <c:v>52000</c:v>
                </c:pt>
                <c:pt idx="8">
                  <c:v>49000</c:v>
                </c:pt>
                <c:pt idx="9">
                  <c:v>67000</c:v>
                </c:pt>
                <c:pt idx="10">
                  <c:v>74000</c:v>
                </c:pt>
                <c:pt idx="11">
                  <c:v>86000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E06C-404D-A5BD-4E01E6F3CFC4}"/>
            </c:ext>
          </c:extLst>
        </c:ser>
        <c:ser>
          <c:idx val="1"/>
          <c:order val="1"/>
          <c:tx>
            <c:strRef>
              <c:f>'Table001 (Page 1)'!$C$1:$C$2</c:f>
              <c:strCache>
                <c:ptCount val="2"/>
                <c:pt idx="0">
                  <c:v>Year</c:v>
                </c:pt>
                <c:pt idx="1">
                  <c:v>2021</c:v>
                </c:pt>
              </c:strCache>
            </c:strRef>
          </c:tx>
          <c:spPr>
            <a:ln w="50800" cap="rnd">
              <a:solidFill>
                <a:srgbClr val="00B0F0"/>
              </a:solidFill>
              <a:round/>
            </a:ln>
            <a:effectLst>
              <a:outerShdw blurRad="50800" dist="25400" dir="19920000" sx="104000" sy="104000" algn="ctr" rotWithShape="0">
                <a:schemeClr val="accent2">
                  <a:lumMod val="60000"/>
                  <a:lumOff val="40000"/>
                  <a:alpha val="43000"/>
                </a:schemeClr>
              </a:outerShdw>
            </a:effectLst>
          </c:spPr>
          <c:marker>
            <c:symbol val="none"/>
          </c:marker>
          <c:dPt>
            <c:idx val="11"/>
            <c:marker>
              <c:symbol val="none"/>
            </c:marker>
            <c:bubble3D val="0"/>
            <c:spPr>
              <a:ln w="50800" cap="rnd">
                <a:solidFill>
                  <a:srgbClr val="00B0F0"/>
                </a:solidFill>
                <a:round/>
              </a:ln>
              <a:effectLst>
                <a:outerShdw blurRad="50800" dir="19920000" sx="104000" sy="104000" algn="ctr" rotWithShape="0">
                  <a:schemeClr val="accent2">
                    <a:lumMod val="60000"/>
                    <a:lumOff val="40000"/>
                    <a:alpha val="43000"/>
                  </a:scheme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F-E06C-404D-A5BD-4E01E6F3CFC4}"/>
              </c:ext>
            </c:extLst>
          </c:dPt>
          <c:dLbls>
            <c:dLbl>
              <c:idx val="0"/>
              <c:layout>
                <c:manualLayout>
                  <c:x val="-4.8348846082362819E-2"/>
                  <c:y val="7.424425157119514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E06C-404D-A5BD-4E01E6F3CFC4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E06C-404D-A5BD-4E01E6F3CFC4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E06C-404D-A5BD-4E01E6F3CFC4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E06C-404D-A5BD-4E01E6F3CFC4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E06C-404D-A5BD-4E01E6F3CFC4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E06C-404D-A5BD-4E01E6F3CFC4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E06C-404D-A5BD-4E01E6F3CFC4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E06C-404D-A5BD-4E01E6F3CFC4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E06C-404D-A5BD-4E01E6F3CFC4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E06C-404D-A5BD-4E01E6F3CFC4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E06C-404D-A5BD-4E01E6F3CFC4}"/>
                </c:ext>
              </c:extLst>
            </c:dLbl>
            <c:dLbl>
              <c:idx val="11"/>
              <c:layout>
                <c:manualLayout>
                  <c:x val="-3.199421500883818E-2"/>
                  <c:y val="-5.669687806879063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E06C-404D-A5BD-4E01E6F3CFC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1"/>
                <c:pt idx="0">
                  <c:v>1</c:v>
                </c:pt>
              </c:numLit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>
                <a:solidFill>
                  <a:schemeClr val="tx2">
                    <a:lumMod val="75000"/>
                  </a:schemeClr>
                </a:solidFill>
                <a:round/>
              </a:ln>
              <a:effectLst/>
            </c:spPr>
          </c:errBars>
          <c:cat>
            <c:strRef>
              <c:f>'Table001 (Page 1)'!$A$3:$A$14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'Table001 (Page 1)'!$C$3:$C$14</c:f>
              <c:numCache>
                <c:formatCode>"$"#,##0</c:formatCode>
                <c:ptCount val="12"/>
                <c:pt idx="0">
                  <c:v>99000</c:v>
                </c:pt>
                <c:pt idx="1">
                  <c:v>78000</c:v>
                </c:pt>
                <c:pt idx="2">
                  <c:v>90000</c:v>
                </c:pt>
                <c:pt idx="3">
                  <c:v>77000</c:v>
                </c:pt>
                <c:pt idx="4">
                  <c:v>78000</c:v>
                </c:pt>
                <c:pt idx="5">
                  <c:v>71000</c:v>
                </c:pt>
                <c:pt idx="6">
                  <c:v>78000</c:v>
                </c:pt>
                <c:pt idx="7">
                  <c:v>62000</c:v>
                </c:pt>
                <c:pt idx="8">
                  <c:v>68000</c:v>
                </c:pt>
                <c:pt idx="9">
                  <c:v>50000</c:v>
                </c:pt>
                <c:pt idx="10">
                  <c:v>43000</c:v>
                </c:pt>
                <c:pt idx="11">
                  <c:v>41000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B-E06C-404D-A5BD-4E01E6F3CF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27029272"/>
        <c:axId val="527029632"/>
      </c:lineChart>
      <c:catAx>
        <c:axId val="52702927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27029632"/>
        <c:crosses val="autoZero"/>
        <c:auto val="1"/>
        <c:lblAlgn val="ctr"/>
        <c:lblOffset val="100"/>
        <c:noMultiLvlLbl val="0"/>
      </c:catAx>
      <c:valAx>
        <c:axId val="527029632"/>
        <c:scaling>
          <c:orientation val="minMax"/>
          <c:max val="100000"/>
          <c:min val="0"/>
        </c:scaling>
        <c:delete val="1"/>
        <c:axPos val="l"/>
        <c:majorGridlines>
          <c:spPr>
            <a:ln w="9525" cap="flat" cmpd="sng" algn="ctr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0">
                    <a:schemeClr val="accent1">
                      <a:lumMod val="45000"/>
                      <a:lumOff val="55000"/>
                    </a:schemeClr>
                  </a:gs>
                  <a:gs pos="0">
                    <a:schemeClr val="accent1">
                      <a:lumMod val="45000"/>
                      <a:lumOff val="55000"/>
                    </a:schemeClr>
                  </a:gs>
                  <a:gs pos="0">
                    <a:schemeClr val="bg1">
                      <a:alpha val="19000"/>
                      <a:lumMod val="6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round/>
            </a:ln>
            <a:effectLst>
              <a:outerShdw blurRad="50800" dist="50800" dir="5400000" sx="112000" sy="112000" algn="ctr" rotWithShape="0">
                <a:schemeClr val="bg1"/>
              </a:outerShdw>
            </a:effectLst>
          </c:spPr>
        </c:majorGridlines>
        <c:numFmt formatCode="&quot;$&quot;0,&quot;K&quot;" sourceLinked="0"/>
        <c:majorTickMark val="none"/>
        <c:minorTickMark val="none"/>
        <c:tickLblPos val="nextTo"/>
        <c:crossAx val="527029272"/>
        <c:crosses val="autoZero"/>
        <c:crossBetween val="between"/>
        <c:majorUnit val="20000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1" u="none" strike="noStrike" kern="1200" spc="0" baseline="0">
                <a:ln cap="rnd">
                  <a:noFill/>
                  <a:round/>
                </a:ln>
                <a:solidFill>
                  <a:schemeClr val="tx1">
                    <a:alpha val="74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1" i="1" u="none">
                <a:solidFill>
                  <a:schemeClr val="tx1">
                    <a:alpha val="74000"/>
                  </a:schemeClr>
                </a:solidFill>
              </a:rPr>
              <a:t>From Growth to Decline: Monthly Sales Difference</a:t>
            </a:r>
          </a:p>
        </c:rich>
      </c:tx>
      <c:layout>
        <c:manualLayout>
          <c:xMode val="edge"/>
          <c:yMode val="edge"/>
          <c:x val="1.9223985890652565E-2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1" u="none" strike="noStrike" kern="1200" spc="0" baseline="0">
              <a:ln cap="rnd">
                <a:noFill/>
                <a:round/>
              </a:ln>
              <a:solidFill>
                <a:schemeClr val="tx1">
                  <a:alpha val="74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'Table001 (Page 1)'!$D$1</c:f>
              <c:strCache>
                <c:ptCount val="1"/>
                <c:pt idx="0">
                  <c:v>Difference (2021 - 2020)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>
              <a:outerShdw blurRad="127000" dist="50800" dir="5400000" algn="ctr" rotWithShape="0">
                <a:srgbClr val="000000">
                  <a:alpha val="43137"/>
                </a:srgbClr>
              </a:outerShdw>
            </a:effectLst>
          </c:spPr>
          <c:invertIfNegative val="1"/>
          <c:dPt>
            <c:idx val="1"/>
            <c:invertIfNegative val="1"/>
            <c:bubble3D val="0"/>
            <c:spPr>
              <a:solidFill>
                <a:srgbClr val="2E7D32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1E83-4F0F-A905-D07EFEE26403}"/>
              </c:ext>
            </c:extLst>
          </c:dPt>
          <c:dPt>
            <c:idx val="2"/>
            <c:invertIfNegative val="1"/>
            <c:bubble3D val="0"/>
            <c:spPr>
              <a:solidFill>
                <a:srgbClr val="7F7F7F"/>
              </a:solidFill>
              <a:ln>
                <a:noFill/>
              </a:ln>
              <a:effectLst>
                <a:outerShdw blurRad="127000" dist="50800" dir="5400000" algn="ctr" rotWithShape="0">
                  <a:srgbClr val="000000">
                    <a:alpha val="43137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1E83-4F0F-A905-D07EFEE26403}"/>
              </c:ext>
            </c:extLst>
          </c:dPt>
          <c:dPt>
            <c:idx val="3"/>
            <c:invertIfNegative val="1"/>
            <c:bubble3D val="0"/>
            <c:spPr>
              <a:solidFill>
                <a:srgbClr val="7F7F7F"/>
              </a:solidFill>
              <a:ln>
                <a:noFill/>
              </a:ln>
              <a:effectLst>
                <a:outerShdw blurRad="127000" dist="50800" dir="5400000" algn="ctr" rotWithShape="0">
                  <a:srgbClr val="000000">
                    <a:alpha val="43137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1E83-4F0F-A905-D07EFEE26403}"/>
              </c:ext>
            </c:extLst>
          </c:dPt>
          <c:dPt>
            <c:idx val="4"/>
            <c:invertIfNegative val="1"/>
            <c:bubble3D val="0"/>
            <c:spPr>
              <a:solidFill>
                <a:srgbClr val="7F7F7F"/>
              </a:solidFill>
              <a:ln>
                <a:noFill/>
              </a:ln>
              <a:effectLst>
                <a:outerShdw blurRad="127000" dist="50800" dir="5400000" algn="ctr" rotWithShape="0">
                  <a:srgbClr val="000000">
                    <a:alpha val="43137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1E83-4F0F-A905-D07EFEE26403}"/>
              </c:ext>
            </c:extLst>
          </c:dPt>
          <c:dPt>
            <c:idx val="5"/>
            <c:invertIfNegative val="1"/>
            <c:bubble3D val="0"/>
            <c:spPr>
              <a:solidFill>
                <a:srgbClr val="7F7F7F"/>
              </a:solidFill>
              <a:ln>
                <a:noFill/>
              </a:ln>
              <a:effectLst>
                <a:outerShdw blurRad="127000" dist="50800" dir="5400000" algn="ctr" rotWithShape="0">
                  <a:srgbClr val="000000">
                    <a:alpha val="43137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1E83-4F0F-A905-D07EFEE26403}"/>
              </c:ext>
            </c:extLst>
          </c:dPt>
          <c:dPt>
            <c:idx val="6"/>
            <c:invertIfNegative val="1"/>
            <c:bubble3D val="0"/>
            <c:spPr>
              <a:solidFill>
                <a:srgbClr val="7F7F7F"/>
              </a:solidFill>
              <a:ln>
                <a:noFill/>
              </a:ln>
              <a:effectLst>
                <a:outerShdw blurRad="127000" dist="50800" dir="5400000" algn="ctr" rotWithShape="0">
                  <a:srgbClr val="000000">
                    <a:alpha val="43137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1E83-4F0F-A905-D07EFEE26403}"/>
              </c:ext>
            </c:extLst>
          </c:dPt>
          <c:dPt>
            <c:idx val="7"/>
            <c:invertIfNegative val="1"/>
            <c:bubble3D val="0"/>
            <c:spPr>
              <a:solidFill>
                <a:srgbClr val="7F7F7F"/>
              </a:solidFill>
              <a:ln>
                <a:noFill/>
              </a:ln>
              <a:effectLst>
                <a:outerShdw blurRad="127000" dist="50800" dir="5400000" algn="ctr" rotWithShape="0">
                  <a:srgbClr val="000000">
                    <a:alpha val="43137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1E83-4F0F-A905-D07EFEE26403}"/>
              </c:ext>
            </c:extLst>
          </c:dPt>
          <c:dPt>
            <c:idx val="8"/>
            <c:invertIfNegative val="1"/>
            <c:bubble3D val="0"/>
            <c:spPr>
              <a:solidFill>
                <a:srgbClr val="7F7F7F"/>
              </a:solidFill>
              <a:ln>
                <a:noFill/>
              </a:ln>
              <a:effectLst>
                <a:outerShdw blurRad="127000" dist="50800" dir="5400000" algn="ctr" rotWithShape="0">
                  <a:srgbClr val="000000">
                    <a:alpha val="43137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F-1E83-4F0F-A905-D07EFEE26403}"/>
              </c:ext>
            </c:extLst>
          </c:dPt>
          <c:dPt>
            <c:idx val="9"/>
            <c:invertIfNegative val="1"/>
            <c:bubble3D val="0"/>
            <c:spPr>
              <a:solidFill>
                <a:srgbClr val="7F7F7F"/>
              </a:solidFill>
              <a:ln>
                <a:noFill/>
              </a:ln>
              <a:effectLst>
                <a:outerShdw blurRad="127000" dist="50800" dir="5400000" algn="ctr" rotWithShape="0">
                  <a:srgbClr val="000000">
                    <a:alpha val="43137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1-1E83-4F0F-A905-D07EFEE26403}"/>
              </c:ext>
            </c:extLst>
          </c:dPt>
          <c:dPt>
            <c:idx val="10"/>
            <c:invertIfNegative val="1"/>
            <c:bubble3D val="0"/>
            <c:spPr>
              <a:pattFill prst="pct5">
                <a:fgClr>
                  <a:srgbClr val="C00000"/>
                </a:fgClr>
                <a:bgClr>
                  <a:srgbClr val="FF0000"/>
                </a:bgClr>
              </a:pattFill>
              <a:ln>
                <a:noFill/>
              </a:ln>
              <a:effectLst>
                <a:outerShdw blurRad="127000" dist="50800" dir="5400000" algn="ctr" rotWithShape="0">
                  <a:srgbClr val="000000">
                    <a:alpha val="43137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3-1E83-4F0F-A905-D07EFEE26403}"/>
              </c:ext>
            </c:extLst>
          </c:dPt>
          <c:dPt>
            <c:idx val="11"/>
            <c:invertIfNegative val="1"/>
            <c:bubble3D val="0"/>
            <c:spPr>
              <a:solidFill>
                <a:srgbClr val="FF6565"/>
              </a:solidFill>
              <a:ln>
                <a:solidFill>
                  <a:schemeClr val="bg1">
                    <a:lumMod val="65000"/>
                  </a:schemeClr>
                </a:solidFill>
              </a:ln>
              <a:effectLst>
                <a:outerShdw blurRad="127000" dist="50800" dir="5400000" algn="ctr" rotWithShape="0">
                  <a:srgbClr val="000000">
                    <a:alpha val="43137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5-1E83-4F0F-A905-D07EFEE26403}"/>
              </c:ext>
            </c:extLst>
          </c:dPt>
          <c:dPt>
            <c:idx val="12"/>
            <c:invertIfNegative val="1"/>
            <c:bubble3D val="0"/>
            <c:spPr>
              <a:solidFill>
                <a:srgbClr val="FF0000">
                  <a:alpha val="63922"/>
                </a:srgbClr>
              </a:solidFill>
              <a:ln>
                <a:solidFill>
                  <a:srgbClr val="C00000">
                    <a:alpha val="99000"/>
                  </a:srgb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7-1E83-4F0F-A905-D07EFEE26403}"/>
              </c:ext>
            </c:extLst>
          </c:dPt>
          <c:dLbls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E83-4F0F-A905-D07EFEE26403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E83-4F0F-A905-D07EFEE26403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E83-4F0F-A905-D07EFEE26403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E83-4F0F-A905-D07EFEE26403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E83-4F0F-A905-D07EFEE26403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1E83-4F0F-A905-D07EFEE26403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1E83-4F0F-A905-D07EFEE26403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1E83-4F0F-A905-D07EFEE26403}"/>
                </c:ext>
              </c:extLst>
            </c:dLbl>
            <c:dLbl>
              <c:idx val="1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1E83-4F0F-A905-D07EFEE26403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1E83-4F0F-A905-D07EFEE2640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ln cap="rnd">
                      <a:noFill/>
                      <a:round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'Table001 (Page 1)'!$A$2:$A$14</c:f>
              <c:strCache>
                <c:ptCount val="13"/>
                <c:pt idx="1">
                  <c:v>January</c:v>
                </c:pt>
                <c:pt idx="2">
                  <c:v>February</c:v>
                </c:pt>
                <c:pt idx="3">
                  <c:v>March</c:v>
                </c:pt>
                <c:pt idx="4">
                  <c:v>April</c:v>
                </c:pt>
                <c:pt idx="5">
                  <c:v>May</c:v>
                </c:pt>
                <c:pt idx="6">
                  <c:v>June</c:v>
                </c:pt>
                <c:pt idx="7">
                  <c:v>July</c:v>
                </c:pt>
                <c:pt idx="8">
                  <c:v>August</c:v>
                </c:pt>
                <c:pt idx="9">
                  <c:v>September</c:v>
                </c:pt>
                <c:pt idx="10">
                  <c:v>October</c:v>
                </c:pt>
                <c:pt idx="11">
                  <c:v>November</c:v>
                </c:pt>
                <c:pt idx="12">
                  <c:v>December</c:v>
                </c:pt>
              </c:strCache>
            </c:strRef>
          </c:cat>
          <c:val>
            <c:numRef>
              <c:f>'Table001 (Page 1)'!$D$2:$D$14</c:f>
              <c:numCache>
                <c:formatCode>"$"#,##0</c:formatCode>
                <c:ptCount val="13"/>
                <c:pt idx="1">
                  <c:v>61000</c:v>
                </c:pt>
                <c:pt idx="2">
                  <c:v>31000</c:v>
                </c:pt>
                <c:pt idx="3">
                  <c:v>41000</c:v>
                </c:pt>
                <c:pt idx="4">
                  <c:v>35000</c:v>
                </c:pt>
                <c:pt idx="5">
                  <c:v>36000</c:v>
                </c:pt>
                <c:pt idx="6">
                  <c:v>33000</c:v>
                </c:pt>
                <c:pt idx="7">
                  <c:v>35000</c:v>
                </c:pt>
                <c:pt idx="8">
                  <c:v>10000</c:v>
                </c:pt>
                <c:pt idx="9">
                  <c:v>19000</c:v>
                </c:pt>
                <c:pt idx="10">
                  <c:v>-17000</c:v>
                </c:pt>
                <c:pt idx="11">
                  <c:v>-31000</c:v>
                </c:pt>
                <c:pt idx="12">
                  <c:v>-45000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0000"/>
                  </a:solidFill>
                  <a:ln>
                    <a:noFill/>
                  </a:ln>
                  <a:effectLst>
                    <a:outerShdw blurRad="127000" dist="50800" dir="5400000" algn="ctr" rotWithShape="0">
                      <a:srgbClr val="000000">
                        <a:alpha val="43137"/>
                      </a:srgbClr>
                    </a:outerShdw>
                  </a:effectLst>
                </c14:spPr>
              </c14:invertSolidFillFmt>
            </c:ext>
            <c:ext xmlns:c16="http://schemas.microsoft.com/office/drawing/2014/chart" uri="{C3380CC4-5D6E-409C-BE32-E72D297353CC}">
              <c16:uniqueId val="{00000018-1E83-4F0F-A905-D07EFEE264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525345104"/>
        <c:axId val="525343664"/>
      </c:barChart>
      <c:dateAx>
        <c:axId val="525345104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525343664"/>
        <c:crosses val="autoZero"/>
        <c:auto val="0"/>
        <c:lblOffset val="100"/>
        <c:baseTimeUnit val="days"/>
        <c:minorUnit val="1"/>
      </c:dateAx>
      <c:valAx>
        <c:axId val="525343664"/>
        <c:scaling>
          <c:orientation val="minMax"/>
        </c:scaling>
        <c:delete val="0"/>
        <c:axPos val="l"/>
        <c:majorGridlines>
          <c:spPr>
            <a:ln w="19050" cap="flat" cmpd="sng" algn="ctr">
              <a:solidFill>
                <a:schemeClr val="bg1">
                  <a:lumMod val="50000"/>
                  <a:alpha val="7000"/>
                </a:schemeClr>
              </a:solidFill>
              <a:round/>
            </a:ln>
            <a:effectLst>
              <a:glow>
                <a:schemeClr val="accent1"/>
              </a:glow>
              <a:outerShdw blurRad="63500" dir="5400000" algn="ctr" rotWithShape="0">
                <a:schemeClr val="bg1">
                  <a:lumMod val="65000"/>
                  <a:alpha val="43000"/>
                </a:schemeClr>
              </a:outerShdw>
              <a:softEdge rad="0"/>
            </a:effectLst>
          </c:spPr>
        </c:majorGridlines>
        <c:numFmt formatCode="&quot;$&quot;0,&quot;K&quot;" sourceLinked="0"/>
        <c:majorTickMark val="none"/>
        <c:minorTickMark val="none"/>
        <c:tickLblPos val="nextTo"/>
        <c:spPr>
          <a:noFill/>
          <a:ln>
            <a:noFill/>
          </a:ln>
          <a:effectLst>
            <a:softEdge rad="0"/>
          </a:effectLst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 cap="rnd">
                  <a:noFill/>
                  <a:round/>
                </a:ln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5345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400" b="1" i="0" u="sng" strike="noStrike" kern="1200" baseline="0">
                <a:ln cap="rnd">
                  <a:noFill/>
                  <a:round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2"/>
        <c:txPr>
          <a:bodyPr rot="0" spcFirstLastPara="1" vertOverflow="ellipsis" vert="horz" wrap="square" anchor="ctr" anchorCtr="1"/>
          <a:lstStyle/>
          <a:p>
            <a:pPr>
              <a:defRPr sz="1400" b="1" i="0" u="sng" strike="noStrike" kern="1200" baseline="0">
                <a:ln cap="rnd">
                  <a:noFill/>
                  <a:round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overlay val="0"/>
      <c:spPr>
        <a:noFill/>
        <a:ln>
          <a:solidFill>
            <a:schemeClr val="bg1">
              <a:lumMod val="65000"/>
              <a:alpha val="97000"/>
            </a:schemeClr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ln cap="rnd">
                <a:noFill/>
                <a:round/>
              </a:ln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>
          <a:ln cap="rnd">
            <a:noFill/>
            <a:round/>
          </a:ln>
        </a:defRPr>
      </a:pPr>
      <a:endParaRPr lang="en-US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sz="1800" b="1"/>
              <a:t>Key Sales Performance Indicators (2020 vs. 2021)</a:t>
            </a:r>
          </a:p>
        </c:rich>
      </c:tx>
      <c:layout>
        <c:manualLayout>
          <c:xMode val="edge"/>
          <c:yMode val="edge"/>
          <c:x val="1.4395136016219934E-2"/>
          <c:y val="3.240740740740740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1"/>
          <c:order val="0"/>
          <c:tx>
            <c:strRef>
              <c:f>'Table001 (Page 1)'!$C$18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'Table001 (Page 1)'!$A$19:$A$21</c:f>
              <c:strCache>
                <c:ptCount val="3"/>
                <c:pt idx="0">
                  <c:v>Maximum</c:v>
                </c:pt>
                <c:pt idx="1">
                  <c:v>Average</c:v>
                </c:pt>
                <c:pt idx="2">
                  <c:v>Minimum</c:v>
                </c:pt>
              </c:strCache>
            </c:strRef>
          </c:cat>
          <c:val>
            <c:numRef>
              <c:f>'Table001 (Page 1)'!$C$19:$C$21</c:f>
              <c:numCache>
                <c:formatCode>"$"#,##0_);\("$"#,##0\)</c:formatCode>
                <c:ptCount val="3"/>
                <c:pt idx="0">
                  <c:v>99000</c:v>
                </c:pt>
                <c:pt idx="1">
                  <c:v>66909.090909090912</c:v>
                </c:pt>
                <c:pt idx="2">
                  <c:v>41000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5E-412E-99B2-46E25E772F3A}"/>
            </c:ext>
          </c:extLst>
        </c:ser>
        <c:ser>
          <c:idx val="0"/>
          <c:order val="1"/>
          <c:tx>
            <c:strRef>
              <c:f>'Table001 (Page 1)'!$B$18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'Table001 (Page 1)'!$A$19:$A$21</c:f>
              <c:strCache>
                <c:ptCount val="3"/>
                <c:pt idx="0">
                  <c:v>Maximum</c:v>
                </c:pt>
                <c:pt idx="1">
                  <c:v>Average</c:v>
                </c:pt>
                <c:pt idx="2">
                  <c:v>Minimum</c:v>
                </c:pt>
              </c:strCache>
            </c:strRef>
          </c:cat>
          <c:val>
            <c:numRef>
              <c:f>'Table001 (Page 1)'!$B$19:$B$21</c:f>
              <c:numCache>
                <c:formatCode>"$"#,##0_);\("$"#,##0\)</c:formatCode>
                <c:ptCount val="3"/>
                <c:pt idx="0">
                  <c:v>86000</c:v>
                </c:pt>
                <c:pt idx="1">
                  <c:v>52250</c:v>
                </c:pt>
                <c:pt idx="2">
                  <c:v>38000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5E-412E-99B2-46E25E772F3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706397072"/>
        <c:axId val="706397432"/>
      </c:barChart>
      <c:catAx>
        <c:axId val="7063970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6397432"/>
        <c:crosses val="autoZero"/>
        <c:auto val="1"/>
        <c:lblAlgn val="ctr"/>
        <c:lblOffset val="100"/>
        <c:noMultiLvlLbl val="0"/>
      </c:catAx>
      <c:valAx>
        <c:axId val="706397432"/>
        <c:scaling>
          <c:orientation val="minMax"/>
          <c:max val="100000"/>
        </c:scaling>
        <c:delete val="1"/>
        <c:axPos val="b"/>
        <c:majorGridlines>
          <c:spPr>
            <a:ln w="15875" cap="flat" cmpd="sng" algn="ctr">
              <a:solidFill>
                <a:schemeClr val="tx1">
                  <a:lumMod val="65000"/>
                  <a:lumOff val="35000"/>
                  <a:alpha val="5000"/>
                </a:schemeClr>
              </a:solidFill>
              <a:round/>
            </a:ln>
            <a:effectLst/>
          </c:spPr>
        </c:majorGridlines>
        <c:numFmt formatCode="&quot;$&quot;#,##0_);\(&quot;$&quot;#,##0\)" sourceLinked="1"/>
        <c:majorTickMark val="none"/>
        <c:minorTickMark val="none"/>
        <c:tickLblPos val="nextTo"/>
        <c:crossAx val="7063970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'Regional Performance Dashboard'!$C$1</c:f>
              <c:strCache>
                <c:ptCount val="1"/>
                <c:pt idx="0">
                  <c:v>Sales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1080000"/>
              </a:lightRig>
            </a:scene3d>
            <a:sp3d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08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01-CF33-41C0-A188-3E662051979F}"/>
              </c:ext>
            </c:extLst>
          </c:dPt>
          <c:dPt>
            <c:idx val="1"/>
            <c:invertIfNegative val="0"/>
            <c:bubble3D val="0"/>
            <c:spPr>
              <a:solidFill>
                <a:srgbClr val="4C6E7A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08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03-CF33-41C0-A188-3E662051979F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08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05-CF33-41C0-A188-3E662051979F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08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07-CF33-41C0-A188-3E662051979F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08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09-CF33-41C0-A188-3E662051979F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08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0B-CF33-41C0-A188-3E662051979F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08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0D-CF33-41C0-A188-3E662051979F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08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0F-CF33-41C0-A188-3E662051979F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08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11-CF33-41C0-A188-3E662051979F}"/>
              </c:ext>
            </c:extLst>
          </c:dPt>
          <c:dPt>
            <c:idx val="9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08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13-CF33-41C0-A188-3E662051979F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08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15-CF33-41C0-A188-3E662051979F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08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17-CF33-41C0-A188-3E662051979F}"/>
              </c:ext>
            </c:extLst>
          </c:dPt>
          <c:dPt>
            <c:idx val="12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08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19-CF33-41C0-A188-3E662051979F}"/>
              </c:ext>
            </c:extLst>
          </c:dPt>
          <c:dPt>
            <c:idx val="13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08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1B-CF33-41C0-A188-3E662051979F}"/>
              </c:ext>
            </c:extLst>
          </c:dPt>
          <c:dPt>
            <c:idx val="14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08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1D-CF33-41C0-A188-3E662051979F}"/>
              </c:ext>
            </c:extLst>
          </c:dPt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F33-41C0-A188-3E662051979F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F33-41C0-A188-3E662051979F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F33-41C0-A188-3E662051979F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F33-41C0-A188-3E662051979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F33-41C0-A188-3E662051979F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CF33-41C0-A188-3E662051979F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CF33-41C0-A188-3E662051979F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CF33-41C0-A188-3E662051979F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CF33-41C0-A188-3E662051979F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CF33-41C0-A188-3E662051979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CF33-41C0-A188-3E662051979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'Regional Performance Dashboard'!$B$2:$B$16</c:f>
              <c:strCache>
                <c:ptCount val="15"/>
                <c:pt idx="0">
                  <c:v>Mazandaran</c:v>
                </c:pt>
                <c:pt idx="1">
                  <c:v>Ardebil</c:v>
                </c:pt>
                <c:pt idx="2">
                  <c:v>Gilan</c:v>
                </c:pt>
                <c:pt idx="3">
                  <c:v>Hormozgan</c:v>
                </c:pt>
                <c:pt idx="4">
                  <c:v>Isfahan</c:v>
                </c:pt>
                <c:pt idx="5">
                  <c:v>Urmia</c:v>
                </c:pt>
                <c:pt idx="6">
                  <c:v>Ahvaz</c:v>
                </c:pt>
                <c:pt idx="7">
                  <c:v>Tehran</c:v>
                </c:pt>
                <c:pt idx="8">
                  <c:v>Mashhad</c:v>
                </c:pt>
                <c:pt idx="9">
                  <c:v>Qom</c:v>
                </c:pt>
                <c:pt idx="10">
                  <c:v>Tabriz</c:v>
                </c:pt>
                <c:pt idx="11">
                  <c:v>Yazd</c:v>
                </c:pt>
                <c:pt idx="12">
                  <c:v>Khuzestan</c:v>
                </c:pt>
                <c:pt idx="13">
                  <c:v>Kerman</c:v>
                </c:pt>
                <c:pt idx="14">
                  <c:v>Kermanshah</c:v>
                </c:pt>
              </c:strCache>
            </c:strRef>
          </c:cat>
          <c:val>
            <c:numRef>
              <c:f>'Regional Performance Dashboard'!$C$2:$C$16</c:f>
              <c:numCache>
                <c:formatCode>0%</c:formatCode>
                <c:ptCount val="15"/>
                <c:pt idx="0">
                  <c:v>0.2</c:v>
                </c:pt>
                <c:pt idx="1">
                  <c:v>0.16</c:v>
                </c:pt>
                <c:pt idx="2">
                  <c:v>0.15</c:v>
                </c:pt>
                <c:pt idx="3">
                  <c:v>0.15</c:v>
                </c:pt>
                <c:pt idx="4">
                  <c:v>0.13</c:v>
                </c:pt>
                <c:pt idx="5">
                  <c:v>0.13</c:v>
                </c:pt>
                <c:pt idx="6">
                  <c:v>0.11</c:v>
                </c:pt>
                <c:pt idx="7">
                  <c:v>0.1</c:v>
                </c:pt>
                <c:pt idx="8">
                  <c:v>0.1</c:v>
                </c:pt>
                <c:pt idx="9">
                  <c:v>0.1</c:v>
                </c:pt>
                <c:pt idx="10">
                  <c:v>0.09</c:v>
                </c:pt>
                <c:pt idx="11">
                  <c:v>0.09</c:v>
                </c:pt>
                <c:pt idx="12">
                  <c:v>0.08</c:v>
                </c:pt>
                <c:pt idx="13">
                  <c:v>0.08</c:v>
                </c:pt>
                <c:pt idx="14">
                  <c:v>0.08</c:v>
                </c:pt>
              </c:numCache>
            </c:numRef>
          </c:val>
          <c:shape val="cone"/>
          <c:extLst>
            <c:ext xmlns:c16="http://schemas.microsoft.com/office/drawing/2014/chart" uri="{C3380CC4-5D6E-409C-BE32-E72D297353CC}">
              <c16:uniqueId val="{0000001E-CF33-41C0-A188-3E66205197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774964064"/>
        <c:axId val="774964424"/>
        <c:axId val="0"/>
      </c:bar3DChart>
      <c:catAx>
        <c:axId val="77496406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>
            <a:solidFill>
              <a:schemeClr val="bg1">
                <a:lumMod val="6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chemeClr val="bg1">
                      <a:lumMod val="65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4964424"/>
        <c:crosses val="autoZero"/>
        <c:auto val="1"/>
        <c:lblAlgn val="ctr"/>
        <c:lblOffset val="100"/>
        <c:noMultiLvlLbl val="0"/>
      </c:catAx>
      <c:valAx>
        <c:axId val="774964424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7749640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'Table001 (Page 1)'!$A$29:$A$42</cx:f>
        <cx:lvl ptCount="14">
          <cx:pt idx="0">Total 2020</cx:pt>
          <cx:pt idx="1">January</cx:pt>
          <cx:pt idx="2">February</cx:pt>
          <cx:pt idx="3">March</cx:pt>
          <cx:pt idx="4">April</cx:pt>
          <cx:pt idx="5">May</cx:pt>
          <cx:pt idx="6">June</cx:pt>
          <cx:pt idx="7">July</cx:pt>
          <cx:pt idx="8">August</cx:pt>
          <cx:pt idx="9">September</cx:pt>
          <cx:pt idx="10">October</cx:pt>
          <cx:pt idx="11">November</cx:pt>
          <cx:pt idx="12">December</cx:pt>
          <cx:pt idx="13">Total 2021</cx:pt>
        </cx:lvl>
      </cx:strDim>
      <cx:numDim type="val">
        <cx:f>'Table001 (Page 1)'!$B$29:$B$42</cx:f>
        <cx:lvl ptCount="14" formatCode="&quot;$&quot;#,##0">
          <cx:pt idx="0">627000</cx:pt>
          <cx:pt idx="1">61000</cx:pt>
          <cx:pt idx="2">31000</cx:pt>
          <cx:pt idx="3">41000</cx:pt>
          <cx:pt idx="4">35000</cx:pt>
          <cx:pt idx="5">36000</cx:pt>
          <cx:pt idx="6">33000</cx:pt>
          <cx:pt idx="7">35000</cx:pt>
          <cx:pt idx="8">10000</cx:pt>
          <cx:pt idx="9">19000</cx:pt>
          <cx:pt idx="10">-17000</cx:pt>
          <cx:pt idx="11">-31000</cx:pt>
          <cx:pt idx="12">-45000</cx:pt>
          <cx:pt idx="13">835000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>
              <a:defRPr sz="1800"/>
            </a:pPr>
            <a:r>
              <a:rPr lang="en-US" sz="1800" b="1" u="sng" dirty="0"/>
              <a:t>Monthly Contributions to Total Sales Growth (</a:t>
            </a:r>
            <a:r>
              <a:rPr lang="en-US" sz="1800" b="1" u="sng" dirty="0">
                <a:solidFill>
                  <a:srgbClr val="A6A6A6"/>
                </a:solidFill>
              </a:rPr>
              <a:t>2020</a:t>
            </a:r>
            <a:r>
              <a:rPr lang="en-US" sz="1800" b="1" u="sng" dirty="0"/>
              <a:t> → </a:t>
            </a:r>
            <a:r>
              <a:rPr lang="en-US" sz="1800" b="1" u="sng" dirty="0">
                <a:solidFill>
                  <a:srgbClr val="00B0F0"/>
                </a:solidFill>
              </a:rPr>
              <a:t>2021</a:t>
            </a:r>
            <a:r>
              <a:rPr lang="en-US" sz="1800" b="1" u="sng" dirty="0"/>
              <a:t>)</a:t>
            </a:r>
            <a:endParaRPr lang="en-US" sz="1800" u="sng" dirty="0"/>
          </a:p>
        </cx:rich>
      </cx:tx>
      <cx:spPr>
        <a:ln>
          <a:noFill/>
        </a:ln>
      </cx:spPr>
    </cx:title>
    <cx:plotArea>
      <cx:plotAreaRegion>
        <cx:series layoutId="waterfall" uniqueId="{11FF1AC5-F11D-4309-91F9-0A70097EB104}">
          <cx:tx>
            <cx:txData>
              <cx:f>'Table001 (Page 1)'!$B$28</cx:f>
              <cx:v>Value</cx:v>
            </cx:txData>
          </cx:tx>
          <cx:dataPt idx="0">
            <cx:spPr>
              <a:solidFill>
                <a:srgbClr val="A6A6A6"/>
              </a:solidFill>
            </cx:spPr>
          </cx:dataPt>
          <cx:dataPt idx="1">
            <cx:spPr>
              <a:solidFill>
                <a:srgbClr val="00B050"/>
              </a:solidFill>
            </cx:spPr>
          </cx:dataPt>
          <cx:dataPt idx="2">
            <cx:spPr>
              <a:solidFill>
                <a:srgbClr val="00B050"/>
              </a:solidFill>
            </cx:spPr>
          </cx:dataPt>
          <cx:dataPt idx="3">
            <cx:spPr>
              <a:solidFill>
                <a:srgbClr val="00B050"/>
              </a:solidFill>
            </cx:spPr>
          </cx:dataPt>
          <cx:dataPt idx="4">
            <cx:spPr>
              <a:solidFill>
                <a:srgbClr val="00B050"/>
              </a:solidFill>
            </cx:spPr>
          </cx:dataPt>
          <cx:dataPt idx="5">
            <cx:spPr>
              <a:solidFill>
                <a:srgbClr val="00B050"/>
              </a:solidFill>
            </cx:spPr>
          </cx:dataPt>
          <cx:dataPt idx="6">
            <cx:spPr>
              <a:solidFill>
                <a:srgbClr val="00B050"/>
              </a:solidFill>
            </cx:spPr>
          </cx:dataPt>
          <cx:dataPt idx="7">
            <cx:spPr>
              <a:solidFill>
                <a:srgbClr val="00B050"/>
              </a:solidFill>
            </cx:spPr>
          </cx:dataPt>
          <cx:dataPt idx="8">
            <cx:spPr>
              <a:solidFill>
                <a:srgbClr val="00B050"/>
              </a:solidFill>
            </cx:spPr>
          </cx:dataPt>
          <cx:dataPt idx="9">
            <cx:spPr>
              <a:solidFill>
                <a:srgbClr val="00B050"/>
              </a:solidFill>
            </cx:spPr>
          </cx:dataPt>
          <cx:dataPt idx="10">
            <cx:spPr>
              <a:solidFill>
                <a:srgbClr val="FF0000"/>
              </a:solidFill>
            </cx:spPr>
          </cx:dataPt>
          <cx:dataPt idx="11">
            <cx:spPr>
              <a:solidFill>
                <a:srgbClr val="FF0000"/>
              </a:solidFill>
            </cx:spPr>
          </cx:dataPt>
          <cx:dataPt idx="12">
            <cx:spPr>
              <a:solidFill>
                <a:srgbClr val="FF0000"/>
              </a:solidFill>
            </cx:spPr>
          </cx:dataPt>
          <cx:dataPt idx="13">
            <cx:spPr>
              <a:solidFill>
                <a:srgbClr val="00B0F0"/>
              </a:solidFill>
            </cx:spPr>
          </cx:dataPt>
          <cx:dataId val="0"/>
          <cx:layoutPr>
            <cx:subtotals>
              <cx:idx val="0"/>
            </cx:subtotals>
          </cx:layoutPr>
        </cx:series>
      </cx:plotAreaRegion>
      <cx:axis id="0">
        <cx:catScaling gapWidth="0.5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1200" b="1" spc="-150"/>
            </a:pPr>
            <a:endParaRPr lang="en-US" sz="1200" b="1" i="0" u="none" strike="noStrike" spc="-15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Calibri" panose="020F0502020204030204"/>
            </a:endParaRPr>
          </a:p>
        </cx:txPr>
      </cx:axis>
      <cx:axis id="1" hidden="1">
        <cx:valScaling max="950000"/>
        <cx:majorGridlines>
          <cx:spPr>
            <a:ln>
              <a:solidFill>
                <a:schemeClr val="tx1">
                  <a:alpha val="3000"/>
                </a:schemeClr>
              </a:solidFill>
            </a:ln>
          </cx:spPr>
        </cx:majorGridlines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1050"/>
            </a:pPr>
            <a:endParaRPr lang="en-US" sz="1050" b="0" i="0" u="none" strike="noStrike" baseline="0">
              <a:solidFill>
                <a:prstClr val="black">
                  <a:lumMod val="65000"/>
                  <a:lumOff val="35000"/>
                </a:prstClr>
              </a:solidFill>
              <a:latin typeface="Gill Sans MT" panose="020B0502020104020203"/>
            </a:endParaRPr>
          </a:p>
        </cx:txPr>
      </cx:axis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'Regional Performance Dashboard'!$B$2:$B$16</cx:f>
        <cx:lvl ptCount="15">
          <cx:pt idx="0">Mazandaran</cx:pt>
          <cx:pt idx="1">Ardebil</cx:pt>
          <cx:pt idx="2">Gilan</cx:pt>
          <cx:pt idx="3">Hormozgan</cx:pt>
          <cx:pt idx="4">Isfahan</cx:pt>
          <cx:pt idx="5">Urmia</cx:pt>
          <cx:pt idx="6">Ahvaz</cx:pt>
          <cx:pt idx="7">Tehran</cx:pt>
          <cx:pt idx="8">Mashhad</cx:pt>
          <cx:pt idx="9">Qom</cx:pt>
          <cx:pt idx="10">Tabriz</cx:pt>
          <cx:pt idx="11">Yazd</cx:pt>
          <cx:pt idx="12">Khuzestan</cx:pt>
          <cx:pt idx="13">Kerman</cx:pt>
          <cx:pt idx="14">Kermanshah</cx:pt>
        </cx:lvl>
      </cx:strDim>
      <cx:numDim type="val">
        <cx:f>'Regional Performance Dashboard'!$C$2:$C$16</cx:f>
        <cx:lvl ptCount="15" formatCode="0%">
          <cx:pt idx="0">0.20000000000000001</cx:pt>
          <cx:pt idx="1">0.16</cx:pt>
          <cx:pt idx="2">0.14999999999999999</cx:pt>
          <cx:pt idx="3">0.14999999999999999</cx:pt>
          <cx:pt idx="4">0.13</cx:pt>
          <cx:pt idx="5">0.13</cx:pt>
          <cx:pt idx="6">0.11</cx:pt>
          <cx:pt idx="7">0.10000000000000001</cx:pt>
          <cx:pt idx="8">0.10000000000000001</cx:pt>
          <cx:pt idx="9">0.10000000000000001</cx:pt>
          <cx:pt idx="10">0.089999999999999997</cx:pt>
          <cx:pt idx="11">0.089999999999999997</cx:pt>
          <cx:pt idx="12">0.080000000000000002</cx:pt>
          <cx:pt idx="13">0.080000000000000002</cx:pt>
          <cx:pt idx="14">0.080000000000000002</cx:pt>
        </cx:lvl>
      </cx:numDim>
    </cx:data>
  </cx:chartData>
  <cx:chart>
    <cx:plotArea>
      <cx:plotAreaRegion>
        <cx:series layoutId="clusteredColumn" uniqueId="{1366C7D8-5144-4A4A-83E7-A69B4ED6C729}">
          <cx:tx>
            <cx:txData>
              <cx:f>'Regional Performance Dashboard'!$C$1</cx:f>
              <cx:v>Sales</cx:v>
            </cx:txData>
          </cx:tx>
          <cx:dataPt idx="0">
            <cx:spPr>
              <a:solidFill>
                <a:srgbClr val="00B050"/>
              </a:solidFill>
            </cx:spPr>
          </cx:dataPt>
          <cx:dataPt idx="1">
            <cx:spPr>
              <a:solidFill>
                <a:srgbClr val="00B050"/>
              </a:solidFill>
            </cx:spPr>
          </cx:dataPt>
          <cx:dataPt idx="2">
            <cx:spPr>
              <a:solidFill>
                <a:srgbClr val="00B050"/>
              </a:solidFill>
            </cx:spPr>
          </cx:dataPt>
          <cx:dataPt idx="3">
            <cx:spPr>
              <a:solidFill>
                <a:srgbClr val="00B050"/>
              </a:solidFill>
            </cx:spPr>
          </cx:dataPt>
          <cx:dataPt idx="4">
            <cx:spPr>
              <a:solidFill>
                <a:srgbClr val="00B050"/>
              </a:solidFill>
            </cx:spPr>
          </cx:dataPt>
          <cx:dataPt idx="5">
            <cx:spPr>
              <a:solidFill>
                <a:srgbClr val="00B050"/>
              </a:solidFill>
            </cx:spPr>
          </cx:dataPt>
          <cx:dataPt idx="6">
            <cx:spPr>
              <a:solidFill>
                <a:sysClr val="window" lastClr="FFFFFF">
                  <a:lumMod val="65000"/>
                </a:sysClr>
              </a:solidFill>
            </cx:spPr>
          </cx:dataPt>
          <cx:dataPt idx="7">
            <cx:spPr>
              <a:solidFill>
                <a:sysClr val="window" lastClr="FFFFFF">
                  <a:lumMod val="65000"/>
                </a:sysClr>
              </a:solidFill>
            </cx:spPr>
          </cx:dataPt>
          <cx:dataPt idx="8">
            <cx:spPr>
              <a:solidFill>
                <a:sysClr val="window" lastClr="FFFFFF">
                  <a:lumMod val="65000"/>
                </a:sysClr>
              </a:solidFill>
            </cx:spPr>
          </cx:dataPt>
          <cx:dataPt idx="9">
            <cx:spPr>
              <a:solidFill>
                <a:sysClr val="window" lastClr="FFFFFF">
                  <a:lumMod val="65000"/>
                </a:sysClr>
              </a:solidFill>
            </cx:spPr>
          </cx:dataPt>
          <cx:dataPt idx="10">
            <cx:spPr>
              <a:solidFill>
                <a:sysClr val="window" lastClr="FFFFFF">
                  <a:lumMod val="65000"/>
                </a:sysClr>
              </a:solidFill>
            </cx:spPr>
          </cx:dataPt>
          <cx:dataPt idx="11">
            <cx:spPr>
              <a:solidFill>
                <a:sysClr val="window" lastClr="FFFFFF">
                  <a:lumMod val="65000"/>
                </a:sysClr>
              </a:solidFill>
            </cx:spPr>
          </cx:dataPt>
          <cx:dataPt idx="12">
            <cx:spPr>
              <a:solidFill>
                <a:sysClr val="window" lastClr="FFFFFF">
                  <a:lumMod val="65000"/>
                </a:sysClr>
              </a:solidFill>
            </cx:spPr>
          </cx:dataPt>
          <cx:dataPt idx="13">
            <cx:spPr>
              <a:solidFill>
                <a:sysClr val="window" lastClr="FFFFFF">
                  <a:lumMod val="65000"/>
                </a:sysClr>
              </a:solidFill>
            </cx:spPr>
          </cx:dataPt>
          <cx:dataPt idx="14">
            <cx:spPr>
              <a:solidFill>
                <a:sysClr val="window" lastClr="FFFFFF">
                  <a:lumMod val="65000"/>
                </a:sysClr>
              </a:solidFill>
            </cx:spPr>
          </cx:dataPt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1000">
                    <a:solidFill>
                      <a:srgbClr val="FFFF00"/>
                    </a:solidFill>
                  </a:defRPr>
                </a:pPr>
                <a:endParaRPr lang="en-US" sz="1000" b="0" i="0" u="none" strike="noStrike" baseline="0">
                  <a:solidFill>
                    <a:srgbClr val="FFFF00"/>
                  </a:solidFill>
                  <a:latin typeface="Calibri" panose="020F0502020204030204"/>
                </a:endParaRPr>
              </a:p>
            </cx:txPr>
            <cx:visibility seriesName="0" categoryName="0" value="1"/>
            <cx:dataLabel idx="6">
              <cx:spPr>
                <a:ln w="0">
                  <a:solidFill>
                    <a:srgbClr val="FFC000">
                      <a:alpha val="94000"/>
                    </a:srgbClr>
                  </a:solidFill>
                </a:ln>
              </cx:spPr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>
                          <a:lumMod val="65000"/>
                        </a:schemeClr>
                      </a:solidFill>
                    </a:defRPr>
                  </a:pPr>
                  <a:r>
                    <a:rPr lang="en-US" sz="900" b="0" i="0" u="none" strike="noStrike" baseline="0">
                      <a:solidFill>
                        <a:schemeClr val="bg1">
                          <a:lumMod val="65000"/>
                        </a:schemeClr>
                      </a:solidFill>
                      <a:latin typeface="Calibri" panose="020F0502020204030204"/>
                    </a:rPr>
                    <a:t>11%</a:t>
                  </a:r>
                </a:p>
              </cx:txPr>
            </cx:dataLabel>
            <cx:dataLabel idx="7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>
                          <a:lumMod val="65000"/>
                        </a:schemeClr>
                      </a:solidFill>
                    </a:defRPr>
                  </a:pPr>
                  <a:r>
                    <a:rPr lang="en-US" sz="900" b="0" i="0" u="none" strike="noStrike" baseline="0">
                      <a:solidFill>
                        <a:schemeClr val="bg1">
                          <a:lumMod val="65000"/>
                        </a:schemeClr>
                      </a:solidFill>
                      <a:latin typeface="Calibri" panose="020F0502020204030204"/>
                    </a:rPr>
                    <a:t>10%</a:t>
                  </a:r>
                </a:p>
              </cx:txPr>
            </cx:dataLabel>
            <cx:dataLabel idx="8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>
                          <a:lumMod val="65000"/>
                        </a:schemeClr>
                      </a:solidFill>
                    </a:defRPr>
                  </a:pPr>
                  <a:r>
                    <a:rPr lang="en-US" sz="900" b="0" i="0" u="none" strike="noStrike" baseline="0">
                      <a:solidFill>
                        <a:schemeClr val="bg1">
                          <a:lumMod val="65000"/>
                        </a:schemeClr>
                      </a:solidFill>
                      <a:latin typeface="Calibri" panose="020F0502020204030204"/>
                    </a:rPr>
                    <a:t>10%</a:t>
                  </a:r>
                </a:p>
              </cx:txPr>
            </cx:dataLabel>
            <cx:dataLabel idx="9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>
                          <a:lumMod val="65000"/>
                        </a:schemeClr>
                      </a:solidFill>
                    </a:defRPr>
                  </a:pPr>
                  <a:r>
                    <a:rPr lang="en-US" sz="900" b="0" i="0" u="none" strike="noStrike" baseline="0">
                      <a:solidFill>
                        <a:schemeClr val="bg1">
                          <a:lumMod val="65000"/>
                        </a:schemeClr>
                      </a:solidFill>
                      <a:latin typeface="Calibri" panose="020F0502020204030204"/>
                    </a:rPr>
                    <a:t>10%</a:t>
                  </a:r>
                </a:p>
              </cx:txPr>
            </cx:dataLabel>
            <cx:dataLabel idx="1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>
                          <a:lumMod val="65000"/>
                        </a:schemeClr>
                      </a:solidFill>
                    </a:defRPr>
                  </a:pPr>
                  <a:r>
                    <a:rPr lang="en-US" sz="900" b="0" i="0" u="none" strike="noStrike" baseline="0">
                      <a:solidFill>
                        <a:schemeClr val="bg1">
                          <a:lumMod val="65000"/>
                        </a:schemeClr>
                      </a:solidFill>
                      <a:latin typeface="Calibri" panose="020F0502020204030204"/>
                    </a:rPr>
                    <a:t>9%</a:t>
                  </a:r>
                </a:p>
              </cx:txPr>
            </cx:dataLabel>
            <cx:dataLabel idx="11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>
                          <a:lumMod val="65000"/>
                        </a:schemeClr>
                      </a:solidFill>
                    </a:defRPr>
                  </a:pPr>
                  <a:r>
                    <a:rPr lang="en-US" sz="900" b="0" i="0" u="none" strike="noStrike" baseline="0">
                      <a:solidFill>
                        <a:schemeClr val="bg1">
                          <a:lumMod val="65000"/>
                        </a:schemeClr>
                      </a:solidFill>
                      <a:latin typeface="Calibri" panose="020F0502020204030204"/>
                    </a:rPr>
                    <a:t>9%</a:t>
                  </a:r>
                </a:p>
              </cx:txPr>
            </cx:dataLabel>
            <cx:dataLabel idx="12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>
                          <a:lumMod val="65000"/>
                        </a:schemeClr>
                      </a:solidFill>
                    </a:defRPr>
                  </a:pPr>
                  <a:r>
                    <a:rPr lang="en-US" sz="900" b="0" i="0" u="none" strike="noStrike" baseline="0">
                      <a:solidFill>
                        <a:schemeClr val="bg1">
                          <a:lumMod val="65000"/>
                        </a:schemeClr>
                      </a:solidFill>
                      <a:latin typeface="Calibri" panose="020F0502020204030204"/>
                    </a:rPr>
                    <a:t>8%</a:t>
                  </a:r>
                </a:p>
              </cx:txPr>
            </cx:dataLabel>
            <cx:dataLabel idx="13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>
                          <a:lumMod val="65000"/>
                        </a:schemeClr>
                      </a:solidFill>
                    </a:defRPr>
                  </a:pPr>
                  <a:r>
                    <a:rPr lang="en-US" sz="900" b="0" i="0" u="none" strike="noStrike" baseline="0">
                      <a:solidFill>
                        <a:schemeClr val="bg1">
                          <a:lumMod val="65000"/>
                        </a:schemeClr>
                      </a:solidFill>
                      <a:latin typeface="Calibri" panose="020F0502020204030204"/>
                    </a:rPr>
                    <a:t>8%</a:t>
                  </a:r>
                </a:p>
              </cx:txPr>
            </cx:dataLabel>
            <cx:dataLabel idx="14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>
                          <a:lumMod val="65000"/>
                        </a:schemeClr>
                      </a:solidFill>
                    </a:defRPr>
                  </a:pPr>
                  <a:r>
                    <a:rPr lang="en-US" sz="900" b="0" i="0" u="none" strike="noStrike" baseline="0">
                      <a:solidFill>
                        <a:schemeClr val="bg1">
                          <a:lumMod val="65000"/>
                        </a:schemeClr>
                      </a:solidFill>
                      <a:latin typeface="Calibri" panose="020F0502020204030204"/>
                    </a:rPr>
                    <a:t>8%</a:t>
                  </a:r>
                </a:p>
              </cx:txPr>
            </cx:dataLabel>
          </cx:dataLabels>
          <cx:dataId val="0"/>
          <cx:layoutPr>
            <cx:aggregation/>
          </cx:layoutPr>
          <cx:axisId val="1"/>
        </cx:series>
        <cx:series layoutId="paretoLine" ownerIdx="0" uniqueId="{557C1FF2-DDCA-40C6-8AC5-E324C7484837}">
          <cx:axisId val="2"/>
        </cx:series>
      </cx:plotAreaRegion>
      <cx:axis id="0">
        <cx:catScaling gapWidth="0"/>
        <cx:tickLabels/>
        <cx:numFmt formatCode="$#,##0" sourceLinked="0"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700">
                <a:solidFill>
                  <a:schemeClr val="tx1"/>
                </a:solidFill>
              </a:defRPr>
            </a:pPr>
            <a:endParaRPr lang="en-US" sz="700" b="0" i="0" u="none" strike="noStrike" baseline="0">
              <a:solidFill>
                <a:schemeClr val="tx1"/>
              </a:solidFill>
              <a:latin typeface="Calibri" panose="020F0502020204030204"/>
            </a:endParaRPr>
          </a:p>
        </cx:txPr>
      </cx:axis>
      <cx:axis id="1" hidden="1">
        <cx:valScaling/>
        <cx:tickLabels/>
      </cx:axis>
      <cx:axis id="2" hidden="1">
        <cx:valScaling max="1" min="0"/>
        <cx:units unit="percentage"/>
        <cx:tickLabels/>
      </cx:axis>
    </cx:plotArea>
  </cx:chart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'Regional Performance Dashboard'!$B$2:$B$16</cx:f>
        <cx:nf>'Regional Performance Dashboard'!$B$1</cx:nf>
        <cx:lvl ptCount="15" name="Province">
          <cx:pt idx="0">Mazandaran</cx:pt>
          <cx:pt idx="1">Ardebil</cx:pt>
          <cx:pt idx="2">Gilan</cx:pt>
          <cx:pt idx="3">Hormozgan</cx:pt>
          <cx:pt idx="4">Isfahan</cx:pt>
          <cx:pt idx="5">Urmia</cx:pt>
          <cx:pt idx="6">Ahvaz</cx:pt>
          <cx:pt idx="7">Tehran</cx:pt>
          <cx:pt idx="8">Mashhad</cx:pt>
          <cx:pt idx="9">Qom</cx:pt>
          <cx:pt idx="10">Tabriz</cx:pt>
          <cx:pt idx="11">Yazd</cx:pt>
          <cx:pt idx="12">Khuzestan</cx:pt>
          <cx:pt idx="13">Kerman</cx:pt>
          <cx:pt idx="14">Kermanshah</cx:pt>
        </cx:lvl>
      </cx:strDim>
      <cx:numDim type="colorVal">
        <cx:f>'Regional Performance Dashboard'!$C$2:$C$16</cx:f>
        <cx:nf>'Regional Performance Dashboard'!$C$1</cx:nf>
        <cx:lvl ptCount="15" formatCode="0%" name="Sales">
          <cx:pt idx="0">0.20000000000000001</cx:pt>
          <cx:pt idx="1">0.16</cx:pt>
          <cx:pt idx="2">0.14999999999999999</cx:pt>
          <cx:pt idx="3">0.14999999999999999</cx:pt>
          <cx:pt idx="4">0.13</cx:pt>
          <cx:pt idx="5">0.13</cx:pt>
          <cx:pt idx="6">0.11</cx:pt>
          <cx:pt idx="7">0.10000000000000001</cx:pt>
          <cx:pt idx="8">0.10000000000000001</cx:pt>
          <cx:pt idx="9">0.10000000000000001</cx:pt>
          <cx:pt idx="10">0.089999999999999997</cx:pt>
          <cx:pt idx="11">0.089999999999999997</cx:pt>
          <cx:pt idx="12">0.080000000000000002</cx:pt>
          <cx:pt idx="13">0.080000000000000002</cx:pt>
          <cx:pt idx="14">0.080000000000000002</cx:pt>
        </cx:lvl>
      </cx:numDim>
    </cx:data>
  </cx:chartData>
  <cx:chart>
    <cx:plotArea>
      <cx:plotAreaRegion>
        <cx:series layoutId="regionMap" uniqueId="{A1C9224C-8741-47EA-944F-52FA3D707588}">
          <cx:tx>
            <cx:txData>
              <cx:f>'Regional Performance Dashboard'!$C$1</cx:f>
              <cx:v>Sales</cx:v>
            </cx:txData>
          </cx:tx>
          <cx:dataId val="0"/>
          <cx:layoutPr>
            <cx:regionLabelLayout val="none"/>
            <cx:geography cultureLanguage="en-US" cultureRegion="US" attribution="Powered by Bing">
              <cx:geoCache provider="{E9337A44-BEBE-4D9F-B70C-5C5E7DAFC167}">
                <cx:binary>1Hzrct02su6rpPz7UCHuwNRkV22Qa+lmy/frH5YsySQIkuAdBF5pv8Z5sNOyk4y1rFjlSab2iSpV
rphrsdHd6K+7v275n1fbP66am8vxp61tuukfV9svj6p57v/x88/TVXXTXk5Hrbka3eQ+zUdXrv3Z
ffpkrm5+vh4vvenKn3GK6M9X1eU432yP/uuf8Lbyxj12V5ezcd3z5WYML26mpZmn7zy799FPl9et
6XIzzaO5mtEvj16Prbl89NNNN5s5vAr9zS+P7nzk0U8//9c/f/7DA9wr5MvZ7n30jfwnl/Gyu74c
L7uHDnH3DN9o/lMDxpmXa1CA8COCmEIUUfX5Rz76qXFd+etjho6k4pJJjL48Vr+Jvrhs4ev/OtJP
z0a3mu7q5rcP3Gegz3peXl+PN9ME6n3+8w9ecseyf/CZK7d0861/S3D1L49OP1vGTC778veZu9Xw
9MV9fvnGUWCk/6Drjk3zl3pNHCGGGEeC3Oc1qo44kUoQ/OvjA699Ps2fcNjh9w98dfj47+Om/x6v
bz6a5ntX+DbGfyC85BFlkiiu0nsdJY4UQSRFCKeff9Bvor+EF5zn8uP//Z/vHuj+mPrXNw+c868H
fx+3nLixdbH8KyMIiyOBlEwlE78D29e4B7BImEzFb08BFr/g/hfH/H6iPxFF973jwFn3feTv47bT
6dNl9Vc6jZAjJCUiImVfwgXfTVb4iCqJOEP4i0/FXaf9ep4/4bJv33DgsG8/8Pdx16ub6q8tLdgR
eAKlQrK7boKaIk0ZIVje66Yv5/gTXvrmBQdO+ub538dH/12tl/G3W31fhfUfL0Gnqrq8/l88wavL
j6P53zTBc9c+pP4P1Af0Ng0hhX+tvtU35XeKMJaEkN8B7+s0BGf5E3Fy99sHQXL34d8nQt5fxgev
5w/4Bx+lNOWIpQBZtz8HGYcecc4EgkLh9/Lua//cHuZPOOjg6wceOnj693HRebXEm2n+SysDdMQY
JylV5E6ugU4IUo2UCv778vNb7H6p434/yp/w0n3vOHDVfR/5G/nrZmz/SmdhdXQbM0zQg8JAHEEr
lFKJfw028OXX0XT++Rx/xlOHLzh00+7RT383t0zVZfWbmf6oIPgBvKNHRABzQH/rV6GE/qotovxI
gIcQ1Nj3h9NnA98e6U976eAlh566T9D/v66792RfrvYXn935wGe+6gd8ho84FQyr33wCbM9XPmP0
iHFKWAo8w+efA47hC2v2x4e5n1/48q07x/7PEnB/TM79Tm/ml/Pl7jM5ex/te+/T37icg4d3ON47
Sv4WaqfXvzyCMPjKVbevuANXXxv294/fXE7zL484AXoBp8A9MCxvSQhwmYeU+MsjSo9SIkSackZS
AQQfFBydG+cKqFp1JCSmTGGm0tuvAzxObrl9hNlRyhTHitL0y9d+Z8KfuSaUrvvdSL/+/0/d0j5z
ppunXx5BjPdfPnV7TEGYYDzFEgpPniIF5BU8v7p8AWQ7fBj9ny7WItQDxrvWLn1xtk7YnFf1hIqT
Ta5EfWDO9eIEd+WcJvorC90jGhLAN6KpYhQKLkqEQumB6CEaY2mR7uhi6jzp6vDK03XKljWtugdk
HarJFaco5Rh4VKUwZ2Dpr9Vc2wkxW/GQV771+2ki18aP2z42JX+Lhrm/qMraP/6+fvfKBPTEhGMM
5cqBaVlit821IuSSBqIF2YabZK7Kt0lvkws79C/4KOkDMm/f+bU7b/XEAiGKKSVUIrhrX+vJllmk
E1Uhp31ZWV3MNXlqA8FYJ93WvGzH0j3/vpb3SaQY2hqBKRLAbd6V6MMUx6ZyIWd+sOckHepzLiLe
pwPxb9JkWo5/WJ6iREoqUriuUhzIm5p6khENIR9JeV6tNpNrVV2MvDSnJMU++760e3yoGELQCzBK
GXQGd7UbJzUZs+GQp3YoM7eFpyhpnph2STTv2AmR1cvvC6TfOlDBHYURDZDIoCQA+NcODGErZRNs
yA3mr6e1VmcshvYBG94nhKcCp8Cg3c56DmyIk01RPo0hjwXqynzyLiw6OilPv6/Mt9YTcCeAwYOE
RBVND5QZbD+knKCQl36M8zEf29U8Jdzhcr8kSqhdX7uqOY/11G4s/zHZAKtUcgFTE4IZEeTWBl8B
G27rthuqMebrGpJsLfv5NarWdF9MaNCl6eJZ7MDQD+DMoWVvpd7mZko5sJdUHNyXaGMhqrKKudm6
os0pL/iYVRKVcf999b4RBEgG2C0wvx3nSX5g2jnho6sEi/ks6lL7quqe4zYdnv64FMUIlwRzqCrk
AYQJmfgmYVWatxKFD7ZWk8xZWSH+g2EmEGjCQBcMEX0r6K6z1oH3Ze2KmLOF22sKmLpLGWqfprxd
zjtIYlkty7l8wFmfM8zXaClgHsNwKiCPSpZCd39XrFyKppxqu+YcH/fcaml3YtqOOSYnU8JOfK12
Rb8cp+Sha3IYGILCnJUzJjlV/DZG7gqmS5iSxE4hHwQpH3tLynyWLuhedivdldSZNZ8Dmp99352H
GRdKfZjtIkKhqpCckAOxolOrx4B2eSHHwHd0JLFYdF2EYcuaziXmyfflfXNJQR6jDFOhgFkBqLmr
ZutGnw5FkublOKC84c6dFMrWD4TCYQYSjAosocmEagiBoEOtVgQxLRuZ9yaw882I8GwMXTxO0mTb
VZuJD2S8b6wI8mBghAFdUiia5MFlTUbq/BYrmZNKTbs4qq3UovJm1GaGdPHAJf3GhiANSsOU8NtC
DfEDrF7o1s6GKJFPIrWn4ywLHattPP++p+7TiWOwHWAlzJE5lJtfo2Vv6oolUYpcFL246lLnrmg9
dZNucJLk/44som5jTsDc+sBf8ya2njVc5GtaNLvBT+YJ49icxXULD1z4e42HAfwp1EJQTB+oVQob
ax7BeLis+3Np6ZRF0U4/ipK3LoKgQlB7QZaTB8UlnpjyS21l3orVvVq7vj5ry7p7wEX3XfOvpRzo
wlsyTITBtWs5Ts7LGowVyFLlsSpJbpOqef19N6HbF95Bx89qCQDb20aDyQM/jQktVsAvkY989q/7
vjYvfenIuTXB7lHNqYaneC/tlJ6NJFlyuy4kj3jxeW3ZPi1Xe/b9I91K/OZEUIfh2xZXQJl795ZW
thcitHBzxLS2+wSh8XHrkNhPvquyMV2uUz/iN9+XeRvN38hkCDojyE0U6sC7Mpe2i25rkcg32MDQ
qWfxWDVJe9yIJXlTEveiLBb/ZG42cfJ9wfeGJKOQerHAGBLGXcHVWASRtEzkZFjJCeqbuDPLGrPG
pOKBruEWh7/V8V+iDnBadrExPoKOS+W3x1WFXuDFWF11rNeItCdySuPLwSR474hzDzj13hiFpSMO
/S5PpTgQ7tRENp+AU8fam2OvIjkOk+r+HdD5lxR5AKNDGXjlVyHySNbtnC5VrTsl+4z1dMy+77h7
FbqFbEAEJaFJueu4JvpkgMoJHIfVetwJ4T4ItzzUKNx7L2H8DXlVQXl72CgkiylZWYPZNsa7M0Wi
OFsLX77dgPC7dIh1Z9DPs2M5UPyAKe+XDJQuRxxyrzwAokp2qW8xSG68RUFXg0MnPDXJni2uOtsG
Ouacm7j342qvfty0UPJCkQghoWBn465po0n7xCcriCZGvIwddWcGb+UDyHdf5H0t5QBmgph8SqYo
8qRH9b5IHM0GNI17s6nl4s8pdJA65la1QlYQeZ1Yp9N6qIv9NC/0gRrivtQhgIEAJkJxLvnt8696
IdGlk+sxKBSGTuUI0zWbFFRkSKym1lG66YErcq8FvxJ4kDpSMqZsNljkA2+aq47hJrdFY95MfiH/
RrQBfSWBCeDQO+ADZw2ypMumIC2u40iuxLiG09Fv8wMp/j6FgE0RwMZBlgcG9q4Fh4lWQ8kgpi1V
WwbtbnGOe9XuHXhv9/0rca8oTJCCMTEUfOTgSoxVWla9q2U+dLLXpk3ctVhYe7IU1fxAJXsfUkmg
bhC0qwK6u4N70dA6jtAUiHwmFGVpP/S7NmH2gctwvxQGKZtSRKCIvWs7qSwneCxlzoue7RGR/ePg
/HL6fbM9JOUAlYKdoI9JwENhrAHlyzXZGeLaf0uKFNC4IQot8eE9KGRqthWwzw1R6ClsWCNbmweu
wH26qBQaRAnUIYGm+K7F7FpEGlvQBTplqhUuW8B28hA7c89FA9IVsq4CdppzfiBlwmxZat+jXNW1
6vW4oWXbFYGNe1YUpXogTr+VdksCpdDsEhjeQsNyV6fIqF1swRBwIjg1e54QPkAV6dPkNHVs6h4o
ab41IaMKSPsUApYxcNVdcQgbGdK0wnkytmgPpdSol1KSB4D1HqUY4rflKAITQia+K2WSC1awzoFz
Nw9N0IPoyajZWK61HqS19ofvBQeqHHgKINMYIMRBvK7tACWFxSh3JmXXQHAFmoVu8w/RMZ/Pfbcg
5ASqCnW7j0KBxzqoPXtY9Qo9kyyPa7D+Y9ENfBA7JJI0nFoV5jBoOVFi39IgqDhOV+LHbG3x2Ooa
F9BLQC8AT14A6Y3N3kFzPuwVsqnSrpCqzuAZ6tp9kYoK74ppjU22rmgkx9/HhG/dwwWBfQ0oFCDx
fdM7l2Nt3TwS6BcWiNm9EGwts4XQwew327kX35d2mGUlgjYQSFUBcAozVXZww8FjEfoeVuQdA+5K
+zax75ehck1ewvdU7uRW1D8YVSBTwcoQowQJEHrIYC0TbMs3HVW5mqKS570nBAGVRJI6t0vXPjRG
OYwqCXQq5YrA9gWCfvqw02XKbIOyvgBCpxJARKScvh/5ih9A2W8tKW93A24vnwJaDh1kjER2Y+3m
qsiTRgx1zpte3IS2xrpkRf+B2QX5/Pu++1axz2sjsHCqBHAS6iCQgQn2wBXjAgLZjyf91NWnvZ/k
A3BxGz6ACF9HFrRz8HqKkIRxIODgQQhPo586mAK5ncdNZy+blCfDiZBQvLwwOE5+Xw7pVjgdiuVd
VTc+rxZsnzZjK5+WK9kWnVSRGC2C6pK8dNX8cqhtcRnbNjHZmMytBjR076Itz1WJXnWloycIi0Jq
WheEwK1UxQVqoTLnvPXPoNBthJ6BeXlTxWHe9SbWL2FlY3qRYDV0OqJqLM/rNPb9uWd2zDeoraqT
sGwwqLMIhYtOjKzVMzftKzYv/pgUhp6mDcDfzoiavV1LNR43xRAuEjzc9DgxvZZLTPVYVOi6rYeg
PZrqDyio6byfRPPMJwjSauLG6hVZTLsXpFvyAk6iR1n0OWXho93gt1r0QsP8clONq7RaQ4fzre5Q
odchEZt2ntYmD6Us++PSel7u0tjKSfdxZYluZO+BrqPxhPtWng9z0ra6IaLJqoRiPbA5XrSTq3eC
LWOWrFOPdRiHlGjofsITsi5uHyi1SM+2aKMmtE3rHZ0aqU1STE9C2ZI6U7ZL34ti3d7UFBgRizHL
LJtS7ftaLfukqsgNxStesy1JqlZXi/F6dL3L1xLPJ3UF9e6buRdJmSWI3VqqK0txUdXeVxnzSWyz
tgQmcl/wtq61NBUTbwlpPNNODekb76h45yvPOu0SpNq8l8hdNnU3gPOmrvzUzKg7n8DFy6sENW5W
eoQFKweTLgcjxlJzOXGk12rp/U0bRYWeTSV8MScj5k9FQKo4g9dOQE5GS4Ew2Dju9zC/gvFY7ecG
PRnIgtddaMb+pCgbOu6GZu4rTVwZNG4LxM/LtK3XM+SqtX86AOiwY9Eyk16vS2v6facG8daSKjkb
8RzNbpFl+xZv9QtUBZcHt0zvcMCi1VPixaJbV/dkV86RNtm2OnUV0WyfhX6J+3VpKpRhVNonPsHF
pkU90oymzRyej1PKBaBZz30OpOdQ6qEzZbllnW/dls0mhPIE19yzqdQ1H5hb90agyunB0tCf0j5W
7b4zqrkoXbSptm6bfOaHqb+YJxCWee4M04OTpslrjmebOci74UndG0vaFw7aGOBatrKw22uybAji
yPduyupGSp617RCqF5Agl3qPsY9sJ1Td1y84iy1Etoff6SpNXtJmdU/VUCftRTlPiVkyMAees42V
05LHWfZMKyss1Us3Tm8GLweZiUkl5YcutR05EWVnxZ7XZZKcOTlPTxMeVJIjwKVJaVqGtIKRZ98W
mUkNzExWMcU1V044qRMxr/BiXIRiL+RUix2XZUhyAhgPoWYHtWojU7ynEKtL7tOudvsuyP6ZXCGS
9tXWxGelirLLC752MGfaArRaZCj5dVuME8kSwVWVdwBjaN9W8waj38EXq+7LYLodSRff5zJNsNxV
k41vkjJhTidEBbITpi6R9s1WPTV93UUtx66/pDbFT9lWeJMv6ZCE3KGJcj0KGMtXKBqSS+/tqcCl
SM6kQeV1OUL2y8cJR5nHUG8G6pmyUbruaq9yMRbxo69tSrK+k+v7NWIrjmmNYMiSuKm85FPlad66
MoVxawV7DnqoTQ3nRbZ6y8dkSDUZvE92MOJPzD4Quh17JpIqS01KqJ43x1s9xnSYdUmGcB7muHbZ
WMKUSsOviNl116cT4VlfkhZvsD8jtzo3fKvFqfDI8yeQ24GjhTvQorPUIWn3aWvEYxtMUJmak8Xv
FiU2n1O64bdVOShzPBOzxd3Gi5rr2K3hUwrLEtXpKnu77deq5I+VNZCyVtaneEfkhp7hoQ8mQ2Oc
KkDZSnxakFUXUDoRelKZhb3nfI7pGZnHCEOvrVb1Ce2n1WWL6wBHXE3RTe/NGne0Zf37pu04KOWD
c5qGUoj9JtD8NqpZGkC9aPuTGVLHc9sbDAnCxUVlY2yI16wQqsjmoZCPC5jbXCfWCa5b5D3V9TBP
RJdDYfpj5AKZsmYR/Aou2VzmEvIw2qGIQIOehHXMImweUO1m2tTH1TqS55Wra7avhqRNs8G77dq5
GjBI8jBV+dKIcd5T2lV13pWbF1nfCtpoGBCpkKV48jBupDXUoxPchg8E3ohhv6BofEbERuZdNU7J
+3Sk5INvDLDAa9uSdzVtLQOLTtYeIxgwn0xMjESjYbu9Ua0XSqc9Vo8Rq8smN/1Y3AwJ3awWzDuh
1UjZkA28mqe9BaID65ab5alEDR+0cAlwGcDcTW5HA21kVgAzK7OuKjeST0mwr2cTmzQfW2ItZGU/
LHtG/fYxFgDWFxxXy+siWrPsla38ByqifWznJsWamh7ux9yV7U2yADZm/TxX6rnjPtaZNElXahSm
ttFLO3uXkWmrpHZpBfltTQZwoGqVJ3lYrUiOXSjadUe6euiOg4vG7RcwNst6G0BFj8o+1fXWpFGP
MEO/YnIj5HwQTtS677qe6o7IqM6qNFQ0s76RLoMQMyZrtmSROlrA2axZSTUBEpSkzrFF7qJaC4u1
BYZBQQlhSgXdhGLhZAwu3bvRtSgTyo/LO1wA0p+uvUV1HibP8GWxhBrtIsWTvXBdhIG9dlXVh53p
Vt/lVdmQ4XkcWLTLjkyuqj8KbIy7nreEF0A/CrM0x9TzNU6voadsorvwYl4Su++WNJZRw2oKrbvn
k48eF/uVzWOBdsU2+h66+gSNwLxY3LBRU7CfW3ZpHweeZo4nfGryOW6ruTZNhe07gTrcpHqemAco
goKNQqSNrtv3LQ9h33RmLHI222nRpmzn/mmBm/qMwAH4LcTXURcTbW4Ar+dyJ4axX7K+qiLTWws0
lF7V4LAeja9uprosGu3wNrxMW9hl2lMW2XEHk4ZmX8GA0+h5gb/JIYDxkxbGOpBUV3CoJgB8Zdb1
UAg9GSmu1T605fiewruTnaz65JgM8+qPk3aeXS5HKEp1uzArd0W7+edNPVN+vnmbvFsRZMk9LQVy
eRO76He+tSNS+6Fm2wjzpHJ+6UhbLztYGqtD1iZyWfdNrMuztBxQd7q4fouvx3GtphxyRi/fNi4Z
G907YS5X2AWMGbIzZL+o1qj2dmlHkvkF2NHMxyBfbs3cDRlYkPVZtWy22JdbtVQZwYVcNDEdqncS
r+pFOYThAve8ZueJSdZz2Jrhm4aZY/U+WELe13Xnqld139nhmFaxflptEyDWOJj5bAzeL1ooSegu
UU0NJSMMu96LZsNthoGvKPcjQq4Ge0va7VM6ymddmJpPyLZBZO00LaleRWRQOhPscU5rsb1oRN99
BETEr9oOhTljuBjL40jqWmjYuuAwcI3cZ103V59utyzocWvxch2SyaXQwkigN4s+9CehnvtiB3tw
zSflIO9rIGrSWo92Xp9t1MpGM4eKmxrzGXqXnkPpPoRobzYJ6WznqmF8nK4xdNmSYMjMbm4m6OEK
NJ51XQVl4ToR0e8byAj7xAJflBNUk1pbRXq6s9DyeD0Zu75zkb0tYuiztCkvmSfjbmpvFad8nlRO
w/JpHnqrfeHhzUWzPkViM09HuVz3szI5kE31k63sQAEzjbK0kHjc9KyCWH/V+818KgzDy2nFly6X
Yhn2vK3GEfBIoi6DVDgdB+D/9zBUSfa1LTFUyENsPy7NOrytE/pyg0ao0n6G6kj3sMopdOgsPV7X
ocvrdIp5OppB6orjcMtz8TSHehx6mdXwHFV18aL1Mg2QVwf0WBbJaaxllfuwoVc0LbfH0Y59Ns5B
PpGVGPY4KPVGwQDyXEGNkE2i24JeUp+86k2XvG+p7V76fkn2Bo/01Yj9+nyVLa51ocyHrmqBBWIx
8YPeauheb9025n2U8ayC+v7YFG2lAbDE21JO/mWrWMwKHNcLytom64YRiqokNZqz9lXcuhO09C0s
rMzxMV75mvkRIltXMcRsTd2SQemzZKus6VszNOYEubZ+FyGD7JLZqoz6octYscknPAGqBO4mLphO
ClDL2fByEpAPq2GhZz6Y+bQCBltvc/p4js256OjxLELQsKM6666gDlIhUH2KN4u2HjUaNhfw2xRa
7BPhNnvs3IbfR8o5MIBN/abr7LZqXqbiaaziuh83eb6FonsdEt7B2a3JbeDjeUHVWQLTmE9hnYZT
v5p3qqXVBUmTNutpOmW9abzeGpa8rVIyPA4j615JRucXIZkD36+0aKBj9Tg9oU2YdylcRRJXsidW
vF+h3dQxpKcwZnJvxwVo3dh09Q7PidRhHaZzaEJNgLFrqt6boRbVnm6FyapJcU3bUZ7Esi7z4J05
hYU9ft5MbfwkZUJO7NBASW2xyRW00dGnH3jPkxeNssUJLufkvDaVOTE90BG6Skydoa185mY2PaMN
Mq+M4dOQrYt9Um1bcgq8xHYSRA9YtoabBTY19m2xIc1qvrwDPqrd9YuddSEne1XYMp45GDs+bpi7
7KD2gs6CCF33lObTGsy5bztzmZStewVrv/isS8ZpNxTAOOjAOdhYpg1syA7rvoaSsskKmjREM2Cd
9jU09XqCkDmFVaznUY3qnK6w9ppR3o06xg4ucGc93lV85XkPg9mztOuSs56js7XxxSnlzp4vlr2h
BUmeRYk23U20P2dplcJ9jJt7y6teXAiOXwBgiJu2ppAbeEmeCVt8mun0dgEdLqH9cGPWssZ92BpV
NZrKmu+YraeXOLbzWRPNeEJS/6zpFgJxA6Cqw1DUsG3MyTNYx4Cyi87+vVmN0VuEDnhbChMyQqAT
gbxEUJW1PWxCa2j0XQG3vC3eIRJsBU0U8GRZWKZ+zTCeudIdRfGk6QdI2WazM1ToZtzG4zGd1i2D
+m15UXWO59CMohdr6dJtB8dnY6Y6YBXypVhs0HRokgRwa5hebJ5B1SrHBp9zB8St7j0l73oG/zCA
TkqOP8JGdruvqJqKvaVOJFlceH2xlapbNNBDTaHlUPoyH8BbddYDRHQZaYa5hYDv5RUCiLUQepwd
B7Xg5rhZtwKWtKyFequYbAoAsnScaEM7oGR9BWxPpZJWaQN3aNA28Snd07YCopiNNbK6bca6z0xP
FnRqO+mXLDIwnk7ClkAmrlZZaptWq8t534hnSWG4zIaYCKatJOF9UuNQZXXNC6ybpCRvXVIip2E2
wQ00gXietUyZf+LoIEJWo1Zdjy6ZPvJ5np81a+snXSS0LPMVUPuqS4y0OeS2luznUQ1wMWHXrsxk
LfC0M9zR112fALTBTqWxuU/kCIkJasv+yQI0Ssjs7G2/X6ElUvkUmqHe1ROfXnarM1wr2McQGrLv
DFcB5naXDQ41hUnkKIie/bwVsD87MyDEfGeBh0KlZM/nQIsn84TqSncwdCr0Zmp/oViPEsD0cgHC
iQ/9azEH4I27OBVvKbMb5NsxmPL/cXdm23Hj2Lb9lfsDzEECbF/uA5sIRVit1dl+4XDaEjuABAEC
IPn1d9FyJzkr67iqdO445ymH7VRQwQbce+21JnIfpdijll3QZgM34uPQmZEfZuCA4PO2JYnOHLo1
zUs0xWvWD+UAN7Hf4UVD+gUlpUbpr/OlHMf3wsT4DnyBapoYKEcpVlqcPVIJv07jgfAlI7MQYz56
XXxmeha/XUeTyB1vyy6EuiOXOY9m9OJ55DeOexgNamwYDqTdtXOHScUip7bdedpgiWx62PpzmD3m
aJ/0cSiPhEmX7wdXOSdLGbynASd1EbCq7QoLGXaCH5ktY7Ys0qwnmlfTVDCs23fhSMuHqsWbJ1vC
sX8bN42qTwmKujZHE+sRaD4s/iwwmjRFFU0ubsGqLt8OpYmjzCFkXSH6wa1TOA0t18xHu3XLTAkl
Gzdgi7YvrsK6gNNrEKkDoXhMbdWZOfUnX+LpJAvtdnGZmLN1kGjIEqMgIImYR2PauD2slAQCUpwp
4cboHnmkyc0QO7p6bNuumwrNOFEHD6LbWb9UQl+76+CLvTPgkUIbMsINW/Q+TsYublwroJAMhudJ
4OIF4lITBHmzinDI5j5p4oyW1nkToVv53GKAY7NoXUiferLt3XyBPeR87Pr2ozcnbZ+NTb1ckHnB
AqhDV9dpufb9WJR+MJ3rOuqbvKbMwR1Zc+/G6KiK9pNejJ/D0ue3KRNw6GZ+VdZLaiRasuPYe7jw
+VhbMYWpV/oab59JzP7thAlQdyVH1Y9nLYw9oZ/VhLEV5RvDFDimtnwcF4bmZ0340KQlF26YVlxo
tgnaermNJ+awosdaB702jDr0OZhcXw6auSiMRzbTdEyIHfOp0r4tktCy8mxcgshLIYsGsNuUYaL2
vegUzOuw0hM4s4SyekQJsE5NurQ6GS6jCeto6ptgjTO+8k5cLp0nvTN36bmLazsN6Eq41C60cdrp
fQjzNVpRO+I8lbTi0WE2SS9gqkClcL9AHjS5tqgOd8EAF1qflggNuXdz69RBsJtnDATeJEvUzkcI
mWa6VApm3AJLPjHXgYrRVxWaUAdXkvOmDfdDU8rxpmWBz3HnONZelQt1q0c5uNw51jCFiWM8B/D2
YWEZ5bVNDIEzTbR18udQUxHWWY9si+aZ1/hOsA8wGeoPClVuwrAAhaJP8eQ143kDzW/gaSJq4w2Z
yzFF8tJZaDu42bQOYvEyjoH146T8+c8uQKeWoR2bIdO5iwqZfzSCzewAeWZKbhnFwAsrGXdWR2R9
UoajSdELOpDKmfJUeJvMHZ0vVuVEyduGEYg/XtMYVETar5cKs2Gfog9YkqALihmNNH8H/ZzZwql9
5fB09NoYtXbrrEF3HnK4qsQe40q67oGIkt3JQKAWZZUzOmghA2uSBr3lMoeo83pMm1KI12pWadQH
7bgX9RAthRtJJzrasnQckdKFijLJUQJW/I6Ps9X7aJwNqm0Hr3LnrSVN7XQp8jzOfAvjcVuPudvy
iTuZXJLB7lUZDMklb6dleVMOSVO9CdHkN2mljd/lFJOCJh+FkS3Duy2x3YnD5CTeYjpVkl3Qd4E5
ZyEZMIhP9CjiY1fCULumWvVxfyGmIRo/9h6GXdcLc0ce4HU3O0I8jYW/pgYvn8ZtTyG4T7iCsqkg
aH1J/33/4/89+4aZ+0IC+/H3G+/px58uxEN/PcmHh+nso3j5f27H+/6/4vO/Hn/LBj77wy8xxX8Q
RHyOh/u7lOKzgOyzlCLGphHxMN38Tq76Jar4Nxi3L8nF7x/xFF9EpBRWxgRgF0RaEBzYIi1P8cXA
/YP6MKlAtEWYYMsQ/ogvhn+AJIcZJ6BksH0gQvI9vkiDP2AchA3IC2M/gK/d+534In6DFwNVfARc
1yEiWoCk4dNezIq9oEpqo7UqatzuwQm3pLuJubJhAbderA8dkA/04FV1n2AhHh1MVK2frAeWRLWT
RlOkvStPd1K/WQiDYtQmsVPBu7gENlvwEvZyEyhu954c5wcXVT8WyM6s9DNrncTLFYnCQ4NGPsw6
N0J9nWANGnMYIoyXElr77dsh7Hh/FKsfdUfZRSTJ6m6KLBJ5fVifrFMSQEBIypntRqIrzDLdcozy
Kuxb56yJ/emkCVrUzxr69QFXid1iGhU+ssQJm7x0AhmmCClUDx2kPZMHBs5F/HVdY7GBD2HeVVOA
yCNWNJLjUZX9mZ0qEmWQzj0NmVuLKS+hM/co1gVqCMElOyBKKcnFVC368KRCCqID6BcdHnP4kRUl
GcFbAm1pA/d37g6blMN048ew91RLdAdPSXfWj10EhWp1NYYvNXfrrikmrVYPxko3xOSIyX6Ah66s
tXeCeiC4apbYN+cYuvTiBMXSeOczn9t77q8q2S9zN5r7MKRrfdVDZ6RHxMZcfYhFOfVZv3qYEYy2
H8ZcTZxUWRW0LMT7UpNHxDzRWkQ0XGWmPKOrg6sESnE0DlOwn1vlxCieUfZn7hInfWooUetJg9gV
mvHGjlk4OPUdb706xKh7PrErPQyqDw9+o+acMIOZLmqhnmXr1Hp+hmzf8tn3TLBfo1mJnRgd9pkJ
3j22TC7qyjFtiRFFHdYXbFnnGheX1HXKPIJEFzz2if92dNqlPFFjwj6QJiHrznUm1Z8QGzT6iD4o
HlLk9oIxBfCxjx9LeN3mwkuEvXIiKllBsFxHiNlxBS+S14/8OohCTD3GQSWXOtRk+U0rCtJo8Pt/
i/PGL01r/X8hzvtbK/j/yLUZy97frc1fgH0N+z8v+ZrfF+YvP/+0MPvxH0hz+UiNQ/7YVl+4n77m
yqM/tjwUFkbgGxCdwT/8FCt3NzrKFv6K4a3Bavk1Vk6BmYS5DB+0LQtIFsa/sy77Ly1k8Hhh1fFh
cMF/EEoOXli1Uck01JiZFW6IeHc6uqW/pi68zeNZ5yXonwT0flgbw7dOTeuPDRabM5jNpyxC4XUX
+X2XSxgJbjD8WotoIcGJE4twW+XD82bwli6jPa13mJqmw+bJbZPkvY+yJjhpKoJClyf+Tgq3SqnX
sQIjkeC8r1mPdmeNPsGW4N0GeEHcahKMHyMo80NR1a46pyKuoPU43l1XzSW0Q4ea87Wfo1tCbXhE
mdRD5l67iw5Z0sWFkpT2cNFCRERnkbprvWkIQ5R5jjNnHeIxZeyYAvOcCBNuNWLCtWfIHiwedz+h
wFvv1iSxbzSMExlbzb2YymLlPYX7qCshuOsCNaKbqXXieUya5VNCuLdvbKyLeII/h9WRPF1F8Fjq
IX6L/tndq5jBplyVsOj57pCWS/KwhF69F4uJi3FRJuvbJsmFCxkWEZ8h5zqsMdaQyUlYe9PF7K30
LU4I7ChKzydkaofDtKJ2nfrQLZxw8rGW920WoZPBRGmIrsyAcUpKdUtyLxztvuqpyqd5Mqc+fB7v
jTTiSNCh5sqtdIYsqMnhKhyLSMqPE/wXJzCw2WPSNPpNtM4Fm7rwGnMfkRM9vpsD2e3LoSxzZPzO
WcTGc5Tp6sqTbnmAkIZGpqzD7g5v6h6qO84fbSrIxIvEWH5lohDIdaeQstZLOU9wTkS83ilYjN41
K63hgw/bEyN9NAeQNsUHnFS5gwfO4P1T82MTsuQzvIMKMjoyRl+mW0Gs20voBuP7sF7Fnqx6OfNN
c2hnc+ZHnF3bcPIQnPE4utkvc6+YC3sTYHKNXqhxz1hf/wmLCmwCTaDUydf514rRdeywZOdA47z3
DEayzB8h423cvYPLo/XwNBITNeLh42TjQz0lMsoYDOOf4BqIW7QklmY1pbOfdkThEiKIMt3NjSFO
5k5mMFkYLeyit94FzL6JSrWe52zxvRitBYTgjEPzhd9nEY9LbKedG0ZoUJtW7SR0DtxbTEY7DxpQ
GqgavwRULEy6VV3IMllPSl/ZQxfiE2cK4Ssow+pk8vGEUAhIedCJIOee6xyR3VA3Yz/0n1eY6tus
ilqbjkRadBkRnKIlBBo3LUOBnndG81WSjjVpzUZHh1CM2ym8J2gO1oy39FJa3x7xTuw+1DSqMoHT
eFkZ3WcYSHWZT8dzBV/mMeijNvOhEBYY1joFDDuq8OzSXjGp7GlJ4GHDoLTaFDl6kqzz+5U5a/pl
2BcwUWMSUveftIa0pCJSCwiCa7AbtvhuquIuKCEsO9WZg1Imo6ZULDUwbpx3NXxyGFzS6Az+hjKD
c9GFZNBWExxjPetSanhdLJondzX8K5nPQ6Scoy5xb4g/1zOqFw8XOxrZ5vpyiLuDfQX3VsCTCpYb
jelWqiHwDhjk0/Y2htHqnk+0dfIEsW3UmULlbc3bPXRBmFLISM7RH5JiViq596do9Qo1wFTIaWjD
1ISLPd9MfUdKeuilrTsJWMH4TEWGW8QTGbKv5gIOCBREStYX85xU19yylmYzUdPRTWRwPUwDhpNV
iLD43i6kuVGecB8UjfWthRG2ynFjjnc1qdcQU6SB3CBEhAXai+GgGTQqrDyCkepuUoYNO9a0kczi
LhSXWKuSIS/bEnNMSKgfQQ1w8sGXMB77bgDRp2sflrH230VWdNdGDUOQi64PP9J2mUU6lVN9HSl3
2GSkCkN81xM7H2nXK4TDVyAKEnstB+qYTajE2ebDgvmotzTd3sfykMcl3IZpPNfjh6R09QNxYv5n
s3jmFjJDdw0nBxyJbmzGatcGWILSwWsRgOmY1EXQx/UljLNyP+MOOfiDTi6xJiNW3lfeuh+5f1v5
HOcaS0t4yyoDQc6M43znS3iOcx6MeIj81rafHAeWqgqX/U1cxhRzQWF4Jmlv8nlew4MKjLhK6mjK
BimmJnPK1j9pJtyDvpJzQYdufAw82yP0Uw9di9jyqA6+M7lvxTAPeYfRXt7Y6WoZm64YXIj7rOmD
fNYYVnHmYjzr4gSZJuY3JV6ZuWJBfGHssBbWqgCTPrfLhK79GzFSc2otjgA76nnMpLlkddB/pISN
p7DDeCdAk4R9GnE7YvhR929Qli4pxhtwgsOskOrZDfJ+iXgBp091jCIYNzBBXuH0Q9IJzoGQ9ztu
aX2somAoZqBCnurZ/9U1JuxbW0P+dyXmS2D3wxeI0lZgfv/hr42/+we8nvD+gyYDnhSc7d/ry/gP
EDUCNDEeWPEgu6Km/VZgbgxs/Aou3eJ5CMxCivhWYIbA9rmwVkdw+UEzoL9VYKK3f9n4Q5CAhwIC
A2pcZCFeOKmHSfhTy2hfoAfzWnifZZAa7kD+0hxNsoITI289F/OPMVkNgZ2FjR94kqxVVvYuvZbe
AMVMR7SMz5ShNFOTIeNhhd1mPXG1LvtUwf0IFeBLe4j8rQ72rizRNpYVGe+8dfJhgxmGhBark8B5
vSJDrU/dxotOg7jzxge8x6ohZe5g3GyFf/TCM0pXeJ41fok1EsFN0ldOnz+ZdPBgWlok7Wowe5pd
xopIqGCH2ciZqfqg2QkGI0qO8ZcNHrbW+nRQJmj3q2CCntFpcsejI6JlTtt4gVOmd2yTFDwMu3fE
t1W9k+OCsRaeY2fehbalI1xX6+KdyJVDcpeRuW9KgT55lgjU5XPXIQAyI2eu8UbGEgsresz+pNRA
6Ra8l6dUBN5737fuzg8XCLn/yCo0UFwM+HGtLlN8GzPncTJUH9Rgpjjlro7uaunA6lFisPPGoU2L
4b83ijYNmpG+h5zNmx3pMPDNDI3Hh4X5DUsJJMhHG7jBNYSY+Jb0MTcpNyTCW5DUjwNekJ8BatAf
EofWt6N2sLSVsDpfQODsHhG3dMJspV0sUwyT5s1CIGdM6DiE9PlLWT8OtffB+tMIf/w6mfOF40Z7
4/tiDg+Tb/Xt9nbFsujW00fHrTGj9Kv5QkHERGey9SG9wYwNDleFPKwTUpHiZVj5Jw4scJiaQWNu
Ds1Y9/KE+FNy2c4iPieegISVIEx0hK0ZJlNaW1mnrvYIynE3QJldCXz/tJp1/E5Yto4ZrSJ5z6aw
+tiulMt8VNM+cUp6uui+FEUNX32SQUup7ifo9Glb97AUTJzmnrfKd51Ipq8B6N9aOf9X66tYav6x
vvpXHPcfiyw68k2hxSd8XWWTPwhihC4gbwEWYPqDDheQP+AewBIbb4ttEm0L3NdVlsSgw23BTR8m
8QDIDsRVftDhIGhutJXE25ZhrM3f5OZnwjj2Tfn655/pcFvs5ee0ynNgDHnZxL8ExswOgDppyJXT
HWckMiCmcRRTXwkyMVyFahdjwRjTn07gX/waL9M526/xgyPjkhca73+SIwNNZGPIQAN5KWBFr8uR
wdsUJ/+nVParcmTc+EVOWr8GRyZ+yQZ4RY4MQT3x7Py9HkcGicLnh3oNjgwFJ/z5UV6DI4OjbKHJ
n2671+bIYNeG5weU/785MuFLLBBe3K/MkUG49sVZ+M9xZH5ZwzeMz4bp+MKRwYT6+en/z8Jdfk3g
Pj/4iwfn34HY/PKS+PI9v3Fkwpe8nFfhyPwSmn89jky8VQY/P6ivwpEhL9uo/zaODH0JF/zv48iA
EPn81L4KR4ZSDMF/voCvx5GhL2mX/yJH5q+e5h8cmTB68TS7/wbWZVuVnlWeeJp/PtSL5fLfR9b8
1fKBIdpXjgz62ecX61U4MhBVXhzl1Tgy2IPn+aHkq3Fkwk0P+vlGfxWODJh+z4/yKhwZGFyeH+VV
ODLwsT4/CvKI/3mOjPsSM/qvcmS2O+nFs7rRl/DM4PVB0d8+/zLiOy2kZmr85JWB+IxZGFmPsROO
H5gnnXoX1DCYF9GKyeub2rPwE1tk5GPYDGP26PcTq9Kl6sg+8UpIwHNFIcyMtZo+eDxwD1ZyO1+2
Xd3Pma4c9bmf28WFtmE6A3DxiCGwSyq2q5KEC6iABKOveGCIHLO2wtSAR8OiLiyN+ZXjT7LdT/jU
pvCqpT9batXWexLX2BiUx30Am8gPaAlI7NFZFAtAC57IJXRx4B7HWGxcMtiqMV8uh9ZDBjuUmL3O
WpWqkLNaT5fRm53nhJNJiDrTOgbI4u/74+0Ev7gAP5F8gAF5fgFeknxsBYBC3grwVL7gfGrOpgMo
yWb6J8fdFuHnx33O9Hlx3B9Mn1EEPcl0SCrkbDawjwqUsdmkQwiLftlFn1okH/3d33/tX5fsnxk/
QBQ//9r/IuPn1/oZfohvjJ8AWzg+P8oPxk+AieVu9afqnREyODFqXC9UFwhQjJrqvk5achAUI9mn
OcTTng+XT6fzZw3m14sLOec79MdNXtQqP6A/TM4h0s5wEuDk+jdP+B+xwEAOSHPy+/dUGH1n5wCd
+qL6/MHOqTnHKH20gUGORM/royLesP8vU3R+gTJvGB1wr0A/h3EEWtmLq/qXGB2MvqI/aaiRY5qG
uDB9T7ccBVsvGDwd+dKYRfyTe/vlZX9G1qHRS2rZD7IO4ChiSiMt4Z8FfjX5PKiJvplZh4HXE2kn
mdpoL2PbXf/e/R0/p+28fEm8Dm0HXKnnN/hr03YAu39xS/+LtJ0v2umz9SkmqISJS/AW90ARerk3
QdNuFSu4eQUU/XVFDKCUbcZsDf4hVfANpzGG8tc+bcyHGW+4U1AJOLAdwCAcY68pkaxmI4a0Ld5a
3l6qGD/hjkIvObGbf2+Mm8pBOLSUhXEXB2wM0fN3MaC5lzjgjGARddSbkUzk3AVqosrghJptCre+
s9vu27dzHDTlToa0/uxCoUecHgElEAF6vz6bQ6QQdvDvK7fAVHwe0mTFgCSdO2Lq3ajr4IMqvbl8
ixsvcd+NfchIVjUI7+2rVot6VyJjTGH5RMptJE6rssU4cXejvdG+DYeeyEsNUgLbDawVy75CEhfR
AxU60/2WFfeLOFDMwL+IOVXGIyeOdwOBv7+pQuRmEvzNp6SqLBAlwkQIiHerd+cJOJZSz8ALkQZs
nqod7JwCqMS554hEGK8r8TZwqrdNBVspaOdr6GXI836JwpINfTCLsU0R8dQfJhEP1wApBXMq7dq8
B9KjIUUHpMqVljjzcLoO7gHhDcy7rK+iBql/Oy7I5Om+afJeJlOdIk2PvLuDnQ2q03YFdv3ohN0c
FhPe9hh2BebKj1RrD07H7S0Z4LxNq7iHaTasKRL9FNnjII+WwUvuAe9pgwyUN6PPI3Bzgus4CibY
oFzFTwDkwSBdTN2M7HvSyt2gVIxp3IDbLx1WJeocpjQRZsva1LgSjgODAALF8nPi680l4FBQAaQ7
i88DzMHqYJZ46NJ1bMoqBx8wQHARw0CTjXM7lZmTCM99I8reEkCCfGytUNKmQ9TXETo+l1LBjQAb
2sq9lI187nbw4vveocT3kzuvD1dQo0dWNZlAOIpk0mIXho+uVIFOywaXKg9bCciUa2Hw9QcVvBlh
4bJngDFN84ksm1UdSeNOxwEjjSFrsZ6zQwKrxNnaNga2Xjjzwh2pabAeKXU4snk9EBr7oEtAfhkq
2n9O5tlVJ1SuI+wbiN26GZCHnZfpoLLxjlSyOnTCHaoR1Z0nd7gXu4/GwS9xniiiNs8T6fsTUQo1
gvfBIjddQ84rmGFqwuFICOe+aBuxIK47d3w+rxaiAbdshIhSRxgSHlrVhDgBTlep6wHS/3zvBj68
X7WptH4rQ43MgxNbx4FnTiefgoEEKl9huTki+eyFKUKAAS3g13Del66ax13rRBJBQTdceCoC6sMS
FM2VPJR9wz7oZgI9GhM5bk99xDdoBsxT1SOJE2iSY/xp52Ol+mXHsd3OcjHEUlYiK6OovsOcsKwu
CGgo0a0uZwHKARLfZ2PtDHMaB56Wu6nCFiz4dOHJayeBiehQwmN51UtP32gGk02qqfUAklzDAyaR
Pc62B7x06q8Y4QPGVy5IVcmh+bSMCFEepz4h+E3WpUTeb1hrTERRn7/1JW/xeBE79EfYksszZ+0w
O+Rz7DhZN8O1jCVqBpF8jGnj4KGM2MXEVSgyCzB/mIbIdHRFW4q4Q8Bf99fK/ehXaxM/RDrS7QHG
PNT0MZm9z11D1KdGjzrMa8M3u1GDEN6+LEtGswkDzzHXIxma4ilPo13Y0RBnFu67mSA8t+EOlg+i
4uTzZGuEjhJaDsDzcx/4nKfAjTt1ZM5gy054YbsBqJiaqAbwgs5491g2knOAv8vjZvMqD62u1r6w
sUpszsRavcP17q4m3TqfeGkA/hfgM4lc1sJH/H6OfOQSAbaEh83GPV4oLcGGRq3P4J1p4eREQGcm
EiBeVM0PruzCcrMRVBImK06a9CnqE8D09bHFbjNT6jqhUKmCda9PSSC5hk+oCdA11SZJwa0BfwsI
gTU+ZYjoygz9eRMfAzjFKWwyAzaxEA7Tb/yw5n4WNEm3AstLxgXBq5bfdVj9xzyIjPvZw+j9LQx4
9u4pOqRaOC4RF8QV5NYPHya/jMybAJwPezp1PQjPjcuW3AFSp9m5k9fgTmYNnmU1d0hilzCKHbRy
62tB/UplE/KPQBtZPoOcGiH8w7tBPFSuoMDiaLynkMtf5ySdYJSa3yKszOPsKZbUeNYLdyswUYC+
MT/Rh6eEUmXgRywGNhh6JoF+qA7eYJNq15XhPIG40rG5UMxzkqvGCOOk8Be4IFQybv4Zh/GXahGV
BpDUITYK8rah7YuiVXtSgRLTN4XVFZgqcLABWDL5oCilq3GdnbDSPoJSjPuZcfF2ocu/MnT/n2aJ
x8AbcVVUf/94mv7rJts/Zunff/zrKB17UIce9meFYQkbrLgJ+sWvhvgEu+ZBoEBs3Q8TtBS4PN8M
S9gxz9viTRtUfNukC1f2m2HJxQaIsMpjp5Yw/gJc/Z1ROkJRz7tlbK4BbDlIn5AM8MrGwZ7X2VW1
AJi1Af2xyZN7bQx4A6mdLR0LqVTT7kGy6C54KG2Q9cCQqCKWOkgX4Q1Xah4megPs0OKnqrTTSe0K
v/oU9P5Z1TJ47iyLzMe+1f2I6HNYf7CLRV52gUkKLvWyTYaC+44iKQK+a3kLKBqMdMIvZfzgeogK
DWlFWEz3sOfLpAAsYAkKLmvfud+gD7edXwEXVrVkOE6mFvqKDXoUedIo5K6CCSviFeLL7dm0MHU2
D7VCfUr77qYJ/QWVrDcDJDMzruHoLrc0fW8R8UmxU0T/UC0zv5CgfF7A8EynHfBNyWnQh851tADP
kiY9PI45RUJpyYDrGqYbgXJ8jxAPPFuZ0wHxGsNFaad8gTqF7ScADAT6xinhkgFnC+7x8hQ8bTgR
Y9PxdMaedu6uCj15Jpa4Opnnxp44QCt5WYhE0g7sRLB8QNJL0hrOhkvoTDE/7zuxgO644YuLiYd9
8rHSkTOdOG7SsDfwPnfY9qLkSPInADnCdrQIix2LYlum4LgFp5EGjyfTapmqfTlDnkk7UarUaIS1
kPrptQgQsrawhB8nGL2XYFdGGm02AAvYsUWAloLNgpIdynVj4p0DdgoqJUTMYBBulwkmrzqp4LaN
NR/HE+mPPrw+CRJbaB8GsR5FXYFNkNZU0j+nHgANhgpfmJ0Pnibbz6Ifqp1A6PtPeO2QsBg7do6N
4uwpkG+6WPsRyCtww2ydjsYm5w5SBu9LT5SwzQslCwp5b+/NEtc1HtlQgJ60eamVdxcki7iF4W7I
/MGDO9iKyqaDKK05kjC2V4Gt+Y0bzNGpw0Hry4KlQoMD5OJ0NK7VRaii4C3IEytKMCvfMdsq5KfK
9Yx28FhnygcMKXU48fr3STiOjy4LEemTzuyFx8bOqMMQ+S7dVHed7I+zMAAJgR8g92EfeTkZw2C7
ecU76hr5OAcDPTjgi+wBW7WwssbhLU5K8ChwK53VxAGcBQVwEh7jpA0/8joEr0z6TXQyk9i5B6oV
jndJTSG3NLxNKP4ZwXR+p1w/OQ2j2rR5y5B9Q0MHD/xoelTwnTueCd+A3ZlEllw4o1j3SJL02O9K
uyHobglyjJUz8Du2Tlu+vTb03cbEJUdrYnIG+iRqAgB1gF1AF9ZfTX7inLGgroAGmdYUUAZ2hw27
ohMNS3cFvcIiGI2Y7XlcAT3nNR3CwKUGbQowWrSYZFmRp18Q9UUDJfUnOWr3T7RT9Awb+R3a1Rtu
YZyZqgy5+3rvNIsKLic5u9jCbaj1sQX4AbU5BxDulKGzumjBObMH2U9ATsxsWFJu3WU3IvlbFpOB
pQ8Y0np4iKizfKIVcrz5sjL9wYK3mjWWga8BdvSHZUDlBfZKFWV4MLvbxbfLkIaNQTAPZ8QczKy9
u1BENkNTs2LfLkaLMDDhO1jIl6I2IbnowKjMEX6G23oK6fmwtpykAhHKN+j9POyBIAgQf6pCW4bc
P4FhDnCp1LRLleRV1/WXtbWVCwyPhqGzAxEADL8ePWflE2zzpuvkrsJai3dXRYYcMEVyEYFpcuFP
tNQH3mvo26jaO3todLK677Styv7MW11kEVwsZgds8tccZYJ0eAb/qXmfuA6WL6bd+yH0wNEbOHzf
oysfE6ACk1xGrDqJcemw95tc3Pt1moI70DvLG6w9wbGzWGrSpWMQqjbtYBd4dVcBB+L2QAWBGYui
kgCQdTAkNpfIDo7FzJ0aVMm4lW0KqAASJFT78XFdBoNND8AJ6R2CjVMQNcGjn+h9NVXXSYgQouyz
eaHNxi1Qcg/hn5ep3dIrDsTRfQldBjwUoDuRa5Xm4wKeV4p6rcsYCnjgm6J4PnErrFawR3byHi5P
vWcVQ+AWwf2DlKR7P4raxUpXAYuDmGcir7CG0EMbeOO9Bew07TpQTVM1IS9JsaIhX4GWF4WgOjVo
AUyGTTaWr/Lob3kc/8eVW5vxehPB/nG5dfNQy4/9X+YPw28//bXaon/Ad71ZvBMYFDcP9rdqa8uF
g3KNfWvBfsced5tx4Vu1FSJkCA57jFQ0hp9f9k77Vm35f8TYaopuqu/XGu03jIugyL6otgIf3xV0
dCTMkUFEovF5tcX5xIg7d6IAYJheAGXgvmmdVn8Kp0VEWcyC9bPjqB1iN0ERD3T6BJCr9//IO7Pl
tpG02z4RHIkhE8AtQXAQJWqyJMs3CFm2Mc8znv5foKu6XNVV/YdPxLk4fS46uqtVNiWKyPyGvdc+
RXXQnWYZ9J8j0URnCq6285JGqLPAcrgTRurje049Y44hVAa95ZHTeQ5VGx86s9s2ur6rRbgXZffN
abHYRoNx4G4SfjfGt6yOCjzo+pXlhNG3RKr7BpzEYZ7XEBaYgTzKLeYpGdNob5xxyu4qxiukZ0BE
6y0cXIV5LnJX88pxoYiqqwK1eKaVG2zmzF60/nVuivcMA/Z+NeXQFI641SsXH9Q8JgmKcy07zY46
R3FYfle1IffDAvRoEG7+Je3U4ovGtfzOLVK/oAB4nftZeCbgvHMVTUwXI7Zv4MY+ZllrXo+Zob+W
QSVe5izWG74fGIsxpMQj2Goe9z4suZuKMcxvxn4pvrR93qe+1vL3ot+GPYq/pPJbLdxragwxlFti
lLs8d8pzFjly32gZPTO2M9hrMLt3VRW2iwetF/yjOZl4sMqw767UEGPZyYqRaz6y33sz5WJyrL3M
IADpEamm/iwluI5o4qcMLD09VY2T5rswdPM7J0un28YS0Y4suvLI7KHdUnKmW2fKy0PNy7wkQR/Q
9Wvhu5v05qdZzvNZKyo6UQcQXZFhQIqz0D6IIp+YVmDQ30SpjeOJ/3WVT3xF6rH0Ae8UjJ6SxYeB
VmyA5bTXpuy6Q+G67WFkxvfdlvdkwjhMZ0KnnD36SeiEcMnVYGu3iUaItB+7Yf+9zdDKywTqD5OR
JfjECLHAmnWm2Cvu+WfccNQKOcjQd6Ox1X2ilzoG/MV0ThjQMNbllW/mcvgGD2H8pugl9iYw1HdG
cooAED5Q1GBgeTorfgyZDq8+UR3IR4RbodnYepJ6Q62GY14z2gn3TXdXfhvK84JG3epvCsxvdUSq
bLlJocdcaTJfXqrmRCrLyMruEEe8EUYf5V5hlN80KF7TEE7bKZbmzSTC6my5RXvHJGmSYNqJM0ic
hHeDdxwm3JyIe1hR9RejVaAV29QxPGeKqyN5E1njGav/3ULfZ3ggsoC7G+Zbo2LlV2Yd3xtz28sT
n3uHO6PQWhjgRS0+jjE0H1ZSRbChiH+ZZid9amfb8XRmCeAWEwN+Nc5Pe+PoQN0z0Pw+8cr0FVYw
v6HT7qKd6TZAdGZBaWSGjgExL4bq1o9z5m7rQIYbZ2YkC/ayU/tWiSewAwLgLCL9qo4OU98tAOKC
dlsaqbnVmgU+0jLlmwJv37VGKtSBSf9yU7rVHQPdo2axZuiHV6uLtKdWTe+Mo2zMD9ClpA5XdCY9
VIMVnlc9nL6OSc3kmP4ciNEDkfUIvAZjqFYeXMTavEhqFtuynU3P0KCvasnk+rg6Jjqi+sHlI7vX
Q/BTtT4uPjP393zqPoVxO1+HrYTYPFjjRyFa6dclfjHog3AswVVD7o5JxzSX9rN0NOGnIjG+Otjy
5IHU5vYkh7HtVigZ6374iN0NITSYRsNQyxdP0os9t8EK7VZBll3NhlH4XSmjJ8uc5VuTLvlHY2jU
Ed+DvTdlNT8MJefJhgmi/R2UDg43I0l6vj18sB47U6rdceytO5OjAJJR0m7jqCNwNjcy671tguHJ
6Orkm8GRcgi7YNzDMrI+RYG1YpkKYlYA1npDy06hpz3wKx3CUGyCfoxMjI/xkp9jw6j92sAup7tT
rnamnLUvjPTDV6JOxo0JkduTWSruIoCZp25Jklu315y7Mq0wkeoAkZU39c23OsYHq1u1vFKVkZEk
oCBw9b3megaJDeCqEryAzLB3HUDvx3Ls1LYwY7D5VqhuxsrlswO4osM7Cn4JmBgg1KsxdZZxY2tj
92WJoD5t7IYIhn05Fd3GqgqGD2Vr1AfkG8FxhHR5VE6+7Iuo6R5GVd5FMA2xiTODqzMcnnXOumNb
mkM70hgu8mFs62K+KiLZPkZ9p+AbN9qPPJ//6nqLTCAXMxxzoH8uuO7L/G+rrT/+7G/llg5Rx3IY
HUk4HQStU1T9C8MjiKNanSI2o6/LV34vt+QHQ3cotxwoEOvXGLX9UW7pklqL5SignnU69ivDLaTE
/1ZuEUVFWBmx5XAn/g330M+LWdrQsv166sedrTLdN+FRX8fwiDfNOhIQGYyFDmQqBi279JY6j/eM
ObQCsIAZf9MUcNfebTIvzBgwYOYWHs0EuE2rdsAH0O90gt1O7RT2PfyswY/TpYZCGt2F68TCTkPb
N3LmLBT9FQ2eolOOQqQ55mXMMddhG/jSBLd9WKZ0aLcMkp1+G2mSPIBOQ2x0PbpxRBflvLhBOTyL
NotfhwhoZRI7+j2oc5drqI4bar24s99VooEe1KKwOkqqYW/IdPHWVaX6WIZ5ua14BuIfT8P6YAB/
4BmR6+NSXZ4cjhGeomZ9oIr10QLbmG5DJ78r18eupv/bT+ujmK8PZbU+nvLypFbrQ8tokOdXXJ5l
Z32sp8sTDvguuuIN47lPLmfAdDkPnPVoKNdDAj+82vbrwcE5OHBBcJiY67EyrAfMcjlr7PXYMdYD
CFK35nXc0sbldOJkAHQWrIdWHAVVs2H+oppN0oLGdBtdS8kGJ75BqhBIgJsQe6EcENnQX3uGIZGW
mMdY6OPRDeada6TisIJuW7I2svmclZDWrYJ8jk09y/wLNMEnJnoDMwynYRlTLf19obnJxzSneimp
+AE3O7PX285yN0p+KjpkGj6eDM+FCMuKaRgB7xC2cz10yUazu/I2dLXmGWflSHFE+WTmdrG1G2h2
S+FQ3zhgEm7GcDSPeaXl95Royyfmg1ALiLPZ60mRbXSnqL9r7EgxpU8jPI3UCa/Swsa7LNJkWW/n
9GQYlX2AFHmlkY3EDWo/igncLuS0e55vHcBPwRWnx8UeDF23mdygv1Eqsu6ZKrr3Y1ccpzgH/R1W
1KpWa3xlQMRWpXbB+yXhyA6h6zD2sdLyxBjcZ2IOfDtQ8bdlkRB+lgbewTiy5Quj6A305y2cgOiY
YrfcE1c6PJSGeiIZ+Ww2A0M3UqyvZdRqmN2NzwlbPKgsTIprpd2P+Cs/s0s2YeTRNLkqXfZQ9/xC
H80bve30r6xuoxu8W8XKZ8BkWwHRfLKqpt607PX9SrX58xDY3IaTPryWhl2eHQyY12nOBAXuJrV8
0mvVHUcA+xG+fCjiNemnDMxhF82Ge8dmygXZFYuPZqOH63jjHRJC/KiClnNgtkfI4loG2g4x3qOz
Dhsvx/H/DxcPLfE/Xzyvb8vX/3Tz8Id/u3nUB8W6GoviqqCxV2Db7zeP8WHN6WKfQRgrDsZV9/v7
zWN+MB2DbYpu2/zXZRfz281jsIxZ/2WC+Ww08QwQfunmufhXfhIhsrLh78dyjpUJ0Jz8q40gTvpY
RyehUfomdXOYyJeg8I9T8eIwi1uvg7DEHh439NuEVpOcZGdkDS1kZlCz6vWseRHs+48pYCDfDqko
t66b2fqh1cUCidSai10fi5qoJ8Od3BvwhPBgUx10wrWmnEW7JW1DObsYeeC26BVj1FR2de4Fk4qC
naoVrw5+Ax/6IKbHIJzNhSVNBCxstk3450m5LwdQyt8HkCfxneoHJUAbiPI4q9Fo9rQqgf1K9p9d
59uuLNHcQCFipWMBMR5piRYYy3NrN66+Ea4Kg02Do/iqdNf+0Wxyhn1mpUWxz8gzvbebiiGFAVjj
zZoGo9sMTSCuwNPK3G9F7QAKTjOgEa1ekkYhEStxOq68oYwuHoJTlgLwTctm8BZXL6F3QzcByavx
tMcjEVOUuNN4HDLN8Igx7c2PAHDNeJskzAi/g12tWeMPMlv9o5b1TCErelinsi29CCrVExevNJ4T
KdvxIQ0WF3u/SwSRC1yv9BU5Ew9BHRLvBaEJmOWmM7W60DiL3Tb5KsZ62hdZzyKmXXcyiV5H2cmS
Q9AdMKxnrG3Yzes+e6wp8fkPq53OCMM7gk/WEB+tbrcq74bdAgNF9xh5Ddz0enjQgG/eZP3kiB1Q
ZLrcjJn9Rr8sl5ouitg0aY5GQ+IB9ZAm4OC6Ywc8aIkDHlQVbKrIxqj3nMMssJrKRjxcIWGptgV9
a83Gu9MeK/JXrsfLEmwoQjIc1s2Ylmr5t6bThhQO7bo6Gy9rtPGyUosu6zV6PFZtSHjWYZbd3Ciu
Ow7nagrvncuCLr0s69rL4g6aO0u8ZN3nyWBUTzlPvfaiteMk/UgTNaukyyJQQ38ijyEow2JvGnX/
GBczsFHBcgIqTg3VHhwt3AEPdKKq/GbmplnsNHnl11nt3KlmU8bODAihpXoG6QWdTbZGahgT9vos
vy1QW5j+2KFeuyYiA4QSnwRIy5sALA0jt5ZGfi0omSVUkiWITmiIeyrZJ1vPzOPpTmW4cGmZfNJu
FtCy4jrigyfWRJfgbghq86WwpjrbBaEoiBRJLHXPKq7agqDqtolMzZuys+MXK+zUuV1UcJUCm7hN
ukryY2Z5CcerWUbCPMKBOKAlG9z23ADl248tjNqdBQTWj0gGcD/V5lw+AHmwxDaEwpIeVTCRE5an
bJz9//7LSBFQSUz5f7qLTlG/fGu7fxo8//4X/HYfwSWBM0jXYiuiwC961d/W/PYHslGVSRQW6Zs0
SbQ7v99HxgeXP4N6mpwTdqarAuCP+wh1sylWWAm9Cxfcr9xHf+mDGGwqCzqmweHg4q21V6/ET+7a
IW9JHIjUTMkCdRO8/td4bKbdAoHyRa+76kx21vi/ZN3+7Wvi9qeVM7iJ1V+EBVJLp6lkbQz6nyMR
+0L9jYjJ8EWrUu2c1tWDImDl/+Q12dKaOoN29WP8/tPPKfsO4aPlzlsmYVG6geZj3ioxxbtRDauS
p5iyR5bI5f1Pn4u/EcOvOpqfLvvL2wvuVafkgHzIhuHPb+84twtSt3LeyrFOT6aok5OyF2MnanN8
Fiwp97/8ei6kGsdCCUJm8Qq//fnX2ZL55SzUCNvGDE/MrTxniKJzo8L4aApj/EWpPx8eaDagbKmY
Ld7Xdafx05vatKSDxZMxbwWJSqSBzbfov27inDhFVUiWW9EvKswvL4gAG8IPg+VLAffzCyJECUlr
hDDGFuOpHRL3SrKI/F/ew/W7/svvjM8kiycU/Tpl319+KkObXEu1zcymWS+YC4/lTFgZmtzjf/5d
6X8R2PDh4Pa2bQFOg8WP+ddnr06rGtYvkQEyIy4VmRZz8jax4i+yM/tr17Sg1Y1la2tAEQHXIlLI
Hbi6GhoXP23inglZYlFjjUYSfZdc35UHBM5kWN4XVkgUSWXmT5OZ58b2P3/nxr9RjFEfcSah5rD4
CVxMiH/5zcNdjzuzGLc0v/afUe+sWUpuExm7EGxDDVmPIYM5Qt5GiIM3lcSxbUgC5T0VhJcQzYuK
wPEU8k1nH06WKdmATYw4oIyoj04R1fJIpTK+/4yIt83WohPTDLLW2KcZj7E2zwLhYZhM2yTIu/PP
4HjImFHqNSmKCVKjwvYFuqzBS14Y8k5shzcFWMYWwclgPKaC4hc5pAWSL4q0jgS/IrMeoR8K17Nb
k8advIqdjYR1Ww1VCPTL7G3/B3J+JJGG2WsfEbTKJ5V80sICyrxD/2h/onSoAp6SqdA914hIHg3r
xhh3OmlsL+kKHiMtE3V3u53zzsmISJa1s7UhJn/NcMw3DJQZcFyHmQqaDat3xbwmqsPlukBdTftd
1sFbzmA/32aoANLHsoBrfpgN6udbA44/EUKEGlEC1Zq++B1+AqQmoC+zTa4A/5/0doAmH9ZxTSbt
CN9wU3X1kB8jDZ0BPDm3J30wbcvYsxCEMzeZ8TJsAdXL7B70XrcQosW0w0/NUqBxqq3lM1Tqx35p
a22D/qQh6XmZm6c5H134d8H6ypDQTW0zhMKAyslIbK8tqjuDasnXYNpcTXtRSRH6XTGq7Dwu/cSU
ySywshCiGQ4E3NVIt9EdMzebKmMatqN06tgHfA0MdSn6dDoZkaV/1YNqRsA9IBpH2DCkRNuQMn+D
oaJ7j1sBVlTEcG9ukomhDVIEq0zF9VKQrHwcZN6/y8BSb2FTtjl1FmGLR16lrjYR0cjZR8R4smOp
52bdVtF9dDRIVn+o+nIuT2PStdvIiBeFLIjE40OtWnoeFUgWRnC4tNjPGcJ16A3uCcTriLtcjL7Z
pFEovwujs69nwPvAEXuLyc8cWhMY1XzNN9Od2iItySIha+vOou29nt0sgSqsmVL+akIpNgA+52+S
IKvxml2B+zgWbl6chMz0DNyrmU3ouJibg6Amv/I4DLOkUcjGTDwEYUlTWCt7epNTNr/bpD3ykWDp
9kRt7dYbhHVg80vZoPhq66Qhu95xSWKJurDNt4ofmWPTcYw3rZYYHgE5syuqspSg0Wghi2axJhLP
9LoJXskjMd9In7FdL0nz4HM71n24m+PcDn2JageRcZW7d2Hr6LnXInCSG7DXJAIloWWipY87OP44
iKXlB4WOVjCzqu6aDc1gP9OvGgRw/n2YRlXwmK/yR0hfPydquDNS/hHm+oBtJvopV4P801m/ykoi
bbwf6RqVk1S1F+tuEWyTHxkbEutXuY8xn9b/1zI2Lif6f/XUiEIdytR/lIecvjX5P1fpP/70b1W6
+8GmiuHKd7ndfzACf9tXWB+Y3ZvCdg0K1hU4/UeVzpKDuhlMHnW4/FNsgKE+oJZeydWuxWCJUc+v
VOmwBP5clMAnRIRgoQi2hE2ogMU38XPl45hp0ztDlvqU8V37qC1N+TmcUaSzFnDkQ1/ZDK5VJ5Od
iXsp8EjMIOeZEI2XIdL7m7Tlyt30Mho/2YFlk6hTBwcmsr0fxiu31Jis5GNRtoBHzYl4QrNLF4jJ
KrshI+2+qQPgok0c2W8Rhs5bHDuoCGpqUK9oQ74i8uw5KFPaZ73P1SM1f3sVwmgEJNd+nR3MC3wh
sJ4rIIZw/RCyEF/GZRkdcuT0r31jkyagxdl8ywIgOITl+CnJCkCcdiUOhojss8HuNt2KpUGPHAm2
ITrSvddYcTIyPIkTHS9YrPZZTyTIliUSVpDBICrJymMviGS/T212nIWRBueR/u+02Pr03IVJ8gAf
lz696+D8qin6PLljsU+Imb2aRnCIHj262fqCOLpvBeq6FCh0Kk6oE3uW0n0yNmSymc7DkHBB3eV5
NDKnL8TXxCLlzTDtbtfjuADCb07PvLvYmXLdLXdxmrbnvpnGtxaaH8mtVeWg/ONU+VTMCvmxEF3y
ecYNHmxF5hYziYIDoWHoHIxHTabqNq5hJ257DdfcFR+YTOyo2abxIDnsW88JcFhsU5UP47lJ5wWC
95IhP5ydDmpgi5EjvRrDyb3mHkDsqAMuRdsSzMySshiDSD0Hb2Ov2GkRI3EamkyOxGfJ/GBLPhiN
pSc9jiLLzbzeRCdOroJAjpj3xC8XhDzWnN3EEo6LCO/sSRcvBENSMNhuNHtTNBS3ZpSs4WdDlOKu
X61js7Yw90ujFoNdZiZ7ZHz1ppwjltBDkORXE92zu0sMYzq7xGEVHq6nCrGvwGhiRzLxM6Z5d6rE
QRHS0el+2Vapn7sZyk7kNAfy2jX8KkjREQUPqxx5LF+qYvra8ODtCJuvEE9ZFWGZQf/IzPAxCfi0
kzqF0WaJyNgjO1nLDmGVDJ9skpSjL8kkhXWVTVN6S1rmULSAM10MQFz9eO1cZqmbjmEAAZdgL/Xh
3Ao7fGiKXLYnEw9Me19wz/tB5NT68xwQ9nduqeyyHQEzUfMwjsSX39fSreebHAPBK1oeqqJNj4gM
7SD5e5vctHgK5zSotZ3kAzXf4l207oICoW3jDK5V7h1Zc133lTCz9zATXekXeZCnN8llHnoZjUYk
5S5obLE0+U1Sk0RCZN5Q+jGc0EMam/awIScaFsK4zl3lZQRrrtNYNAtC3w0KZ9ESEVbpL+UCcRjp
9LqeQ+F+5Qiw7hvgyOR80RCCxNyWY8mYQVSopnzygIbWM2BF0sOIbnDsV65NvdmTnl4e7ctYebyM
mLHHTe33QDnFfrLNx+wyjHYvg+kZEPBjfRlXs1RLPPcyxE4uA21A8Qy35zQhKSoAHEvOezBpt4KC
u70Wl7F4exmRd5dxubFOzpvLEN25DNTVZbguss72w3XiPofDpHnzZRBvAsu8xS/AeJ4NK6N65tgz
g+6kXCnZRmXUW71k/rFpySv/whQkyrcAsrt2Y4oE6TQWxJgkNc0ai5OJ3yrwcjnxJPZaL9Ij0+ec
WM6ISN5NTb6Vj9aMmWJCgiWW33NDUDb6Lbk1qmXeVwXBWwPxlteU4l2xZZi34rzN6WiRZ4rBQljz
vrPkZwcGM/HQZkwCaRg08bGq5BwgaSV/aptOBKQ6ScYDhSONxVWPO/W1ShPsw3ND8OdW2ejaNgF7
xYc15YiwcryDBvSK2c189GfdrtPsgCTXwBAnWptsC00h1DZxnHSsNWa3OhKxLa+NeKrebKcoX7h0
pk9LMjV+yhOXugjpFw7Fh7RdtM9TotpjRi8HWjquvmaGRehvPJn1KZ20ETK85eRP5Rh9ycKp2BOf
Hp3aOc8cnldSa23nU6f0fF/FWrVsCIbmmmpt1OJsIfG48mVDDRU9vqWNgOt/mGBXP2yT5/VdMDMv
8olvtA/0WUPkqZWzsiF9i/Tsro/mN46XaPY7yY8ux3A+QW5trlNQrjXmPeN+aZrI3RHj23R0UZX1
rPSMvDW9Dti5mMmngHIblQy07UNFUfvFLTnrNpp0OdOUeMgJcg9YEVbdwSjLko+S7jxHVS4a4Ov9
cA8NN8W4kMy+iEHYi9RZ44O0+bmftSrbNWQehteyTORIPl0LheCHuxjs2idsItXnQlWL2g4/bMhp
tXqS3SwUR+SjZNqOSVgdsCBX9zzL/aG1WkFSTVLp+8Eyhys0iZickUjOmFJJpy3JmvUYfRcesZDT
liTJdDMVifGpDFLnbKXpxCvVCZ8zxozScoonkMCNj6WzAS1c3ZPA3j80Y5/eka+Gg3cxohMpZOrG
XK3XQ6QSmvymq88DO/eAzLAMDWoiNO2AjHb50oQDMAlxMXHrRrI8RoT/7MvV390NVnMl0EFEW4aC
g+8WY7BxS7f+Qkyg9r6IrMbDMGBdsvXavEYu0BPNWNlXWtSURKHJsbolv67cW+EAwte+OMzNINRJ
3+HPXiXLEshdEc/WqUp6ndhnhAooH4Yd87DqDF0j9aCqF4OPlPW161hM84OxobAT0WzdLGrcazvE
/NCtJvfp4nePWyttvRDPwyGmyti4F1u8Fq8WeW2OpmeGHogIq4t/nijcsnqBVXP36+3AfycRl2mb
gwpcoOammtYZolNJ//PW+UcD0UZv0d/unv/2b/vRUBB3QzYCDQBz0R99w+9raEt+oIgHe46ak9Ew
+vI/GgoEUKSMCZtugj0xE/5/jf1N8wP4cDiMzD4x/+l837+gN7f+Ju/mz2/DXwb/WjhLDjNz3k7Y
9NaAavwWsejj0xTZ2byZYwKSmSv1CHSxTrfUZ0fEncYZ2cye6ZSdedWs5X6I+e440miDE2/z4URs
SptsGX3qX5XDcpIBNDhxTj78SRC+TZZyTdIjfCmT4KxXq0urJ8Vll3KZ9F5aSPOOfgGpzygyK9hb
q+QlGEXKtNCpKvc2qes0uomsblLeYHZxfixiCNUbh8te7SBeFCc6svyIcxoxsiJjBSl951vjIB/y
qmhNnwkZQR1ZqBep51aLeBntUEgvg5fkmSzuEW6TGAqtBfU3wbmksYdt+Tkxi/wZY/Rgc4BM+c1M
xA4eH73g2A6sNdiwzQv041HV0jSkqxsqbFJ9R1zlso/7ebwXWUniAr6oDAlrUo1P2KDC4YA6WBzM
LKEnECq8ixKOY8ZyafbuLtLWtllRv4djVp5EOVaHMCqN+6kM3Wf0TPGmUsXV3NuPkrZnI2SzbCj7
rGDX1h310uBoFgcOMk8HctQZrWl0Pekh6T/wc5pqI0qXjBiURXhQ7KCzz0oH1qPHbTYenWyqdkHM
j7Bay9C3sYf9GmRu9xY6MiQRLZY9Aeq61j/XJTuCTYEbvocXMRATwy1MN5rFGW9FU8/ptwhkyLs9
lldYJG0vTS2JZyYWX6p0DHzhoA5qp0S8EJsCswIxVPtdxKQZb4BHMI/KF7pAie6m9bSkDGlHi+le
1vqu0qC/pwLdOh6f5GNMItFDEglz3OgAGHw7lQyFNUEjMLWNOLTzMn4LzEI+GvOAMoyFeBp77oAz
0U/4paKvRs93JFepICIvjpEN9M7r0tIpzqnkZyFZzb7H3K5frZkU/UY6LotlkkBRmFt1i+4i093r
uHYPImvtzp/5d9/cSR/3ixggHkx1wuodvXJi+xPBmTs3NJvPsaoIFs7qwP7imsn4ggxCsIc2LGQK
zEGvmEGLXT0DNkAjbPQH4sQJ3YuTr3aNoDBrwpUjYdQmUsPWvOFbIKecCO7mJbYj/dbs4yWA3pDo
5Pna1k2RFct+MBLtaz4q+7sTDxMFK4qkWwxw0S1aKnWWoanpO7tWaHjniGS6HhsUsorVPlDl50Vq
034YtK+90s84Z1AEGCHbZL0KxdVEWs5+tMW4B4iRHrrIaLgtCXNiSMj4d4+II98TXorcvlFzN59A
lPIMxVb3bktN0eyYQYJZjshqkwQdVnVOH61hRxWdCAubad+6PQEu5ag7V7GM3AZuRaNtpzCfH+LJ
rhk991HYM8/TXS+VPU/T1ATYG5Qr9qodule7z7oviTYh8J8nSRWRK1wG43xrMGQMTnnkSr9PJmLu
RqmV5p5UJvP9R+x0n/Y1pluMvh0mBg6JlJmobRftwanXTHYSjuPthHbjVMYVpbROMu8m4sC/0o2l
2/17MjVGaHXqOjvBZZ32d7JahhvgBSMVQFpGOGUQp5hdWD/gwR5v4MqZXihI5qFBYbhoCeKrEuRl
dwW5YBH7luIQYnXejHb2xDnFtN/Qe3W4NNOm68XTNUfs1s2bvSHRaAQx2gMb8bljNFg8YzRr8z5Z
+u3QxVsnz3fTEJNgNG/qmDm4oYs7IfJuS+zZ9KkYDITeVJ5UxCiBks1kmPlrPet6TcueT2tomCQH
iRp/8WdWqxt2vp3DQMXGgbiQPsbDInxrQEY+LgRdjcrZK7IJb8o5iJ9gOUwfAzUXNuHtcXxjBYm6
c7SelIklwFOEC1jg+e4Wr8QM4nd1+SDgyJxyJ0BSWpIxLaJ5gE0UGTeasGs8waLJbisenINY+AVK
Te+vWtqt3Zwp8bEPnRcbKAj5kz2+zNLldUmmuu30gADwKBKcnwBQEouMiVBdWeOK16pShExJv0VF
L4562ij/0r5dgr31LEH0GYPru2W5hG+aijrhKgitRzXzjdp9xOfRdbI32Yn7Quod3KE16DvKZHET
85giXCd/DNUhad8G9miHGboOFI8USesmUF2rb82kFgBsojalz46xpypgffQqw3VaYYwEZVje6abD
zoNzcVeNUQZ2JSxfmKNYLKGH4dquRp1zb2bfFOnxUbjEfGumk5IGb/mJpg9+Z8rPZsmop1h3bHMx
iIN+CRNvScxFQ5LF6KwYAcRY6cE/XQHTUA8S7OEJQYn2nI8za4KJVeDRtQK1y3lmbpclHkiyaFmA
L1hr4s2v16//z7kdWegaKy3vn6vRw1v+9vUf59m//fHfyk/3A7IRG2wDi2UWtAbL53+pTvi/Ed87
tEdrbuJP82yyblf3IQNryfAO+ckf5af1AWkVBS0hjTYZaJb9K+WnccGH/7RkX/Uu0rakblLn8k3o
f8GWBklnIPV2HMxDqYyJ4yq7QxphsLNzhtgc4a+9RiAtSJbRz0vc+ZSbi3Ms0dk8T7ljk0VPotI9
Iq/oXTE+m3EAGtlVrBvdbcX8bwf7Z5/lSXXuICR9kjoZuJuubcWLFtCaQSNwrlQXiF2WpNYnCqXw
rgEHsVuYs90w9Ru/MUsRn9uOAtCZ1Z43i3qEMjc8Z4hXEAKiuHYHqE5MFBb87txb+k1S1AZ3pLNO
R/Okv3UdhN5p0aRP5UThA8MpBT8lvxt1jc1cw8+X6P3bSBQWWjiJ/9LN6S63VH7l11jPsLWL1l28
WOFqWntCappywW2TBg5J2nVSkJ6ocj93XC1fw8PScdu6aBt9at70cXCG4h6/T3PTjrxXK4XwU8JB
bHuBLLq3JNecq7bTkGC7dlsSsGL1zsFRtXNiGCB9oBmwInMDyXs518W9ac3nsu6wIrmyHBj0isE6
zRqK6ZBgbp9G/THvcUL5MRad5w5lk74Dmu32GygQnPtMU9C1N114E9SWcW/jICfafVzChyLoUK65
VjRc9zaF5CEJ69HdNEXeZ1vNpSBjRT1zTdGAVzrh4y6Dwxkr6Le+0xP9pSa+a9oSNdmUHt+PEhvV
KA6sMgy7z85ISO2VE+gxQYFV7/eTi9i+IWfJxZAO1agra5c5ZtuewogCMa3XoOUo7soXfVhYAk+L
031E3GiQM8zEZl0OmzlOQspQd1Oama62TaLSh5FF9yGe4yzaS7u17if0gXepW2FvTS0N0pLZBOar
PQTppuZbZR4wDNZmkPP0sJSjc5BYfQPfQROiEc0UTgRikmj0OEVkqCNUl+V5YjPwDpI589xwwNya
Zak6jlg0rvrQLo/1UOaKSZi5pyyY7nsZqzcr0qf7VpvDN3PuDJJP2KWSyceCfsSsiN42nur/4e7M
liNF0m39KucFaGMeLk9AzAoNqTlvMEmZYgYHHBx4+v0RVW3Vu8/pbdb7sm/LVEpJEeH4/6+1vrWd
DVTzDXejDBV6MZI9VKmOOKHFJzGlZDrZscn13/P1TtwEXX3klSyP2fXK7F+vz4BLuEpXUiMPwYxk
P3brXXtSs8UWzMvhqdrrfWoy2uIJemh6HEwz3kKybe/zrjRe7OvtvnJS/ZBd7/y+taDAjuso4API
c0LHIfe4ATvoHjrJMMK4mSwnRhf5PbL9/j31Q5OEplgDHG1BJ2gIo2r8oUg51Bt3NDtzOziaDYtK
t4aLN4M93NI8679YmqjG3VgZjrabMoayqGNN+u5VKgeSVqXGfCjcBZKWVfW8gRfIu8cgn4ybQJDY
44gS/lmrXWga7QRfr5nQsqico3smkrWwLq2JhdiwmpFxMnC9gqegSdCVBekfbqz/cA0XDNX6cPjX
D73dR9f/f5cvK07p+v/+qeCuDy9ix5iqPJ4q9goQ/1PB1XHwW/iUgOFeuUo8bP7uszSwYAYuoBjf
s5EF/2HhYnp/02EIsCLiKygGBgvwbyxcHPufrIA6BjlCB/xs/NzY87x/spWVGWoaKz4zGthNfmQg
B7h/B+TeQybn98oq/Kc+mDyyjqxC35BAYfbyMBK32uhA/vO82IKGl7sQcxoneHd83NX0GwXfPPzT
n/7o21TRjqWkLatg1xBWrW7tUkwXZzGmdOeybWR/QPkYjDNh3a5lyJ+UwbHPWICguGx5sU3o/q+6
qA6EKJ60OrmflcEsseB5jruqPtgTrvm5K06J7T5P6xFtWZi348IEo7no6z0O4hW5mZYvrtt83Ilh
kh6ixggJ0aF2nm4wXGVhshRrr1yXjj97d6ma+zhZkqPH2b0pAz/him10pJqsGdOSrrnTL2JR9V0X
dAhetjfmO0cuzW2LoeRrcszN5NTlvS2q5ldQW20dNjMbBYfDGmNnkA2PZhY8prIs977P19RZU3F/
r7V6V1RrOF+POUJMk+NosF3yCRlMyL7yl21Ov+1u8K3kUc0LtKjiXC1+i3bj3PcwCR7pea+AOpra
j0CU5RPhMAzeqYO5iRYzNMY4ztIQkiO6FAcoWyfa9JZns4Olwu852q+605ZPpZD6WQP/wrJ3Nv2o
EKU2beyJhXO+Yi0pBew+GbC6eyp97yAVgb0sBlGQUXI/2LfkUVE0n1qgD5emUxMenbzVEDgJVWxa
PRdkueeS456ZuEafuJGt/kPASrz3agxCgJiKG4o2i7uEZtZ14ioju3XnNAzsvP1aL4s+EitLsU2y
eIkTSgBfMgx0KR5aq67BNF5Fo3LVj7SrlIQDHlmp0RZMp1exSS+9II8GJKi4w8DlXGUppVCoQBGD
HeKqVUc5QPSbdtWyYtuqD91YRbyF4oOH4JViYkBuQgNzmznZuldhrLiKZKbOB+EYD90ws8q6CmlX
Uc2/Cmz2VWxjbb4Kb1cRTl71uKs054290UZ9bhUFk/Mq36lr9ia45nBa3Vxe52s6BwGn6Q711SDv
Xc3y6dU4X11N9N3VT59IFbw5q8ue1QaGe0xv+V6/2vDbqyU/v9rzjT+s+n/Y9s3aoIDPHvb2Ul4a
lbm3YvX4Z6vb31h9/wuNeFGyZgGGHmzorrlGBJxxFB96Ule3JeRBHbLPGiew12SBm6whg/QaOBDX
8IF5DSJ011CCQKUpN8WaVQArT2wBQs+aYRiugYbpGm5orkGHec08UH9N/IG+XaIQzjUW0V4jEvE1
LjH4bAg1a87fwZmlH8IoPbEdtJSrUWox225IHHHnzq9BDNtsh0deNeIZSb9GNYw/MG7tlemW2AHu
lODKequv3LfZy1CIIYaw+mpsfLiscfuULaxXcQsvFnv8wOvJ1m0lyukCtpxfI5ZpPIPpXR3Tznqa
fdGQHhqcTVcWGnpTSjqXdUhe3LVXfp1igwHLzqcakkVu3L4adcA6odD4HGy5ko/Ps8l5M6LyJiff
asenPhHjDzJ7xrgBETcHbHOFuARLXV3QY+ajOyx4R5u11Zo1zOCSwPeK4tFBLL4JTLl8Bv08XIXh
heARf97QCFqHPk1RxXbEqzrPoZ/aqXuoTagMIfijAaE37kV+pM233gJ4xSLZOP0N2pLm4WlNuI67
wVikxynNLPa445QdfB2bZR/b7IONtq4O1ARwKnLdphC9XwZuKTrFlN9WW04vujn/8txG3ZRYWGhr
JPhJmuicsdJViTi1mf09C3u5d7l180lt5cZYuEO2maafhKXf0smah4a0dkszqoeCdeBD3vZJyK7H
eiOUSaxqTeltY/pEP5zYwZjDoKXgUEuTEJFPKLQtOX2yho9baiQaXAq5pEbU1533VTLTnItUpxI0
L0ogCXYxhvEIZWO6gzNmHUwRPygk+Q1EL/8oy87gLs92dkNuARZVbIJx7u55obUoDpzHMfe+S+/t
mkrVSBS/o/TCeIVn+wBlgnt20fXmWtGQsIU36Y7gholo3MMmifLG03/CjNLOEtsqpE5egnNJnvec
11CwW8M422NbXeDycBceqTPV94gVUwQn0JDRUFPdzs6rcZ8HAyRPXAT5mQe4yXJm4Qng922W7c24
YyFlOsHvMeEPbkiFh8qCsiNg+Jqju+wsKyFR22E7bSqj2GmxMYSCTNs2doY+qmPf+VZswhkaZ3FQ
lfhovCZgmWsd3YmNaG85p7iT47MHJDkcDM1/6eceFF6c7/pJe5New2uz1jfsEOvzx8LKGj3iF7RQ
WsSJE37TLp8aOx130079HKmVsvxRlY3bb/Jx4J1uM0JGgTfNiK12m93G3QBmhUP9IQas+13h0+2J
GyUKeT/Lb+bCbk6FwwSLwwaVKO7XVDWNsqinsll5sgGu7aifxl/ZSHRssZigfJwpEx5xezympVm1
kTZXeHCxLyzLDbTeKt8VdGFTFR63w1ZZLiKUM85k5zRvJLpHl3zrLy5ooXh57egm+Gw9wTDvxm6L
96QsTnpDWp6NF0D1YEzHx4lIzI+lWm4xz8Lomri+mS2YQOxk4j7J2qlBH9AYTEmwqOfWoPd7GRsb
O81sVUDpSmeb+W33RlcIYWir4HfUXSpP+H1jOwv7BrMyNGEz+bLaNttoiZFHvBdN/Bup3JORH8zD
4HXNrg4yesXb0WZRyptFZXlyS66zeW30nkJLtCD/07d7MW+8vpiKrWH0AdqbwZPVKGr/h1bRKQ63
PdtDiFM8o5QDpTNteVw1crnJ3HQ+doXdbntGIBQrXB6Ynq+0aN6tdThnKx2OQDTsX8vE/N8z8bow
+CAAGc92Fr/SLGsdHdTxJkzq1n+CKFufhz6rT0IbvM84c/uboUeH4OTKv/DbZbxBDT1JdjY7g6mE
hwfARLKdCOBLbvRJ17u9w6Gd/S9Gpv9MnZuRxYGi8T8NVq9E2P7P/11+d58f2LX+BUTt79/mz62i
97e1vpXrv+Fa7O/WZtM/t4rsB5mRdN/S8UJyaP01YuGsXReKpMuQ3S2TvNrfo2yWAySEkBJ69mq5
JYb274xYxID+u0nWWhv1MAUbPL0M/sV/7kLiBhCjK0s7AoZohJU9f9paPm+6xmpYhGR2NDuudu5V
1v8QuLL0PJb3ZjduHDyLj8TQOAA7Y+s66QXfwKazlp9NQtU9GWUMQLq5sfFiQNAPYv0+0Jdpn4+L
/ZRmDoa81Ebfy5VeLZsEhuk9PMOYs2akWtvIA67z2pgeLW3iyK1nDK/KOnugxn9VTl3nh8JTya+m
WRYvTOw5n7ZdpskL/ctTFvqLU8BwRML5XJDZfnFuQjWf6+yCIlyf0oBzYu5HsQPkyYDoxOJ+yvr0
0OToXvuEWxDF4GmQ3w1+v1CQYHgs/AwICnOU8DfMMXDFzw22RG/T9dIOqZVun0WV9HeZGQOejmsO
32yeFuaxUt4ZsSXw/JBd2uhV4+ZRrBv5eMy82npuRreAo1in9jcdPtNHkarizUfVPdj2UHRRyqVP
sQVhN8t4KBfsg5UI9PM4GeOtEgMIKq6MMVqajzOZa5ua92kyJ7+rZaGdYpLpo6zTx6TzPivdaG7n
zoReS9E5/ns30J4lTKSHoqniD7yVtE7kfVU86hIcLhgiHGvhpDXdWzsHCw6wohZ0sgiLwEVN6MpE
ECrSNRbPcEsUCMpJCpGLlDwM4wCmxEVBnDwKG9bvrs/kyu6osEt39GCfsCCIOIJH4Jxm2Bl4Zc3Z
2WNmrUORLqRSOnNIDk3Z6uhJ9vCqVlzsQrABU2A/Azplpp0PMVnRD6GsFExoEecWoFTDl/tJDvpd
p5n6s2PU7Wva4udkCc2qCjS4nzYEUrLkfhiyIkdJ6/Kzb9bTAdaJ9l4HdY5upapnv8+mz54nJfS9
SoFfK2PsW22h3NC31ecMMTGc00HfD62lwd41m4dOlL3NM26uvrweSdwGarNtZqP77RkFT6ix4T41
xGoLiMDeBzOxRlNioIgMHdK/JXoMuhOVHB75KBdqiEjQei2N6E6FWhz2aPBkNtwUrjsvqsRZ+g4/
tMyPjvAYjNoVERLaLjzfjcj65lBYzvCjhQLahdJzhR9xoeVJN7U8Y+ED04QlcX7Aueuk7tEx4Ll3
QuarcYv3EHPqyFYEJ4THp6vuXcaKAfPiOnsXvSmNPQZhOuux7Tn33pJmP3TMii7FIa5I957rz/5W
sTZ3NzNL7ouultUjYPnPpdksJ1WXFQocZ4CBxmsUd/XgoZiPZSbe/Dr2Xnw3f+4SD+W9MetTaWsD
8qSBhxLTPEro0I3ZbSaM/NhVTXLvO5Vnb3Wyfz9FkrfPmDPKswW4bSN4S5Avq4SPG22Z71RRZNBX
TJEAEI3LL9DZKAxZZRwHBbTIEB4XSDa95S5fVOOGg+nMv9mEuGHpG/qPhtdR20ij9l79oWTjrHH8
b0Xa/srxTiZQvEdM09rMshXBwlP0uRupZ/wiTCWgsSWE3QhXxadULuN90vDniFNz+dZSNEVUeT3f
5FU1X1TtbUcNQ2iTxXpokxq997zMwPFWrHaJMb7vdWEe3YxtU5z23rs+9O5XzhUDXiDXqaNDJ/wB
AuB4EyPb7uMhIHdnls0pkMp6XkD0c4dnN9UbWnV2SR2zp16yBbZdgKEwWEZo2wT8dMVPVACc3Lgw
jY64B6Yfvb8HL22vFnaEknYs6iNNC8br0Nly25IMO8CTnA/abPb71AnyXVA3cjsOZv4LQF3zBWqD
kUwgU7lUw51rXYflR7Kf/pve00+LRXqv8+aN0NGaiENcwKw9Ekvb2EWrc48v+ghlHyajGrk/w2iM
SFzIe9uj6iYrmuXeqatvelBu8VBQQoc1+ib1qydiZ6GhSahuM0eJGwx3QvGtEvfdTZFuZD9Fy2B9
5wODnVIXuwfe0OfEKjtLLzblbAOxmx6FBJOMafXLlNVPPfE2Ms6+Frcqjly/PqrW6U/M2lDVpz7f
Gq7a9v44hLzuYdcFTES0RVDVwWPiJvMrn3r1Gk3esDjQJs3G6coDcDvMcXmHiHOrk1fZtzkmXwkZ
51L2yDObRB+JgLtTeUl8+4BbgvKNctwygNRbs3VeA9hP+1oWA9UlCSS8VL+QTXgI7OWSVEJt7Wz2
4T45CSBIaq/Kpat3VlHqTxhIz8JxHrJ5dH4WFZAhNqC2ucs1+7GM6+qXZoLsyQuyMpqC8DNKEY15
9e0MzSHOBj9qeX9HSz8NhyWXcIf6/ufoiYzBphlfFXuFW71xvkkJ3AckhiODQfHEOzuiQuNjmL2z
ZmgntgjDTjrsIETedbuFGTPMMaGGmpc894kMtswoikkEiMfgk1jsA1zSPZ0R0EZ9xPl5PiLTVG9z
7/p30NRv3IC2kKSBHJhT+wPaUNt1weju/cGTP9iLhZ4u3mhiqkgS9+c0XS0aKSlZLj60PrVIT57u
H43a5L2SUOTTMaqze4Wn3R8wkaH3LPl3Y2qvPFOWKOb43DkJ7Hc9SWlEAZK1WdkTadBr25rnG44n
94zPH1+AnTxIzlq5OBeW79aNhIhJLHH6yufiqcbyN8fVHmX22RyLU4ySUhCoXE0rwcCvU7Gd3sTl
BPmCJxqWn9PoO+wpyvnRku0WbY2RUvP1SPfR8jI3LLpk3pS8G03lX0zYGSF3vZ1cxMCbZGQ56urd
e66L5ZJZqrj0FUJSO9wkGGkZZNs0lKlgaeCQIXVm0knsjfrBf9NzbSvhUG9kJn6YfFg4HZKLgeFs
Wcxyo/fmvs7llzHLBcPeMCO3TZ9lme1GLsD7gYhEWecf02LI0LX6cWu6pG7SZcamUg6nWYPeQ22k
YpFRm1sLC+XeopPAq3BDlA5h4yVVuymhVGp1t3cjMpbZBAouZU+wRdf8UAmwXjgJ98P6YvCIdLek
SY6dUxHjEYq3jPaOQ9gLZeeaSKUtzjSpb5tuCCLP8jT29/HZq8x3Girf/DZ9H1nksV0TlEV1BuJc
zOpc629rheQcV84zGE1A7tP8c5icfbWAa4973mVuZGHc3hCIDi3lEuzuuu80UTs5lZHq5FeaTC9Y
ucVmoMEq5F3+jKicH/3BlFt/7l4GVgW0J3jcR8San9bwa1o4EMIaeSzKJhnvvVUtkUjmTNhww9v2
Qck34VrTyZj0e+S+L2OQ+4HcxHkK3AsYNrYeo05myfCIX1I0ERV9pqKuEVwNA28Hq4XriMYLTynZ
HNUVvNBGL8LEzIwItM9nNVnuZqW83arAS3aAarZ0Dh24wmkbK2dBHC/O+MHDGp12EUak9KNf2Z+p
R1Y8Tlm+yPxhHhe6Y5zxuYD9G2GHBEVu4GTfTLHLZkm0O/4BiYsN1rOli+eOeCynLMQ5ElDtdpAP
grZOXKZav5Vw+iJvGWGZOUm9vr64IWrzV2dP2SZu66fanB7GSlPkZ1rbCJ2x7cNRXlsaKm4CZjDw
N/DslLiyFHf9OF1yJegaXTdy/bhQVCQ6qM95dubDXxIj0r2DXXX+QQX2iCMoaQ9ro8YZB2Dxxgv+
JsulCN3OJ+wrMG058fLbHnQcf2raM3AtN4xZKZ0MNsVpbbEKLvxoaXrWKj27ycfa2Rvleux7zfyA
ZEYAo72l/vSAKzA5eHTfsN3DiVzBO9gRE5yOyuYmRLgg8jnMkCDa321qsQhMXO2oqmA6YPfPmYdK
+TrVU4dpf/yqRpChWDfHpSnfrdjl4VG07UepaXwvWll3dc3S1TcdlhL9N0a++yavdrCG65tG5tWr
NijtUMNwnnuMJ7HmT0cp8DDZ8p1+jHYrSD0Y0psOgI6qN3byxCNMZbJXyk33B+l6vFLmWws44M2t
LagOvm+MF8e144dpCh4qTLDnJmlYZSt63w5KA5gw+fV0JjK03vt89akPHAsWZl12NjMSHRGGduo+
yY4E28kdulDonQbSSntJTZuaJOXdloAeoIftKl8r1vaIKB7L8cN03Ndce8UMMO0KlTevXKULlj5a
F+atpLq2pXLAXqbmtbetYueXJrf/lZuocouL6MewdOaX3Q03xgSpoksL95csveVUMNxsDYBpt7O0
FtjLoGYn2xefdTu+m+7wQ2sycqYrZbPAmhyEbFf711pZ1JQVY7MxgsdcxbAgag34M9Vf9o1w08Ns
d2CnKa1iAWgHN7SpOXym8R1YUh+2M2Q0ysysu9KYCZkAVLitctvkNNWgZBTEB1GcenJzU9OcpN6R
rdJG7bVuCnmc1mcO/XteubH8fnpM8xHbb5kTXpFe3Eazyf1tMymV8rI3wwcbuna3SpTQQUXzXVPs
cegDgUwoYzB/qjK3uGIudTup21ab8gM/CWtIp8wfFlAAr4E7OY8xp9WjomfxSej5wlXMDLYIf+V6
9uC6lGV/dqRp7hYL/S9sYnwba6ecc5aChy2rweWbaGikG0P/CDtQw9mx4OGzOVvAQZisLyaba5vf
lea5wJvzaIypOgllW2/CqXBH6xyz+EId5Du9bwyaneZcHEVFoC9XdRWNbiJ4+tFZUVFhIJrxmI+S
fq0UjvziTt250mxci2VV3g+GHoDEYRnJk50kWmvbTJzS9zXywhR8Haw8k7tcOMN5ss0XUjdz2M2Z
eYytfAn7bLGjRMjlQLI3i+oRMnjoDe50yVr6I+qFLCzaL790xr44BGPhnaraLsOr2TMtX4M0t3ax
MLV18nFuWaNAV6/0CREc+GShFGRFayn/F07C/8wNIcETnbDo/xh/uWm6f825+usb/GnA0P+2uiX0
f8Qr/rkcdP/mW55jsr2mZJLY/T8kXtZ0PSwZEEmO47jAqP7aDpr/D8jx3zFgXNlH/81yaBh4e65m
Dwsbwtrj9Y8ReiK6XqGZjRkRfkuPTZV3B3u+q1uil/7yyBPuOOVWvqPr7oPSgBlGFJZ/aczbTGPv
APXjJsjVczWZJ+768WWiK3SX8mwR1nzgUjWcjDlHUJiGWzOwAbgGe/bkx5RneU9C2u/JAPrJpjeH
m77nnxDuXeoB5+MmAubHi7uDXG6TAsf7bOTvxG/6nSXTl9gaXsHrPyQwJw5N61lcOkpO3vwDaW5t
LjEBsCMnHApu/fQmzMGNCHDJ52wosHvF4shF8KGjEjQyO7uJ1urG3ZLGz4iiyUWmpbaxbde5SWVx
HLE04WXKKNmZGmML4d4l18po6y/4EECIzV8cgxXW5c5EavHyM8TC9rnHBRmx2yJG4MUH/GfUaGaJ
OiUox1FmD2vlCRltIsCQ6UbXFe9Ga/vUM1X9spMaPuUMFE8YZ+MT+hzObFR3xiEbEbWFuQ7uCp8V
G4ethU1g1IGg2wXzFVFKrclfbLNJDmOW1s8+NuYfjHY0fWFX28Rei1dfX5ibKA1tav82yDRirKgU
T2VNW9BIT04kJsM9mh0c8US695RDPUHGecC/bq/Hc3nsxsCJ+gn2ppuZ1ovUJL18NRq3lyjGk/5c
Bmv7rugunij3muNvAz092P4UzjaNmL4gBV7dzo7Jwsu4a2K32IiGOa1TJ11rzoJtc+Q2GcvYJH0i
S/tkCR6YYIPuE4A2YYqcq1cq0rrgImidmAascMI62n0NfFGxZ8sDoDVefzEz0f8Yx0Cj4+dng6XH
ntTFEBo4hIkcaMV29cX2rdfWai7m4KVnuLbkwfvJuytVY6/+TKaZ7Gwh0O9LCRptNsh2xRKneKys
b33t7gESGdrCcm9aSsQ5++Fk0xn6At1nm7IxIYRa3rl5MITNOI/svyxvp2Vcq7xUv0OL3AWi6XeL
aTj0y07eDiRbge6tf1O1Sw2UBYPUO5hzwPqBOnYe79yQHD/dYgwsd6Jau2lntuU8Gj90rRpufUn8
wyj9Sz4MRDjQ7R0asbYEOpZjAycLbUr7lGaVfmtNrD0l68o3NY3nnm086pjlvlYwF8IqCSw2FsRd
ZjXFu5l6WXx9Oi0Dpbk2uqZUlta1ufP9/qAFI6xMn/YBtnjBic0MNRL4dvKXRDnZTx0rZ4Ru3xBJ
S8wyDjFcU0JBf/H8M5eQHelHD25oRdE/m2tj1bW8ylp7rKprpZUer/VW5tp0hXaMo3Ftvyp9J5KO
wy2O9eDGXQuylrUqy15Ls/jjJAcnrpPbvFnqB5MmZ2xWU8HnH+OteSm8tX9rgI33VlxbuWzNqF6I
LmOnGTv8lGzgaPBaFkWZF5a7O0MlBUz8tewL2DT7Ua0ytVOxloHNGZJAJHWuZm1SVi/TtTesdHRM
y45Tv8JR9+gbrhy23yC+EEbq1P0GZWQkZ3+s5Ic/+MmdY6r5zMLRpGM16aIiZtUb9m06iVvOiWVH
nWxqcaeFDhsuyuaWQ2voLyiJXRsCx13LgufB3Y9OkRxaOZOyp59u2QcG5SyN8szjyJy2nzSnYWlN
K16TDfHWcIYVdcv3xNMSdP1zQiMcnbu3MXefi4mxFIGnzMdHGVQYgLkn1Q+eWjN9apwsctP1+ANu
hvdgQMXalX49sjrQVo8dztPtrC/D724QzQUrGxXOhd8cy8zUT9iPIW4sS+W/5PgsXqveST7yhNqz
UTKXBSObm83QK9YEbW3oP7u6VD/47tAqErafI+M865R1DBnMQm1by9zS44Ixt1zd8iVOBPyANJ+w
68RRSoTZ/QJKg83UvFpOu9V92q8+VNLiMfylqz3VIFufh0KyrjY6KnTiq5U1Xl2tiH/p0Ws8vAq9
bfgK5KuxzAf/aoftV2dsWZHNi9TVMMvQjHmWFKz/woYcSy1GzOEyXo223tV0m+D44kG0enGba0QQ
9yLeErZjw0uSryHC9I9A4Zot5Khsfo1r3jC4Rg91oxW7SfLcPXprNlGTuXdrDzmBReOP8OI1yGhk
KOFhsuYb9QZCiKhUu9Wu8UeYZt338EcokoGXwheSkhKrxcalImij1ihlM/rGA59bcUjXoGVB4pJO
s+BIEH1CmsF0sPODLD4m5cgjiUs/huIUvYYCDnEPKcqjRHdp3I01Vt6NglZC6HWc93VSpKfFnszQ
1jvF0RqY28ya/bCHXaNCL2fOZS9bYIwcRAiiOMG+1dVvdeOJZ83KGNphlkW+WLRdMlbTjSW8/l2g
s1YA9HJOFV1Z8oYY0Nq7PtkPmNTMIz0yaj+3g/MziBPESi0mXFvHEH8tpV/YmzoX6PDVqRzh4OoY
3kNbmYhAKtZvRoAMN6yCDbZPqfZiTkOoiIjhuJli/7VyNPMZCzi6k6uxkzIXvzvWUs27bPaMd+TS
8gECRf3T8AfKnxBIKSTvq/cktQfsh72z66RRhPqQ0lUzjSyOXL9FnJS5eoFiD92H4XLnAQ7cOS7X
D/yII394Pd5NzrwfFo+GXsjEZLt8yXfmNAKr39Htsz7eco/dSTdZvGCEqxZY0LHN6g7KwQCkj3vV
lEcVXIPbgbXEM3t2BCDs3DsLVB6rlL52iJApKg6neoR0JLRIUmZ1NBc48l5ZSLZ+QXxkrpUHl13y
HsEWj0Js4lPKLP2nM/Co8uaYmC8O8j0ZPAxttSPnh5LiOfZ76xOm5+YWUfugPyIXaTsTdThyOZTU
dqq7m5iWLJK+SbqnPtDKtqMF4mmQwbs3i7Bjo3HuCsHJjj6IvYlwAQ+a3uUENLVrQAKCUUi2wd+A
Zas/uZGQtOZrsfbk9BUkFUYkIrWgWVojCUvFYRwWFSClvFXJlwQnwPqe45gnrs8vXs++U0a9X1EB
ran51zR26R+czf9ov/qfM8//mNJ6/F3V/8JO8df//ufIhMccDK5DtVzwJ8v37551g5HJNtxr1spl
avrLT+H9zTJpIQyCdbuyui3+mpjsv2FhN/mPIDgYdWDP/xsTk+X+k59CdwiP4djg+9DhTR3LP4F6
s3hiRdPKYcuKiUvbflqoq2QrVhGYPE16N994DnhzWnorHM3ZyM4y8qa4Kb/QR9ph45Y2xVpcB8GF
x1UJqyTMAwgBD13ipqzjWUFv9DmhMqxIZL6sbHczrQB7BwPOQBsjnpcVus90JD3jRsPzf2PqdfUY
LBbarcpVMoazsIYY8S6wXgk1r51aGD/J8NteQDkTvjUytCmpfQzeZKZ0v1RkYC1OqbazXJ+bfef+
bmS3/Ohdk76KzM5SN7RTqGRdPlWHXnSIAeLq3Sto97zt+FOxe18Yd3KDStBIWsn0Cv8qu23LfnnK
VN5lJ0Lv2mMwxzWm+TYvYh4qDCZwZuCqMRfJUUSVOZlPoDVbFi1kAR4LWkHBgbtxsve1tLBh1MAO
2BSqnl6KhlqjR1ZZ7h0+fHAMIhafARUqL5Txcib0aR+8UFyZRxrd9f2GX5/8raqakrDq0jY7jHmL
thnsEqM+vXToNLD1iXeJVkxB2AjT6vYVxjGPStneTQ41lJW3xSklAJNCG7tT5Y/TeGTjP34UvuUu
hwKBIipai5nB1utwkAIunDsbCxxL14gjbeV8bdgUtcSeg8Yj1Oa1+6oylB9KyWBbkanfI1YG7Bsn
RxwHe+ZmJuN0HCJ/8YgIlWZw5+RsPlm+zi+dW3AXAL3FZj8zgTZq3l7k1U8tU+4zDgJX2zug849a
HxfVprOVeoBSi8tuWNzXmNQZzpe02ONTB9zT24TAOAOx+Pmdbfd7psnmtpbT8tOfXBJuLmG7CJsk
RKuS/pSHIbOb1zYbewA0Ga1pg97wjGtlpVPk0rNLRZFuxQp988dOP/NEd6EiV212Tote4VEERbYn
AIKpXyjnBZNx42woprfPSgnmRFsMX4WF9C31JNJb5zbXASZxXa1gIhkO2+fatMcfZdU3L3peIVe4
4/xOxC79Daof6ecqGs3CH0NN00h7KXN5wSzwrNHDBKJqhVwTXq8fge3O4ZjSKZOjI4Lfosqa1kEk
Qp/m4kOtmuHYcr3YmVWiU65I8GBH2QnupnLuNTAXs0MvgQtIqgWyej/YevYwAfnf0k/WYlmp+/SY
BToZhbjigy0bVCO1ZA3RaCI694SqUsh61rwt8KyeIIF+aA6vpLea+9weX3CC3ZOgGBPdxlClOuVO
HxwHwdskmB2xbQN8wv2sv1dGjEXVbSdYRMMwv2ADkS907wVbDf8Jj71Yhxskhw6EIc2Jc1/qN/hu
i0h2sAhoCbrN4/yrH+nEnFmtnovKva3U0m3cqqdnW6t/T2QVGdbVrWZk/0XemfRGbqTd+q80ek+D
ZJAM8gK9yTlTU2ouaUOoSlWcx+D8678nsty3beNrX/huvTNgSJXKTJJvnPec53wz4Xtw2PZPsq4O
KbzIDfcm12KVImbqArqHCZcol1z3Ja/UTUHjMwO9kTzTU8GgFjIONFQeYJhMqJok23kyDOsOVw5+
/KCn3bFovVNZu8Ej4wVHG1sCQAhDtrNVPCMhpZQN0xWB14hfGNwblZecSrsJznDmwquevL655jTM
dVEryL0eAdt9Ylv0btIrurFJFe4niiliLrC5eicqcNfJxqUgCGHhpdClkCGgWv72GeWAMSH6lk5Z
WOJKdkcOhKZ0jxLaULG2sMkmu2LWM3g3tdkdCv0zsXQ6Bvua8MksnfFFdjlLNqzOKGj8de2yXrqO
fm8v1xFDAn6yuRlEwu6dEgX2jcNC2LzrdeHmpLs3HTEF6W3AmrJbc6szXydcNW+WDeAOAu0oATRX
2lo7seF48MqEfxcF2oOGpytDKXsKgq09ltUNTvL4CAcsR2UA7MgmsaVTwUt0Y2nlcdpf12M3vLmZ
HS0rb3HGq6WwplWsaiqznWbBt4RnJDtOumI10mWrJncWTHk0HO37iUDFwYqq3ts6vMxkS/9ToLac
W0V06/DJdLtR93FRuwaJBdYHiauf3ebOpegcwAVLJsq9vehVYnZpDlGgi9GTS0k6w65uTA8BtFh6
3uUwv4tC2dKs3pAzY7V6cX/+HeYxLKX/PUB4Q7/ix5L8rxnCXwcyfv7XgcxiIHMFoQVf1/3qsetX
CdsH9QpHk8w64XmPBP1/BjL3F5d9Nxh8xxP6x36Tmte1QrDqTYYy1/+r3UEQ+X9vcIVfbDETuiAe
bZNmlj8OZGEos7GJsRqicFmbIWm6Lef3Yav1Di63JvqSiUIeeBiyTjbn2fuwSc94J7I+fXPMPT+/
sQrp/nCKWj7XHv6zlPb3/ai75G2TVnkrEfUXSmA9MsGRvRFOZiEGxkb4vbuU0mMGp6C+SVLuZ0aW
Ce+0XErsEVGbH9LInPKNyCEUuyS2OOslJeydlA6eJ68MW1L4y0IpTuk9XAyQlQ8kkiNHWZGZt6lM
F9ninyyVZgdvjGnMbKrpvq7DcThZYx0BHKzw23eBt4w7GSp5Lx2P45lgXHKuijAkF43+bTvHxeRJ
wdGVHi9g28ULQHb/quDOB1Dl0v01NKkZXcetDL/HqCtfPJ3c8+VQfr0EnStvlN8a8BjrznZbcWqX
UhxDJtVb2nu9Pd3E+BftwdGjKTex+6brnPs5DvsnT7ekEV40CxxnCbynrOmXcx9zkNqgdOtYpBMG
P+CgFKx37aHvN40nhgdZaMKuWTjihnawhorRWWVvlLxO86ZWaUrLfW8Ht5OpG+biwXnm0yoh6eoq
Ot8tWzbAGZAg+Nu8ThoM1gjsBKHpEKbVriGu7R5ab0KoSC9FeM00Y4yru2iA20WnaXfC293fDboq
FLpib+/DqpJflS8d2oTmrp+v0kTSSUpahnupeykspTmkDahZ8hcy3mnmfsBvzPd9lVjpNbwp4d6O
rRdrGZM69O3gz927LO3we10T2D6Ediev0lqz9kWqX78/pZjZ/Bjjr2j5XmCbfHPwy7yOZO6/xeix
75n0OiTeeCpffdALO1I5ig7etHlqESf27Zxi1TFspKsW6AmHXBMptZ5tGxCBZhLkFzxBH3uPxohr
biJv+tK2hXPltnGf7KtgSNTGAXNQa96BfUEfFJqCEEees6UX27+yNSNhIo0qmA41OiHRFIWitbuP
5IJW6DVlQeR7+L3LOdLwBYmn8D5OYkZ8E9ftNqASddzYXFV4IxKr2NIKUu4hE3M+GRTSicGGfjvz
hEg5DkCBSuzKp5+xaapP/8KHiC6sCH65twN52ROFy88Va+O9quVjklRnbC/ZWmBAhAMNfCLUGIq2
d7q7JcQWzrhSIJleiBVFVRQvMaIFO1yNtODhmr9gaTZu6LCDeJHVNFt3vAUy9c33XIMxBEyzG2TX
fId3NTpnGqDhapQGDyz/FGq8Bnhb89W5MDfqIeaupEEcOUQOAFc0jgdtdweiNT+RE+UNmTTEA/5Y
cZ/HI0cLZ+r8ly5r/SMv3ngbK9QxLYhS7zVA0EUkLQw9XsV2obVTLaMOBfI3ElP0YQyAG2BD+C+Z
aUBnzbQIC4iyOoYxJ9lGS7STFmsjLduqohc7fjlaLg4alEy1yHvQcMPDWBnii3fRf+k7LO/VRRUG
1DY8MniiFYd2mN/0WkCmXCWyHfWcXrTlmD7zCscykvNo2dF51DI0jg/GYEmjZKhF6mzOzT3l5xIi
Q62iA+g0bw9QF2V7SDkSri0teJdm2p/BkyGOO1WRiPXgGMtOGcVQM7tqzdzV8jlpJZRrLalLLa5n
4PQ+0ovi3mrxHS4W75KnJXmo/6jzvhbq/zajA0/4/z46rAE/foCQjz/yf3yUn/9YEVnokvmj/dNp
gl/5f6cJRzjMYmCcwBJceDq/jhPBL65pmuAFgDk6tqtFHB40XfyvfwrdUui7tM/QsOKZbFX/o+9Y
v1AUQ1qGM5tvU177l/Iyjl67/7bphhcGndJnlgCZwKsI/qDvdKEzV4ZZyI2dUMmXpl0D/d19riVm
WbCW9S6lzWI1e066IazAIkTPxvU0BKtucH+Qx+L7S40cEHko4PtBEkJkfBd7C/0ZKhqisz3bKAiD
VW5MUAf7uPVeiK/h44p7e8OXdISsjAxQOUGzQtn2H4HOiGNrtc1qjgl9NeQNyTd7ag1rnFD1oDhW
O/5mkMb9yGEb3dvbgP3jG04SonodrfSba7bXcSFYUdSz3JgtjBcTnPgGgN74ZkwmkoBiebHKyTO8
OK3fP9meaDecmgFfVc1WeuV47kCMbJiv6K2xCo81rI0UUo5uc04oOzpVTsZJ3o7TkyCCTDym6TdE
Zpwbh34NjnsJxwtpF9cx+/G9auR1BEZmndao9OShikNfAjloFDAbvELiKh/JC0F6Vty0zHJfyTF8
IuTqrMGztBua5OCKeIb5WuKqvh47XgqJeU76TRcdirb/BE7E2+myLBk97vIhEcmtC44TTyz3dNOH
j8f9LLte8q7BrIToHpoGJMIe5w2eefNkk7t58TpZgqYckpMCA3acEy/K1jU7xbVoPfAyaZycwkX2
7yhC2VWTY0hbTS0fAGoC64/EduKP0W3R7swm/khtsC+WWrLxWJY6MYg52sHkaAUYfCeJcVlNEaR6
vEp3TVeJO5jmPYT+GDkvSlzzu3A5/TakaK8AWqzzuvlG4uYZF+6LYffFbQkB8iATGd7hzk03CfvK
w5z3YOa6PH32uL3jyvAoWFwmErYSB1jf1OKpL21x1zujYkZpeUfiAf2snhqWGmVosJHGnVizWV+Z
LR5OISZGr7j9bJyW3MiYWKtlzqlBDm1vRUCUjGVkWqhHtXwizChuRZ0cbBm+FqLCniwrf9OPmbsa
wBftWS4hezioNfCWxuOkyrsKp7ReV88HWcuRnDFjS2OhXy0+uga19Jpm6H2OKEKbptVNwmTdITzY
Xr2Huifv6tQp9mmkjM28YMufcCn/nOkZ4HYD8dWDalM0Od8G1T9k042XJ0org/XaTMIf/Ri19y3b
CESnIRn25LTkoQvmJ1vGL94QXsHWPsbjdMQmwQPezm7CtA/WPpFszKIKzH5PXiIIxnVbz2dngJWM
ww7SFbU2wwrGAI4/c95NPYfjMFAV/n/jpBwVb1UJ7XyZLLfa5qlIviy2VyBwIMi5McOWmhLGQd4w
+dZOECoqUsU7r2DKqNp5us06w76DYl/cJKA3HnJBkAQso9pbrFs3BSeLDQab6iC94qqcKpSBVDT8
4QhTyIRNkj8T50VQyTDhFrC8b2PDg/bj2tUXEQJt5/aGtuitRkwR72WR62XbwhPdIaR6QK1M33BB
nMC6hlsSTeahTueHocEViaS3EXAEHyGXPaTL8OiNAd/iusj5+533Zlb9VjYGmi/Kx15W4dq2s+zo
a0PBYlPDOSCw+0x+s3Ur+5BTTJ96274K8RPo+u4uS6tbMzWzz6gT+RPpk2/mEhEaaQafRF4nzK09
T/YPuqDb+4z0FQ2m4OBr2E3PaLHuJrTMT6ORQKMNJK+ZCi9Uavy+HaCBHjtm3063kSzSDegu7mK+
JB8ZLk19Tf9od0pGMuY4SEys/KGdgynVvUgx69ItiKv0CtFo1UEwqwCKAZBKXb76jm7SxHH0Q/GM
RAOV5TMRw/S85E1/GNE577qS+h4TI+8an3/QssZyp6/E9tQLLibo3KJHeA+5RW6SeA53rSpf+I9x
my95uSYxNW9FWrirwuBy4bfC9Z1JzOO2WrbYV89Rzja8mgmegXzcNrGzE17LVW5x+xVB014thuy3
oaeo2g1SHi4O144SBLy9sHkva+IbRj9/b30pnmki4LoczOHoDdx6kLKWLXBVzoNjnHDdkolotyXm
iy1VeDbRPFgpET0X353cExs/CeK7cRi9H7PQdhavdhjNaty2pIGwpjjzjR+P/pUXM7DHPqyDKdXV
7LiVNkaW7gXJyrwrD800NrSr2eF43RSO8ahksDwRtQL2MpGdeCytQYCkGNLHSVSIfCatVzik791M
0duU1MOHrsHdkXJ9TqfSe0o7JOwlbz363PzuzkiNdJ33OoXey7dUsdLPkPIO+IeX9YUqJwdApKkq
p6NFhUqGWM6Stjq5OG23guTZJyboYR1Q4X2juunWq9L5lsMuT/UWgkTVQ6zkrSqhxUdJna/t0KUI
ZEBULtp24BL3/ZWIgDIgT9y4cjJfm6nMdLSd5041ZdewbbJtNVgdvU2wtk4WycJj7+f+GnzZVO1I
GKWbaYS5Rfw1YsM+fsJayq47x7QwkOpF7d9lArb/tEHpMbn0nP4cfvP+W/z/8oPqX/dz+vUQv4QN
6THA+alHWnSxn9Ov6/+CgEY/pYeIRZ78t0Xc1i+O77nMty6DrrA1nfLfxacu2hxBccwauo6JvtS/
st1kKP/t7EvbtxCwuCB+YVsWNIXz/3/TXdkXRJLMqae2xGLFpiUtZ20uRndcVFz//HJ8m/5P9L3C
8jxHVfmPsi8wEpWd+tc/3T/WNwlf2Py9jmX5vBn4PP8A/1LtqEBYxdV2cLzpscRHs2wckM+3s9nN
Yjtg2fTWRTGk4L9YILUPib2ocSeWsi6ug2FUzWkO+y9xmo8bRufsLm+pjIwGMXGaZ6u4qgf5JciM
b14x+WfQNCWLlCruHvXy8aP222xvddZwzA1lnxIHKIDRsSQTwjpiIuTHR0J33I2uyqy6RsJZL8z/
aFUZynNqteugEd8zSIZPvFnDu9EUclcHwNRpbOjWBbydHSEr4+h5xXgeaZuRK9ifDMJV85gQWLlv
l16zv7ttEgZfEwZouBvGSqnMXw0Tyl7XnRsO4o09HYTZ5fd+B2q26oBoLVbcRldAFqcfsYskt3LR
lk6pSUlfyeZt61P5dN0G2hsV9nyQ1ZCSUiZgE1QYNIxmZgMxZhYxCtKCpSQntSqzNCFsFCbOkRYH
PyM6GBDNmQuzI4MzMU8FI92EkLNdQmqSXHwYg7NXyrvDl7kcFlSQcTUaFgaipp/6N7saboBtc0AQ
s3perE+wL/l9BwBrxRD5rVv8VK83O0BkteZZUOijNoVZR48EoZo+lLtU4IkKQmPZdwhImO6TeiWb
qs4Js9VfsUp6EIn8atlGJLajbZNb9VE4sTzNOhBYigLBdixJPtld+YTrJcb7YVCMF2TjQ5vMj01n
sIzDjgnJifGAlp5W3CrwX4XygIxm2XDfyGl44vZsipVfmjyIStJ/a3j16y4LwRqQXhEP9dDhQfXE
/EOq8kk09tb1O92NRIKhevLdJVjBmhzeloGKPuVhTmtMbIhFfE0AiEOkfT3aznioeM4eZDhML3Eu
ABHPFYqJK4jjwPnPl1NfWfum/2otRvZEQw+BN0v549qIY/Hd7QCIdy1jFi+PuEiIZuI7RE0avNiG
rL50NKCb3birK83zIVZ7SGPIgS9d1ZUN/d70DLiRcfDDrNt2rtMeBqpMtu6iPiF0PWBY9MW1WRRE
m1PCINgQqU5bF9ECHKAICl77GG58GU8H0yGe5yexK1+FgKKCrbAxX/DSyi9jPLowiJRvpWtlEmQc
GrbVvlV9BExwtK0QGXLtMVtlk4u/MhqeI0NCVULgZnbupvWoOj4Rua3Tcli1rSQXa+fZuQAaNZ/o
T+HaWDUChQ0ITo6M7S+RIw8KMyGTia8Amg9xX4/fo4UZ9z5TXXg15c09RHAHu4CctXwJRUnOVhCe
ZNLhk6DRrHkT9MJxZqPwKp48FADqdmnzLRuFEy2exhOLR6zaDf6LYTvnEAXDKHdavNGD3I6cMm5E
RS6zRTo9oOVu4tj+EphM023nTa9tkFACxhmYJ8AU7vNq/K5RaZJD1ipBV6j30uHmtEoDHf3JYpf6
AxPj1a6ObfHEnJ/ghpdbqezkC2vXgvdWTYLcV0g+N80f2zg8ifSr6GjGhcuwckbx6cbXTjoP9+2M
MTq38Sk73XoiusK4EBWvbfndWczTDOVokxAjqbkBFe3BwHj4aBZZsyZlx+hvKVSR9LZvHlwHT6e1
BN9TOSR0CPgU88bGKXBNKMZRiQF5H6REAUlgNvx/vpnLMeoWgiwBB5phxButKsXCkAbMptbaRE4f
kZHnPb4afd3Gt7HFhVj3+GBL27riIAVpCLArzpLlW+UYNy17Bfw4OBP6q5aZca36+94l0eMiqr7V
SbkNmwTe+Iwz3Bf08vRoSTSO2ui5k0ukVfeZccM/sTbnTMsUm37J8/Rg6BuIMj3kmaHrcow79kmV
CoOPlI3H3gOU92fqWd38HRiYW/CQKIutoh3w6LUWhncv84u14Q1DxtU9WKnKT6nXuNWwS6TFqb/J
nLk+tmQptrUE+LMhapDfRtVCfhjQnhrXI5rIbadsthYda958W4MKpnwNb062rhyOSTf4TGV8B+ML
5CxpRmq0Djm2kGdGfgzorZGqdkspAhR6e8b/tpqUnTqciafodozxg2xKN46X3WAqmBCRm2GXQf5J
CpqSdOdtKGdUEHsZSqrcuGxguKXJFGw5wWRX3IznkaJXZZ4KhZK8q63YaPn2BEmHTF/7fHeXORP7
PssiARhjQVwAjYIx1nZM48PwB9yNNWnFR8Ox8Rk0BuratsFzqW67YGijfYO/0bpzkCGWq4WcQ/gS
ygK8g+pyrg/Sakv1kiQm5DpQaMIkQlU6bOVLL76r4TxZmx4cKJHWNvP7Y07oLD4HhbvkB6qV63OL
T5Q92gCZdyMWntvYSiY/OMvCLYrbydftgNOlKdAe21q9Qp6gR5CotKnWVH2PI/2CI5um4dI7mAQG
xh5md+8uzUQMcgt6GI0yl9rChQ3Ie5ZDZ9kPUSlhUo9dhWCEjeVr4rrtLY9BmhCLWfrvcJ3dzwDt
kZmhM+YhuFadhKvmWUa6Meuu+j4zVajtsPjGuEuxAn+b7Fx0ZyNoJJSx0enY/YfAstdxa1rJxiKk
x0VYI34/qKGdOirV4oFdlDvmIdWUnSPO1aWMkuYvdmyZY47NZpm5vLaoUqV1HTl4OAHbhdFHiblc
bGWiIgQnSsfJc9apfMfY7/2gPAfwF5kCNhZBAaHBdX21V7hfedxiUvg0Yrhx3NOD8r20oqZ/bENr
Ch884nDvHdJ8vHMtxQa0s2Ls6aSNlbkdPbI8LPec+MZhOI0YTAlJs8sU8efou0nI5iUvH4K+NnaN
0zOM8Jfj6qztzr4dhKGuRpMUADBAzznbdVl86c3ZiA+jxa269pPI2HA2DwO6BWrq3RpFb47G9mDx
8wRfv52SaFjrRRi9xkKHIfeNQvEYFgBnTHhKzhTdxX5L10ZLB0B2CGDGwwtrosTA4mWE9s4yOpo3
GiFrmowdOgrJOZFm3bcVuA8YKSKmaqu1XWKi3WAfmMbjLyLiKYYy6UGyBeRMCQZfk+YuM7rwI44L
Nzj5bD3DdePeZOh1Ad6orzSJjt9ary1ZZ9sMkphTyKXiPM+PQZGTSYUngonChgkP5GAp8MhXdUT3
ZJE2JFhGo7UOnrD6e3+cc+fg9eDhsaZ44tnusfOdVTsZ4eeAyBuuisRByv5buC5wrAAj+rPVyfsH
nIP/HSoGPuzXH/95UHToKhC2AKKDz1TarD3+fVB05C8a2+zqzlsMqBwH/7Mmkb/YxJUkHg3heVSP
/MZ1oQ0ZlB78/9lg8bL+/qhIY5hp4apnXcPxjaOnXqP85qiIy4seE0IKW5cDYrAZ2hIT2YSBkMcB
ap4my/tZRSYa7xw77gt6PgDCA788VxMjRJiMz3Ge5Q9zUkwK3iWrDrgO0Ck4qYDmXEFMX647Vr7p
Np274Hrw8L66qHzPIqXHmwg6bgdXzcHZ7CJ/XvkF7ndp4LuMZhdhywd7yixp4gOBnxCE1MEU7Okz
hretp/qMMpQBp6YV9qmBIX5pXBLXGNbWOZZyyOXEYW6LHGRV5nfGF3AIXsVyIOQ2rEb5Fk6crNcg
7qVJCD0BR+Mk2deWQlJ7jfm2IlgejQ7tWRynwzUqY1IcAgqLn+yhm64dsFbvQ9nMn62dldel3+Nb
Tx1JLpFKdJfABvWcrtm9qHGK/U3qxDDJOCClXy1lGmQXAkMQ7bbyW5C+Dr2Ps5/d41DJeTK0TXCi
QKJXK2nGzl2TTv4hIXGoOBJI5Cs0OdvYNJ3tvdrNPD+gIsXnNhplTBNpjkM+mtrxOaFxdsPiPfgx
Y6e9cqdha0V5uXJKQRbcCyaMLHHl3UZBDWxjCN1DkSD7Kd7dJ8FbsfHMWb1YAIPWjbKnmygR8UcI
oeCBfk6ariyoQaq07eYmYZwhk52EMe042IVIEaJ/E4qPTzV1FrtOCjPnudFre83SEUG0uuiUqpiR
LvbczZjBIPGylI5GYkYrrDclnBmQEgRjwEc7rWMdHDtvrvkQyo8gb4czkFPnlqD/kRdFUi0klnHr
jnNPJ7EhFn/n4Zp4a53efRgYQoeV4vaYrSUBWvhV3kiWiYPtqEg1Zv7VUMWVv4ozExgpPYT0H2Be
sTYJtkmQDGlX7xjj0ye6PksbRwNpAwpfwzs1psY+yQhVyBzeaCXn9gvDgAFCpAKJ5Zf8uVGaEFR3
OYOsYiogfJrr5+oWYqYTbmd7UMYh9+r+pndtnIVGPoLlHGWNmEdeVV2B7MexcEG3OReMG2F8kG7Z
Be/mXVBv9QX7NmoCHK8EGNxyAcMlmhGXQoyI8VKI4MOtkuY+1jQ59gmA5RqZR99zTZsbjeDrlBoP
g+bQNaYlr9EfqwJxP4XUisqNRh8URntfmUvwWhOgKMHDshDlINwa1YZWNOOV7tMCpnAfLj3yi62u
sYkAqyi7xvq0WODxeF7a/egszVnEnsQbvbAWvCYmlN+PZZntBya4ZF1lbvsowh4OmNvwGc0lzZdw
7BqCe8rnvLrgJjeupCkKJhIz2oUxAvi2xqS0Fo1BB3HqT3zzEHLy81hVnAx46joo1wzzbFlMkF8M
y+PennOs6Coa22VjsjPobyBGm9d5R5QtvTRlGBFND9KGNmRemjT+Drrq5fnGA+m/OwvuIbMnf/p4
5Md/dRGYv8AHYS0sSWCgVlr/eTyio9qOdMFxkm3+WfLzbxcBkXuSCDwGf9b1eL97PBINAcbpoV3Z
F1fCX0iJuJZWSn+XqwfK6vtAP/mVCJyYEn73ePQme2IdGKfbKAjVjeUPbwCBFD42v9xRPBDuM+y+
26ScE6QoVe7pWBs3ecVe2DCRooq2gf7s4BqSiwJdprTlgPzrGoteSVUXsOmu4Rplv/W9zgfFfVc8
hxMBkHAk6TFIazmzQRzOQ5nKT5JubPlsvGVjSo+KP9S1u4nBZez7KARuUY7RoddWNLdzvGBVU839
4AD+CzYOlFCxxu6bXY9jR4dHZEwJdIkmhiXaewpYpEt2kHhuum77kdM3ceLtONNNHCDqPC9zqQXH
2XPXZhWSfYgor7ytQ54tRB79TdtUR86xie6SVntWIOmN1RvcZKMAMPg0+FiL8VSXU94l566uixci
bsGhs4mG9fy1pEnVHuqLf5h1wrxiHf/a2cH7rJz5AVend101QhxrNQry+saLmgJ2XCF3mv2ETYl9
fWV+tdOkOpW6ph3PqjuvQ6UNFlZMdxCvvc3POLcBlEeds1d0ZtM11/hnbtAxpQqFA+tXhtFubP03
FcP+oNX9Kwu0dFuV2cChBxqdxRlklWD42yRG8Y5xoWKisQZqCqGBZINqKKWX8XrkRrQqgNiucTX3
Gwgr5h1kiWJVgNBGoilZFrp3jD1v1CwzaQkzBvLYCUSaoTF3psGdcRmtZzIIMCJF/dHR/0wOwB22
+utIf0Sh1q6crwuEslPXUKs2N1GwRn+hkrTNjklYuoelFue0728LAcwlKvRBZp5eQGi239uoRc6O
u/uynkhsou7sspYTCa1tcmVSZrPhJDIC5qHWycEe5wcq54SsYKtlwc4bIv8LvfEpG+SmOLDELI+p
ARvVz6AjwV3vvrrhuEuAdm08ugvWxTwWG8bPYUOsy9q0GFB3adf7RxXnITC4OQ0++RYB7LPTg5+E
FhPRFL8gJADgK7Pb0qIs0He6SdPeoq2CZb71Jq9Yl5QKAxjs+nvlBvnjvDTLVZib5rl15HtXcd6a
zbI89c4Cq4eH97YyjYiEUp1vjQoJzTQMWp8RsgYQqNtRTcMDVjLAbJy7j3aRy03rVnJncz7amSBH
dQyZ41bmFbej4JphnRMfjBQ6jyQ/sHJ8jG7ewtolykVyZ4xjuhkI/KKBVt0N/lf/kSK58BCHoApt
wEJUVc3FNTzu6AHuz3QVWOCUAnh+0Ype95j0q8R05MhriLFscWzziULFh4p8CABFEhWUp+NnQJwq
jbQ8BuRRD6kz1hiQUIB9NejjbbLzZY/KqlgaiHLYAdzekZC4GmrzvrXVQRpczWAW74Os1VErXhlR
/5XXz/mBy4UOJyJImwh+E/d81Jyg6DcBatYqo0z+1eeMfwwo+lp7ueIN9UL/UAYOAVNGqhXzzK5i
k7+LTDi0Q/jBW7W3puXGpTd6tRTle2tP74Mgn5M1pbErLas5LLZD4twiwoJPhrojNy8A0ZYOwbZy
nZnitHjBWadE+UKRQO7Obm8dDbvswXirJ6eVH6Sy6BITHUkna74jfPdQsqJZJy3hoEYNhLxT/IZ+
yifYWFN3NweNfQPHmCHff8eKA+tY6Cql+RglbI7ZGoHMZfagC/UA1SMkCTEgi0wQ9RLZkHzHotCr
OX6PjA4CRgK6aYMS1ZyBGzbw7mtBOjd17zAa9d+8CX8IuwRBUIMLLY/pCJAa+bwKcuHvWjvSFlbF
a5F+c5WYVIrY+qgwgBxF0sj729RYQA+MVvVShBON5kXjBwdJZHxjMKlsnFLdqSp+VPrPDbka9wtm
lg2DEgXdi80NM+s8zTe8XTr3YeJzJhRb/FjmGlsJoxCRQr4JuDswT4f1Ywu/8tOZBmPPUBvu3Jgt
CGE1cfT1IShQtXriTtmBlcTiQtp5OAmZpvt8qJJHZ6EpOQhC7zb1a7jwbEzv+MexyUOribY9AOCj
6uL0Y+5mLvpxyr7W+gjWBcYbtTs/So8JfB1cTmitPqwNnJSvVe9ZjzwA7Ad2VegZPhX2uT7fkVF4
SzjLnjjEEgaaY5piyipmpCbfGVxbsA1Rg0V5l2dQndezcvcNSu5m0cfHCFvDyuuiOSM5rH0sxkgA
ioKx7rBA+TxzSmY0jzEFr5G3/FMFXGqvf0VqVSk23jQ4DvTurKU+vSZ94X7QTQxFNHJemxyMJ3u5
r/bA3T4xqA5yLidf15rDI/9kuR71mTjTp+P+clAe9Zm5Zwm0beq4eoi9ybwp8AGcJBr3x+yig67Z
bnk7Co0kt+CENiLiWYjmTvZQVWBIKdLVdXwL6AWOZPOaysrsw0HwvGpr0d4PtZtsvUzRPdzw+XQc
ZJn9WyKYUSlwJg4ohkFcT2rLOwKPhtAm6aiULqWIr6oVjNUx6mvnWmb1EzyWEvN1eY6CXQCBrIhF
fKBVF+QJIVjugTAKj22e05WUYICIiVuuK/xadJB24bapaBwI7OYTB1B1K4LU3cKTLjaRCuJXOhXU
VRNT39CbA90vjjPdBqFwbgaYxHcTfoprxzXiK3PwHwG0UZLN4+jBu7TvmRNPOHZujbbP/10Gd/mn
utZV337+9EScW1oOy2/fmdPLLunm4+e//vlT2tK/4Vdpy/8FW63lmzZw+9/XcCJSubhupTSRt35P
zPd+IWWE/4G4j/0rLutXD4RwKDnzKLl0MAjbUgrnr3ggyCD9cXa/1HA62B8cXopjc0r4rbQlab3F
c+BTPgOCdL6CK0kvc7XYxZ5jyLyX9ax7m2ObDudMyuxAP9m47zKWmROr7JOIqH3uIbkj71qCVk3j
c9bl0BhLi1uTvuiY73i1gujDKK7rpL1I0Cw9lQI1ZRDxHRbc+i4ruIBWxdD4PyDQGp+ElVAFJGXV
ja6t5j5AgzWsLOtu1LXWxdx1Oltpi5vBbsRdcWnANjDwHcq+9TchNORDYjgLiJ9swDCoS7Qr2kbX
VZBY7coX6fhKVmC47c2Rx12SAFjwI5q4u9mZd4MT5ewyL1XdRmAwVvoTB2HwQPXHcqn1jin4DlWL
41B3fgeX+u+4iKgu8SJqn1fx7Ov7XkKekp90/VVqsK4ZA25+9MPzdq/ATbrbDC7mh9D9jEVPkxfJ
sum+912jPAzgMYkc0utY6IZHlwfFBBo4J9+kGyAb3QVJrzDrbXjM7qN5KYtk98yBx/N0iaSp+yRb
IFYPfTdQMgmjqH3zdfMk+3LxBrnIgTd7qabMPW85d73j3Cd+DbpirEzeRy/PH+iZhMQ6XGouE0Yg
mFcALDQ7G4PHMXcb86276ALUtKERmBe9oLxoB5WWEaQWFAAxoi1QCIfOkGnJASC2AzQLmjnrfK1J
WBmkVWwxBcvRYjT+h7wzW25bObfwq+QF4AIaaAyXhwRJURIlUYNl+wZlSzbmqTHj6c/X9E6O45Od
VG6Tm1TtStmiRRL99/rX+taNn7LPqi9KxnpRNYJGAssPcrYNdV10T5ld68ZYLYZgSC3OBZ7M/pbW
JO4EsxZOoMrqfmvElFrLKsNFYYGx2d9OF90lu2gw5ToYr/1PZeai0mB9Q7FptHgTaRlHXhQddVF3
EHmrkrAqog+TDV2supWgyj0AwMGlrCCdVHTltBV9lxmy252ic9q8oS6VkoPgUniQXsoP5KUIIdCd
CIRd8k+p7knAqeP8aC7lCanhiheRVul47CIls7D2C7YvfNuQbG36FzLdxGDoTobsUs9QjJa6H6UJ
MsaC4uWAffbw90YviSMRUsWl6IHXTVRpvBRA9FzKWN7oWoiYdl11oNcuucK73zx0ukGCfw4yXoB/
zrS4GQR2kJzykXOa+4D9ntfc+bxLJcV8qaeoMqs/OdaUwicGAIvSvCbxe3WptcCH0LxHaWXfcK37
nIE9IGRED0YvRn9mjQQuh6rO4MGomvVhrGNcJv2lSAMEjUeit3SeffTKgxvQuOHUJMRwr5hiU/si
hn3q7NIca9SGglC9iAcZA7OTlXUvhgOjvdjPdtfu6sCFEJqnKxJttcByi7vsYFXGDy4J6Z20FyA3
hguHOMWUvQ36ztzOEezooB2/KOjadhmHnlkzKYxGdQ/DCWatbNjem9Q8fe+dUtzArQ0O1tA0D3Y8
YBtd+KfwbIzzM8MlSoRrmqHbeQy+cewQuhzqcv4hyqk5IBdXeHVppu+oEXY3JRf4oLq1syi9bbDa
PyYRW8vJVFwOuJXfdrKGzdJ3frIV+Dg3IAPQY5XjPhJV8HmfZHECf/PmAbogRATvvCRddXT7vn+Y
RxWgkxfRV46slJ2CE8fhsDrOaS3FdC3oe/icNtZw06+l+zrjzH2lr5pLQ+0zXINazh4LNSVni2UH
9xvl7xwaAUNCEDbqdSNuQaRlDL5tunfqTjxh6gEegzyzYZ3gvDS+mE46EUMoEnj5i+kN3tnvNIg4
VuarWp32zrG89MnPIgChq8goCzdrslnUr6/qBFyJPkPfp1vCqKIUD7zTf1xXhWq8UOPxBnSqthmv
dc9sgT1hZzUoTTfROt2vOOwxxCyz5FyYNXRHX8C7sf+spMvvnhw7DpqodammmAJQeQk3jBSfPy25
eoOcVqXBjiIBNldNFrz5YMjsLQme+ZATuRux1w8JLIWihd6I13TYFpYd8buQhnsibP6Gc47s6X/N
gMUU8ufK6LH4Wv7ln8xW/OG/zVYmcV0HuJjl+hQVMXX9ka6SH+gBksJka3hJUCFJ/lUX1T1FniV8
x/EZdi8bxb/OVuID0SFpwdVxiFjz//87sxUJqt9nK1g8AYsSk1Q4Gu3vha+ptZSstZc1xDxur2+A
rHC55bBw8Ud5yfKNrU+8S+iheRWxbG6wyFApsor6tMr+i+v68n7IG+eBdPk2oTpuV8VJ88Jgf495
7MZT6FaNO4+vjmdP+HwieezNoLoaZu+uy8WLJ8vmIafa9sap2MHH9IESvbaGN1bgdM6mbY5vyB3C
wlPfWPXZzHpx+8gDlWY6BJ/ntBK3SfQKjbs/BsG6n2lXhgfM9w6h4MiNcb7jQ97vfbtIeQKZ9xW4
5GiKTtgSSRYnV27qNM+BgNKJFp3uCWnttOVsnwVVd4gqRbEn0H6LKa1IqT2s2dUjNqGwrRU5WGN4
cap0ZztzKAS13p7kuaEs3CkWGqDd3o+RdTtG9YBJn2a5zQS5zBbqKhm8N6fmzmvRY0MSBz7iNKxb
p0idDSzie9o7QmHQmaisM9CVajP08pxrwhWRbO5czABFGFNiecS6wuTSOAv7mqox4rdC07JKoDH9
1msgM6IBM89prhYNqMsduium9ote3WoC16hZXBGxK848Dejy28A4LBds13xBeHUXnBcAEvOGJAuc
ScImXxpfs7+cmTCvoYFgJBPoXgC+ceGERX3rAaUEHlbEYMTycSxC/ye90qIXtdbAsQTfSrmxNIbM
1z73QOD57zWkbNW4MhokbX7HIMzKvOppiQJrRk1Kd2AAgPxBP+Gx0/izIOX+P7Skr/ib5M65cNLw
lGLy0fC0UWPUKg1UQ1ynBMpa47ukGLjNW/ZhvRDYDPz9qHSeBrMlAO+aC63N0eA2uhphuBkEhrfZ
bL4w+kb7OBXj3tXgNxwuAQvTQNKEABaukf1HhB7mlcJe3K114ccZuL+2M1P8PknAy3HglJ9xsc7b
RK4GxHAAT50G0rlrIz7XGlLHslMdPQ2uK+wVhl2hcXZl1gWv44Vxx3GCuAX2bkhba6O4zd/i9DRv
Ef3dLc6UT70dnfEitzvUpPJa4vQ+6W//yXdomjGInu3JPmeQ4H35Jc6g8DmEsY6g1Z0zAmW6Xydo
fSt1EozeRJIg/zZe93lKAVJ5DYw/aH5dyCmYHEtNAJSaBejTiHlyUviAEDSLO1czA/1M8DVJZ6Ji
RpnZOxalEP80ZxCXeXJNYHghnAOFsFG9dZ0Qadw27eohXWpeoeu2C3ljDTGkpc++CjTZ0Jitam8K
jTvk6hYcwUl4RlhWVv6WZnnjbjLTjR+UYKNjxr15RRY6HgGeN/gacp/Yi2/p1qiMQNS59saV26ND
eN0qv/lT517NvvuDIOK0gbTE4pkYtBWWWLvu6UOB+QSdkjN7rWaQXbKjTHXOxOhtRuEWHxvJlwIW
TrMHmZTvgjbxqcmplvbKrfFNzsTv5LbxCvOVUk5gAl1NCJVmJ6JJVVPhUI/p+HgsR7AsLhPm50Cl
1Y3L+dBBEm6YonOFb/iYIp3TKdJi3GaD1TTBfdkmtEc6qLDI54UTHVbfbOB+VtJ+gHeKiZhO4n7P
PR7sD4JscGfMeXeravKtmw79kSKJ0aR1ckkoyNxqAvZ7JESXhXYVDDfxolAP6WIAVEv3xS4BIlMg
3mSHIU0F1TL2eqQ4Jzoh7Q7n1knML30M7WHjmkV6Q382aGrkHh44g67dBtCu2DVY1NJhEijHsF/n
6LsdUR8SF98ygLlBmJY19S9d75yUl/XFbkp88ypaLfVCEVJ0dEzei5BeIfHEgkoUtyJrKoBiMogw
krgD0aLVxKOM/yIN66Axj7SJGfss4vEiXL6pSOyJCmXvZ48i0df+oXc9bULjEr2tqRE7qIn6Lp7F
JQ/0sVLypm4YZJFo57Of66KqRjLcO67zlfQ8VOieW9DYZ3nYGQ5txZAWqc3inh2H9F+ASXOLlcgB
FukNrp0a7ZFQA/zCWLuind5R9LosJosRqkmM9mmuAxy62KZXq9jw42kxUXlYdumXwaI6KBXTN/Ly
dOMQ3JuKu6UgUiYH444zgWVucO/FnFvgV8ehOHWV+5GW6HCq3F3WoipmMr3FFHLlXNYYyx0RiNdV
DcfM81+7Ktv7i7uGmWE8qSXflR7M6m3jl17LxGkU4xVIi7w84/1caGCL7OIWGND8bM2lN3PvcrzQ
XFVk7opWXzzGGLYQzb5z/ixc0YZDUYruaI11cDIUtBQyvMp+NWJnNXZDZi31weX6Z3LBZ5Z4UYtv
hW1qjXuD1SH3dt8cpo2/WFw9qprW7aibrS+mm2X4pc3O2rje6kPi8+aWVpzSX0IRDfN1YmXta+Ab
/bUexO6sSTnvKNriXjmGuRfFwhKHXN+hl/iXaPQdqc5b/I8Fdx1nMxezE0L2Sz4JeJwo5gl140Ry
iu1Yc4PLPFjnuHaXs1H14m6VcXwD+PgjeN7mqlkow9kNpcuTL5XWwW+XfkdDbBX+t8zXOjP15/P1
oS6+XzJdfz5j67/gD++B+wEKImKjhTyI614wSf+R4bI/+NLFe4dXn0HX/pVQ6X9AtxQe3nZuknph
+bcMl+3CPdBYA8e1LtgD69+Zsa3fQ1xSH7BkxPAMYtGDo/n38mW1Zt6StUJwhVzVVVuP9XMaLJi7
iswpdiM5gZucaNbWsRb/xhnNBdEkUWyfU0NuZ5+12hcu1I13lXEMlI/tgJvp/pdf7j/Ifv1uj7B5
jRg3JN1KXDcIgnFL+VVinbN5SlOU3l2e8OUlSSXq+2zM7Xov+7zYKRdMPFlQjDwG65djFMus2641
BXv/4oXo9+pXowavRB9sOlgncX0I7zexFyYUtG8ZWbsyX/B5A0ZQ+Z5sWw4B3Zd4lyPDILWOxwyA
/LBU9IPaXGsZ9dpi0wUxYMbZJk9MhsMyXnPmV9K9UyA/Ornbc5ZlbkpTYps3ZxyO2CDGXrbLISvh
8BycwMi9h9yeoUL5OYfhvaG8GoJRjdR1NVeWMLaZz8qCtSpu/JsojyZzZ3YDDXNr6k0/rKKpl71q
PEF8vlzN9VQLGq4PSVXgD+SUE58WEZkNu/MmGcI+r80+nJlL/ePQyah7cAJsvlvV1wBoZlvirxRz
gX86rZuvxhCvd0miYBDWCT8ZKUMl1Sag3uCNsaMGEweyMjgDhqKI1E8NLTjR3llshrKfasg0WBc3
NTjlcjsaLcvaAF+0HS5jzjq3pvls3Nm4s6rDQi8h5QZD4TG25EvtbdIKcz4ZMEEUtzAxi8XO8kbX
4+rctF5NZw211I2WVxvfv4bDCK+wNDLLB60oHgF9F+m2ANlE8jlHCsSToa8hyovtLBQ5trUE2ZdQ
PQO6TkPhET1gGpLLlVpqHaavKZT0gkkNn/p+mpqtjVIBILJh/0et7CTFV7IU5OdQg6cQuqOHHKUs
kiJuDrD+LihTf9nrDeKyG1hFPqtaIZkrl7fvSqip5Ie6tKMee2g25rbPTHPewyEkeUADZa/PRPZc
4Wr58ffAkAwxeWC4aTgv2lzP5vWlaUzYEw4FqQSeVWvf/tc85nna/fljHmZ88j1R/0RJ8fnzfzzl
xQctemAt46bl8qxCY/njKW9+sCzyqvjOgkD8BOL9VUkxWW05Adolm2FPsJT621Ne4M0GlGcGLJT4
VulSl3/DYQZZ7+8eWx4+bt/FYUaaGF3G5DT59QEqyqysQHCsGEVozxvjpn+xEvY6UWcxPvH1uV4Z
jPOf8tqfZnYt/Vz+xdZm6x9LXsZ1OKqIL9v6Zf3i+l7zNfKSOFlDYnTVTZcPXoh+vO4N2yPtGcT+
llMpJRMfpSfcJCitcg12eWGt12B15Bvw1/pfPMJ/M6KjW3HisvciQQwI0DH1cfjLS+oNV9U4hmnb
8oi/TkmiIWVm+y9OrN8PVf1T8OfrzLJrE6n67ad4RGwKQyZmWPrW8mWcbBOf3OL7NzJOSCn/8qH8
B8fj/3tzteNf4iBkO6qnhd/eXPYKNNzS/hLKwc3fKaIRO9yO5b3plsNNxZHGqQBB/V+8uf/vpzrI
Z64nfJe3mNP5tzPZGUDZGjkN2K1nx7dTbsdh73P0NajNzi526pQb1GL1D//8H/uzY+jvPlT6k0x6
hKHXBwolfvvdaof1IrvBDCkXhQTN9g4OEp1FMbfxqYidrd0EqdzFPm/BdZFTBbDFwzktDwWBqHOU
4UA/gumY5WPmt+oTT2CLhtCWe/g0u3F7zXbPj7cePq2GRk5hVLuKBQJ6WgQrb5/PfQohASIesWqA
fleBGKtqmy5sOzGC8V3ob5u+k0drzajsxRZXmZi7Aw4o1yj0ftMpMB+3MjO87WhZY7Al0pSslBvx
am77KLLykGy1RQN2sa6mv7dmw8puEDbqcsdtrmQ1bMpKsBGu/XWXVB0nQNSSGIIOxCL2YHdFhP2t
8tYHa1zosEPaX5wd9lI3OzfctbstqG1/ffSwERUgbREy2DZLTmKj4ha64XzDzjEsgMtvJmCFV2Pf
RrecTFhcxsVfSKcRdh23mET4X78RjQr9uZMdQpUTLFt2QsLZQPUq022WtPF62wW2a9wmhRspiqSt
mEJdA9I39Ma2proVUIE4gGZxvtoNBtZNofI14yyujYKPkJrbMOvK5DFdQIq/YuGKsnNVO1T8WIGi
1SVgQ1we4F5mp6QRYIeCOqrPzaKYfpZcJTV5qhRw3lR6o3fDyM1mgtA9Yc85ztpDkvZkZ8ehhBDp
RBmB4n6qJLaYIZAHE5TNqxqsmBjH0nxTZG2N66TGkHTtAuxEBF4S752ld6ue/MbiYCb1j0ZQQhGK
txFiLYDCheqHreymsgxt3uD+jloSw3keE8SJb7bLRv06r3IHjoJozFsMa+TRmfzHj8x6yR4iqGVj
kAyo4kuo5WWNYirrvbJcpFcjzuBnRWBQrx0IIdeD6dNbayypT+4TBCPYrU4l5XaJ/dI8s2Ls6l1k
p2z87Eh2NEEILY5CPRHWBrMBBVEFyxexB/0kkdN7mDs8d8A2p8WsfgBtHNq3zKwioICljdWLFusB
UJN0f/SdM3/LeX6zsOpNnDg90MlXsjdm/fN59x8N2eXqQsgK2YWDnGULFy5uDn8+eTyRckr+coMr
72v3Jwmwf/g3/pxFXPMDqxyfyhhuSx55K8aKP2YR+cHhSNZzAIqCNs3831ZHcuNkBwSaNxCgPfQF
9q9bHfODBO3P0YLdhoAZ969/YxaxbX78r2MBt1kBLxSqX8BzXPAB/+0MLlyynJFad+Rduwc3Z3vQ
5IzqVV1jFxSjxIRgdca5gtpxndVp3V3VOu+7SkGQ3a4hG/AE8q7SWNG/lOGnoardoo8uLktUjT6o
cSp77pfFcPqvAMCqV77oGQ8aKqb6bcCF5gHovrppmMpwxg/uc2to5K+se7g2QITyLAjClt3ETtao
lTwtSCv3Jeb0AVLuyZgHj8pOB81wiOlvtkaIGHnf6N7JRb2Scj9lVBXbjOeVc71GrFokVepfBhtM
5gbv4Oe1VP0JYh9wAm7NJ85NBDjD0UHq4RKqjqY4nKkD+2RyiwN9cEldw+Sm8sTOSADjlQgL8tig
+eOEbRGXF2RSJ53pn1dFr3akm8uYYEDFVx1IhLrKRE/ZQAPYASgXSW2e1K+TPa83jRNQO0eN6HbK
W9b8xKbx9aEJH7lpOOXzHEf5/CJiTIkba5iy77mwllOH1PRjlaN/TZ7V1+CVdkkeuT0N2X5a21nu
DKVql8siPRUs/0erfIkG4jsPeQwQI+VijNTFHi4zyru4B4tP4VnWACsPbHPJkNS89WXtfe7HQe7h
jRlQGz+2k9/Sz90FRvzFYvtdbLkoLgiepRncqV5GaehmsWFc137f3RsupqkQXEA8cpywql/2q5d7
09GsdORsKas1IcrnG0eYRiSIko4unF0Q0RiwkfkES5Y8r3mHIz0AEsI9eruCgkHTE01hvWccYc4W
o8p4rIndBjd15WGsttwhf7OILNt3/Lf9ESOA/SDqVX1vnZjmsUyZ3ReTwMHbaIo0CYPaFizYDAMQ
Bpv+/nF03XmPocr1gfdPFtEt37OeJmeKZ4D8dX9Ocuy1dI6K5yJZXG+n4rmzN6klxT34A/moMps1
nLuSot4sHUdx2az9zQqA5SvbooXyOcqpt8I0nABXfOfeqkaop44NXMHGvlOfgRA0z2uwGu+OFfug
Aj3jrbIWQtugbylHnkcN77AfZV/iHFkH/8tKb1SYNOvchJFp9Yy5KRWCJvD5F1YZoOuricR6O/IF
A6OGpBuV5V4tsfw2uqTykTMWVhujKFuoxYUMXgEQrnKrCBT32zFo/F1tK4uu7sWegKy1HkYq8uMe
xVdZTXIPd1OSx+ZzW83DA1UDNQaJiglhW3l9dYhoRx6v4JSsX9nGzV99K5jPk2trvw+EDkJwEaKJ
bEaChYU9G2FH5ZUNuQzLPKXUYkivBrqKvWMuuDlsp5l9xbZ2STTzMeWd2xhBGaPPK2/4kliJeSLL
w79UOh1CcgJAp0RFWQZKohuFfGUgIdxHQR4cPZjVV1WGcHSa56xT121nFAvRVR8OYVpU0Z7AN1E6
lGt67YFqvBFxn6rQUiyRvaHMb9VcT8fG6NbygQr6lI0Gi7gNIRHzpuDrlE9wRiIACtliyOHzTKjm
sWIjJ85lIrDcb8eyUcaTC8eDAs3Ma0DkXcpnsksRjZ9ajCL+paDGitPlNtGKfrsZhlH3Y2dNRFBo
nmKLOjDQcoexdhQNzo10brURDbBYwCJ5mzaub7zjEZ4P3hx02XtnGxjxt6h19mIDcok9ECxt7D76
uenRO0XLQphFa1DRn8nc9AgETYqPMRLhSxdLsHi20ZhDOEU4bz4GGHauezS1lVYTICSQ2YXN86UB
g/rMASE0PHWcMPA4ZVgay7oLkMpwMpYW9OKhatzizcOJ1720/sjrPQSVj1F/buQDT4l8uafEoWVb
bDs0POS0C2xYQQlEJ8K7sBYKy3I+s2Jrl9M4OfFyBmafqEfFsFvs5yhS0V2Q+K31scxXsRN213Xn
tiqJDyrTix8r0lPjXSdta1EbasLJ9HB/kk+U7LEJ5iIzVszV80y+a5amc+3S3pJ8o7Rz/JRm0iiI
YuB5uswa/9ED1k/XsM8t9c+nqhuaIdICzOBPELHmDf7lf5Ly6/s/U3j4G/9QeKiT8pH1fEm63voZ
pP85VRG+54gTpkfKXbquo+etvyo8sNi4nfMHHezLXNL/NlSJ4EMgHFAWrq15Zrb776HYPH3L/+Va
zDCH3KAlHr1LsCz9Gn4VNsBryBoPHq02RfIonIqjxgsMLK8iv0mxHtq9AaVJvkBieU9HqmVAdvK0
4DkVaKg3l45sa7GNhhOlqMzMWAfTN3UasI4+NRjtjkXZxg9JVcnHCA1i0N7CnFgdlWm5CorrIcXP
xXIalEwFSaQm8PQc2V1zmGu9vOXePB3RXPpDnLMDFopihapcMK1Rm3eucPDEUVEdHOm+zCm3CXPw
bwJ9v0xbELZ2UF23jXlXGQU4HdWFSEZX/JXvGfbQTQcRhjUzmNnEdPbIMaB+bfZpNmvbxf1Rzumj
51cPMENfl9jec6q+Q5x6xdFPX4LbPpTIuFeyNMAtuT8Qx64Hw+I4MG/iMgswVTM6Ml+xg1c59Vex
PAH0vYN9R+DXICEUxCvFvGtKFtt2eEAJecDM2VJY2sF9gTsV2kq9x+tILa8d16HhW80+qoKnYoy5
dnH8U1Q5R+NmwpQDbAOpggKn6iVw8mYjsc2DZZnltWvH8OBxOZVdQa/3vGi+Iy0ALMdt8I84jZvQ
al1Ny8HDiceYfvCPcjXlo6XACFcZs2iHabHo4mi3yuwU92vFbp/moKBC5+CPscWXY2EfgsT8yJOZ
Q9GbJ361liFAg4qYOEiSxiT/TNk+digc7xbtCreuQd50zVyITO4gvwRB92YCwuRHrUZ0FSjeFJKk
BAkh3+1SY/1atJKxOU4+ws25bRIjOUZjO59Xc+hunKGVTwYlnJ/SGocQ/8z1W4yqSQeVRWmkIsbR
mQQ6EqPKd2jrxantOReqimXBlfSNCogzn6gl8J+4iR2EEsTU1/UzRQzYVgpgofO0NrQ4zkSMQCW3
D9JzdD6mGR9TG79kKwqXnE4/QgHGZVswChrlAd7lD2qM4UQAA4VZgbvHT3SlYVZe16CPTgR4xX1j
kzdZkmoNsQErE4BYp155zebTPFnuQSrs3KbRfVKkBDZmb72pyHVuPByztIra0EtBeWxqg71JMwXd
bQoLdl8l9T1dqMdxzg+1V1+3EysbKfPqiRhUs+tHuNFk6hlg2JGEc4sNanDmgi+8Vx1Gw5g3ZCS/
BnFMkhEJOpxLdUuGlhrrmpJOB24xWUO+96m3GKEyF77AQvYbS6gfHQIuNC7ES+YXFCcYUUd78g08
WbSvrTFxqrnFn0C/5XlOuvQcuaTpzc50QiA3L65pHIGTLnvD8+erXFJjZVD3Bf67eYFM+wULLzQ8
O2cPUlgb8DUO0kFenPyhOY+EuJgvP9etwiEWOEQXg1drdV9dGKev1LblOxC7LneNeLxWpWlgXB5J
7NkjHhQNRee6IvBYAEpPIaYTJSoOjBJVaGucuq/B6hJSxQbCln2YNHY90QD22AbFnuO6EJsB5Fqw
4vcdNbJ90fB2fP7kjCy+8z1Vp3urrlcIi84LuQZ+6QafvYtdbLgQUrFJMZ/Zw3uQ0FTbO9S4DBqp
CjwduuqoQatCI1drMCLXDRyEaGNrJKvScFb3gmnNk3xPf5z5msNwdTTMtVFgXSsCSXuWVPhgNPQ1
u/BfiYXPYXOhwrZ2zy5Ro2I9DY3tocdGGiMbg+SiqhS0rKshs/hLrvM4BTubJI85f/w4unQGe7pr
o9CYWmgRAGs1ujYevc+lhtlmMW839of+Xn/DgY+RK6wiVz4npnjB+WhzcwGNi5Och2OuzrNHR9sl
cFoQTnyi5Mo+LRqvm6M5NRsabZzz4HG32WSwiI7p3K2vIMPQXP12OHYGYNw1l6dIttXOLpc55Ol/
JY3glk/s9zVS4NPL2P1MjTvkp1iSvN84C3Xg5UoDXWKCn1JAV9j/MamqrrjCz/G5sanAYrlIv5Xf
RfOm44N3wAHUfhuD4HUgjLJN2nz9Wpsmbp5BzN1+nKqrmfXtprG8/GFRnlYL6EhhyF1JNjv2vlkT
KI0zWTqiYG38VHq0rdk8PUbHqgGqdGGF+3nT+5KPLL1DmSZnH5fBPjtdbp1XmBSYPPFhR8mZeN16
4mc3YcFwh/Oj/NZQPHQAHQEL3aVZOy3IBsJ5LbfdOufXhlhTnmBZq58pnIDS4hOUcoutLX4tiTvy
eQim9VMPDbl3h9Mi7O8jPcQhQ/OPtLTxmRsvURnf4ze8gc5l7jJbLmQKAMRYZmTo4PX0lVtUQtQz
Sr6kZo/onGZtuyBF5LgBGujNgTOq4yoV6cPBcqaTldO9GfJP59zym/Z7vy5RuPQGPv8pf/Dx7xxn
gG3HRJKT7RkdaFIzjw3YAKdYuIkBSKPfTy7GDk59z+HsU5HX+5yHdUCWgRYUD63ozoE9E6a5yB8Z
Q27naY4f4iGd6cwxP/acD8ciyyFCcvHb1Ytl0FGzlOOjYfi8QUEuOA/tA7ODjbltyfYJe/2wcCnh
saznSTVPvofXwDdadKO7efg65f63tuoeG+x6eGOtdxucgly6XaKj8Qu6EA1Fm9Wlb9Y+z83HIrs2
wQum3PvKKz9OP3vaFLpMdQI7NvtEzOm7PWX33XhuMGkl+SsAlq1h9dYZvnd2LLBa6BJHemcdcUx6
wsTV0gTHehQEesh46Lzw4pwZY9zvCTcxfveoLpO54IeL+poLqtqy9JpvTG/K7lY89pyk/ZR8q7iz
HwNV7+C7pxtKuY2TV6U3rOZ6un+U/4Mh73E11vVpXszuDOmH4zXV7eDYxHYiX4eTFRX+zex5Vdj5
DSHYLmZeq5l5mVr4jBdZpZjIGnPvEr4KG9MxaB20f+QLr52Zy/u52vuPvrZ4tkRew95DRsL0NHGL
ddaf32B2X7v+L/8DWvjb1/TP0GD/8K/8eYVx/A/48gGhsAMNGCW08vrHFQYwdGBj6Mdoz4vBq/R/
VxjQYoL9Hrtc649G3L8Jw+4HdtRkKBGVPWz/8t8qy3VsLfz+eodxucPQDMduz+Gl2L+vTR0jjtY8
ZQwxerLMHmNMg74E4ScIBo9wesmkKJfWBlNU47UBcbRexbZ8snMA5atSTI99zCS7AqjnixDoJCEZ
wIFdM1CuK/gDkkYhqlTv+tzHbXLxdccd4S3UFInlW/UYb2k/MkJoi+qTq1FLiYYuKY1fqoc1ohgE
y7oyykYcKKvJni2NbEomTW8CKczizaMJdNNLNlGYbEEBbtiaaBy9JkANmF8GEMqdoOR0iUk7Z72E
GKUHs8e2jvPPM+Vw/r7IqRABlhfNdyJqnJagIUuzloPqOS6mHAmPR6Ma0nXXF9K/R9XCR5n65fNq
GuNWrDYo5iFPw2RJZOjk5rxd2zTftaM6F6WTh4HCeCmN3nw0qqU7mkkNeKCMjOGa3s/iyAar/SGn
FfRno5o+hVKAMNvLsTkTnXOPHYiHsB+TqeSp6NtPCaT/G2ibRiizKXsblAHiEP+U9MJ1sOePFFF0
yybAXPXi9EQmKRxwXurYWg8r2wbyPvUQPCxGlBxbhJSDW/nJQ1GoYddYmfBChDboGWbawfDMxxh0
q8hE/uQqmHCRrapvUWQO3wMaEb4E9PGgvAHxClFUUuKNkUErXOG2RDpqknPkQKYnWufWJawZvs94
uej+y/Nru4t/2CiHxBki4FSKFT485Lxyv3q4oCXOiSB70h+sT/hB0++YQeWm0ZJQ5aAYYkGlNwu0
6M4j40S2K3ebB7aO0BSGbiyY97C4fqyFmbohsa8ZjCZNwrvaM8UzUFvLfRKD04L1El5MvqAZX7qW
/pYZis8ze1uyBRA82c2y8ZRPi6BtDloXF26oBcmTk1T+k7HmwaGq6H5z0PcovRgbXHG52fPrdkQF
4rmjve96orHzDlPR7DLDzgNPam+1dvADg1fTWgQc1VbcjSCBoZD09ATnDVCHhH2faOycS89SkB6e
8vxlHGlJg3LLW79xS7wcm3a2rGaTktQ19xg8vDsYKzmMVGeGHunngfncL0H5OMa5ADLpDz2zKPyX
ImI7sOlHChO5gvQHt/fH/YIGz87bqU5t6UZH5pMEDmVBDcZIdO++qozp0DJpHFcMtyElxJJbDsB2
LlxctxHlWY/38acKLhEe/bX+zpKo5Fu82ptF2mGBNYx7ghs1D0tSAFaJWaZtmCHxO9OpamU7X4zB
Y64i575oVHBq4IwhCSDJVaL+mqfx8NIox8H6HDGAZ8IMWR5hV88FbPhuma+V1byl5dTSNRvNL6vy
ip0omuIk85EDObeLjQjcxeS4LGGD1aa3L2O1fiQJ4D/gpa6uy0xafJURkWN+8IR4MpL3aNrFpa+j
TftrBer2Hi5ee1U003r26mVRwIbM8r5Pp/RTXMPH4KEzAfoom3ezMkEuxg6pzz5PxntSP0mYx0m6
t5VERI0tCIGGH30ugvSHtCvnm0mv08MAQAq2+yuzPDUZRCMYYpkvMlUNd3adyhOrHERuY3WzeykN
7gyNF73FARWLvI0LNngTWFTNEn4DpXbdytE29hDp7utF3dkKg3TiT3cYTHs84N1yjwzFeAv9L9r2
s/G2ViMo7Kwb3hsq/149jFJhEaX99xVjwg76Y7bHnQhXLph3RVRvgBt2cchBNeD2A6qG4kJ+i0qr
NTFwHrT/S955LMeNZVv0Vzp6DgW8GXRHdHpD70RqgkjKwHuPr+91QUqPKokqqbIGitecVZEiEiCA
e885e68tX/XMo+auXwwfUw3i77zTlHiFG70Syjwtgz+UKNuEURxJVW78XskwotK9sP2taYz0gpuE
CldB+81wAsWm6dbxHhVhfjt2WfUOx5gFvQah9UWR1uE2QVp41hVlDfCo8imy/cJq5g28xh1N7xGp
Z3gre711B4M5vw+rHMm/4ZMIXKgSEvA2hT8BWlIadkgfbI4xpts+aYxTCIopWhLTHuylnSDXXI/W
GOGUHP3gqsC6eeG1ILlW0GdqZV0GEUbqoCRqrIrNlaVYPe8plC2MxCA4ZzWrDfJUzzLP1TEZrVXl
IN4A+yyj30e0juk+RjLyiP82t4lS8XmtUSE0Vxl6go1mpoU04+9Ox0fPrVQ5jxo5Drdy2dafTBw0
ZyHmEtpNzATR58jzHIKBQS5Q7u21MAekKfbbal41wFugfc6UmjbrwoAXtqpG8m50E5p7oyU3sWZs
tVAGOpkOSvnR6+JkST8i3TZITd8XeVzp9C2Ky8RMWSTY7NqLuFf9FaZt8GBdY0Hk7/tHJ3OS28RJ
2Q+ntffOUtN+43RBuHcz7kiILZp0HsSEoWFNI9ZxplR5KWOsTYu3FS+3Wyc15HMngSsDx8ENNQiN
mg+jlEriwLCs33TVgLqVlkGVYJERMZlZ2bxN40I+Rw8ETSlWunahRHQsexWkTC/3yH1kVTV2ZB2T
TTvtEf+/b4xRzqFJh2eLPpJ94Q9b+/+JH7Ny/G4fn/3wt7/pS0uf7BQVPC6SCMtRHY7xLJRAtAmz
GH7dJMsUIrPPHX3k/IZMnx213XMe8ZftMDwSSj4k/uyViSrBTfsLOgnV+j4V0JERgBq2KttCjP5C
q8iEsZUGV4mXvRZUu1LLQxyTcPrQuecy7SwnDshyU9Ol2TX0xXtdDOJcr7sDW5COc20cbIMesVOf
DiQYYGYnfqpmyY6qvdVWmbGp/FH9EHuJssRdW71TifdiIIYwmXy+amXiu5vbJnyJRor6GwlK2ZyG
9XACNOG+yeT3ASS0pQypZ2lLeSh061dZDifMqjR6K7UVr1LqvXnpo4OnKd8nvCSkbCMhUnCK4rpo
DGj1trasMMytUFhrG79SkA8MbC4tl/a4XS+IaSA8xOzfa7Uv3UZu/xAm+T10O0z++UU+ZvJpWMCN
KOFvnygqPQ+vGnEDqBHoK9mtFkNTj3uyEvwNpS+Bda48j0LtVnbi1lxHzeARTWLAZmPU7JCuoTsr
0edmERngBM9Vp2zWSGxqdFiaOyBQ81zIsFGLxJJOmGkEhjVzao0dTV952G8r2gAOoSO3SZG/lRJS
x2aZ1xensOrlG29UNvDa7G0ywiFja/qhl/DxNXHjzvnssLQ9jUB2NFrABLPTLksYsxT1sJHj6r0a
IdtvAsbZxTa0FYxLlNYPtD4j+iB4eKmo7lXXUoimiLZ5xL1idzvG0/q1b5rltvMYRIBQUmiPZu2m
iuAKU6/IqAa1e1VipkJDPbrCdEWcii3ve0MliSCO/G2cKe5tUxOsQUCXC/EUVDELX8p0grW+ABAC
34W8uIcEG+CVTxokMWwRCYRahcQnqAI+H8ExsozLD60tmfdp8jZQzIiixM/XMrC/Qg7trayDSPaK
bOVbQJxGDSXfKCiB0uiYnNRItl/dwHRvwZYFfnkJ80Da9iWkQRfkoC/Yg6S4YC4bq7O0UC5gIBhM
H6JtJ4iFRWfZuF2jgnysyNmZgA2dPKjmsVpFi7aBephrJD7ocXooBsefy51yqwhGYthCS0wEN9GK
GdIUE0zR7YoHW9LOFTf65Fp5QeQzblRbMBg7QWNMBZeREHuHtQ1WI6LFYsEUvJ+3Zo0UAXQiTJ7k
HZ2QfoECs8ZWQNsIHku7VgUNElrIY+VKLKiW8UA4ibfySN2cNRNGUhohSuIHtnHyQZnMK9qnWUvm
sKBPYnIAROlUAkqJJt0YYDHAqmwIU9kNuTE+1nR594oeO8JiajIlBHRJqou2zAvBvmx780RqquRc
q7SVUekLQ5ZPckHKHAUzM1ZDe1NbEHnpretzlBaH3itOOrl2NgaglbuyTsvgwmZJn0PNt/dW1IyP
OenLs260glOpgtyZhn0A6h6bdAbVUwGLuMhS2zyz2wpMoDLEOF/wgGpzI/WjW+zO2QcD68+yDXh/
JaXwxWIpntXsEGbuBBf1Ypci439h2TQ1sTJhJSB4iptMMN1f7yedibzcP9MZfuc3Pi+f9hvUjMDw
aBzptqoLt9Tz8mm8QZtNY4hwXEVmBec7n9dP+w3kCLHi6hZsLv71l5G4cLaZjNBlDbvcL9MjptX7
q3YSJ8+l4DBsaLFkGMIL8GL9HOiccO/0warrrPoEWcdIpWcDc0tyBfmKasvJHeLC9G3q9uPGIDXp
XrJ1c5cjITxLhyFaYJQfd1mF3mdmBhV4uFrylZnUhwM6WRIJB59FBB5Lb8ytuq2Ui7ygT19ZlTFX
0JW4byHTAnktarISPS1Q7gm5JMajb2OlXPQkr9aLrPI7bVWBLpJncRQVK5MJ6SfXTNhQMl0NoGZa
JagZAr3fcp71vEvbTSTxZnFydxc0vgi9L9kFz83GdNbsW+pbnP7WgQERz2DYS+FJKXuhv5RyLbtT
Ez0lVieyAvz2cnFTm31I8C+9GzTQQZNizTedgUItgNEEqbBqN27XO2cj1HJ14bd0tYPCttYubtyN
3gC+swF6MexpBE2SPlT/Qe4Z+Vltn122Eq8nz0hv3Na7Tj20BmMSWHCHBkLRxkEF2eOMOM1geynz
NJLCFfNmddlTsM4T2YzIGiHVMi4rc09rskFNXgcPOSWWoP8F7gkK9m5vD4mxktUK4bYH+eHE1qvk
DrBX805lVWFl521zmfVu3M01q6fQ9MtKehA4OSJ8rbrKFoULxqBMhvITVbC5CGogTuCN3GRTGVap
zTATyxvkP/0l/QD3NCu85FrOVViP3P2LcKjCh95Xm+uK+C8IG57bXcuV6+BFR452bbuJew1AS79R
O97HtNkawrgI6t0PVmff8T9TML5Bc+4bwxY1XiRH8HxqAPVlZGYrBvrFrlasuzxUyjtW+3VVaNdj
QmCSDvR0nXctxEP099nMSRN37nqMAWYQpZOLdkgdztYt3w5yfO9p8qeMLBzPk5YWtTHvaND9MzvI
6jXaSAM1fMt6PQbK2nMsaZO7XrUfSsc8GwyZ2QULxkUJOHTt1kx4dPRqxHwWxZ2GV00KTAZdiL6T
cBsk46XUSu1t3hrAF0s7mllUZjLCVBtwaGTL2K/DIF4WqPpnjQbSIy4N7zGjbbNJEve+9/LwLRkt
/azW6uZcp7A9aTwrWsedcim58YLtS1w9gB4AQSwt5JSRbdw7WznBwCy7p7bdbg0A7BDW0/wm7RMv
IKLJxMjNtQaZSu5JL6vDaWPb7p6NK6HwUhecMhxK3rlWGNxisyuQjWbZWmF8fjdYVkizKdBgwjW7
gJgW0CBYCyV6Ew8ZwsSrREcov48bkhJmREsXs6RuumtTC4wT1ZBkk3mKbG/a3sYEmkHfvdFc7wpu
KOAWRe/l8yTTlHtNkpyrrJfT00Y0PTIYoBcabwQykPGD7H1TqO08HOsjZm+D4RWGLWMNf8G/UyWE
uHN7tIp15BAnRI5TUa/c3mc1zU22wYvCHIBI1XUeCGBwyjgMGCkjLIjJaonnPgya9hDbSDu3MtHU
5DEZDJ6Bf6bxvetWprchI9C2tmwF9XKdFXnvAG/J23yVeRW9A7pVGq4KzZWYPNu9vi2Rfy9hheJs
HKARy9TlyDZmQHyZcxK3K88GJu8gDaH1rLzaKQvAAiZ3CZEK7ScFYgOgM8VpvYNcqdQJtRNb29St
VWMD+QytDfCUUlmhtSuMFWnLg3bP85ObnxT01TVxfLlxgs2hJQ+oRW/5v7E1wE6ISI3xj/CnaQL2
9PrW4OowHtrgy94AFdwXQqfAZ37zm562BKbC6o7pTWbOJCwIAKA+bwnMN4j+geMCJ3ieFX3ZElhv
IHjiL0BDp9HwFxE1n60HWOSxeOFigFvmmECgfqWkNmx+01dbAgJToYEKwR0zMLzc4vsvtgSq1DTN
GBvequ9FrVg7chUBDslbbrwWITjBICiZx0kfrg2jTfB6l/jDqmb01MNSTnzmSlJQ9nNdKfL7FMP2
vaFW7YnacK9uNasyy5k5BPW1a1XUI5mhqVRHZF7ai8wicNAuvOIGlyZYb1DdTDXqcwYtdK/pr+27
1ujY9KL6nqtl6e7iwDNidBrURDRTdX1VcpRZpSSklfWNtwV7b6fAOtvUXpgRwr8Znfr4SkNK+4Eg
UDq8qeRUN0YpwaBAFD4Sew5vYtH2ufPohZ4/r7AmwnD3E4BQabYtMcatxrRMN0zYwkWekFkP47Lb
l42pbnJ4fCTQjZRwPruZxVCWqKC0nWsV0AIbAr74GwJFocu+tGQTrGlvq0tdzhGOkNwa3JS1G57X
bRGudNwSW6KotL0E+GUVdYF1HkB0PrXciqfX7ILrgDNAjVyWJFjL497xgfXUAbS8Mi/NNeYmXIZZ
AUOkHncgacqlXmg40NvRPYkdy72wyzQ/MPtSz4tWoR+KvWVW8Zc5Z8Km76u66M5pcCLQzhTnbYp1
d2WXZPYwCTEXDZwePFAhliw6fAA80ajXWSUjrXjQ7AEfnIeWiFbtXanL2EjdToEJ3EVb2QqjrR4F
/jIdrPxT3mTxhZIZ4V1kjt4DgWrjDi3fcGUHpUVZrFvLtu9YP2PlMWIXms9cIIFE+KUoJTxPvTTD
5B3+P3dXOb2Eopzmf+1HxpVRh+6tpJiEWjLsUC9LKIgs24kMMQBNOKUXGRIhHvsNOyOCL2G5At5C
1XZtt7I6d5jyvCeozpsrkGMwiMjsi1QPh0EBBgQ8KUx8SS7i+8hA9Z1BmTob+xpI1ID8cQdUGbqr
HHg8ELgJKY3tDQFnxV5hMLjWc0ndE93nPxa1nq60WF3jBwRqGfnFGdvCZo9kZFTmA4MhaldfWjNT
qNekg4ZLsXiywTXrTebLMZAdNkD5oCWP/QAxVAkkd96VtnLmMJKi+4DNfo8Txjr1FNLHuyD2t7rd
s48edLucMYcN1iS/xDu0C/h5oFzwJ5OTM1UipDHLrgYE4aqfX2V2MQ8ip9zDfS/v6U4nar9Ma1iZ
izTxCukkMEun28Wq3i6YGaVzWZPU+tIZMmeJdTMHdwjYegdaJTmN6Po6oA58Q1qo4GRtKE0T8zuN
SkR1nuw81FrQA9w3XaINGHAMn2Sf7fm2T8fHURmcD7rIG3eGDutL63tsCDvdOOGu1LctfT91qQHT
vSAZXb4Mx9FG3TlSzAS1b31qCE44K3MoRQsnRnU1I1q9XaBCcggMCOo9nLlqqcgU3th1rJWPTn4O
Saq8oygz6LPU+gV4WHtX+QwsWk+KV6WRet2CmyAnh7Qv1iXKx3CmOVV7Eap2xwhGVz56WHKJivBV
kqoSI3+IE5DqdHnwXtAlMEtQdW1C38X3H7QwM/z56CDjmWm0KD5YEvIsP6plmmmJWt9FeYCOlbKt
cUi8jzWSFl0LGIRRk3AQxoiRGcA014LjBBpYjfGkoqAn/9zK7IbRMVGMABwQ9O2KVh37JXRmWl5V
AyGOfOp+YzU1XFF50FdBDFeuRrd/pzVAibJ4HYySfsdrs93oU/UTT5VQM1VF3L1USNVULYVxVtwM
PhcvIc2WVlVWZHfFVGMFotxCBkflRfawdbCDor4dvBHN01ONpuQ95ivN3kUOUv+WWk7LNExPorwb
nyo9qgZm/31QUIRRCqJTzVf1VB9mgdVoq26qG7uphkTfRz0pqaK0FEWmZSIdmOcKrwdEg5kxL0RB
moYd/TBrqlPZFNL3FMWrK8rYxCyoaEH303dFAksHU5S8Vl9T/MqBc+aKgjh2tOF+jIqRHirlMl3E
hFSAiNsuLYL2xFcR+vIS7OsTY9pshdPGC8mFfqJO27Fg2pohrWObZkxbNmnavmnTVi6btnWN2OEp
02aPrgMbP3XaBPZh1n4iS4atYefFbBOjqMtWQQ/tBC1uE/ECT3J3SUrYCICqbnjLEz5pDatC7ECB
5OrEdoltKaJ3PqWjaiXT+CSLF0qd9uGM4XMPAky1wkXpV86d3wm/DGPY8a7M3fyxSFL3tBxl87yy
Sj27jiqzu5MoU7FsG4SwEazqeuuQ95o8H1QrunbHqqhpK/bqTddCXVv4lR2MuzB1UwR5dDBdSlY3
TaEwRdK134VlsKM+Gm+6AJhupXk9zdEWPmztjAUS4nJQ1hA+7LMsBWE5Y/WLNdrVebLRAR0/FE7K
RBPkW81UjDy4KzSR5se81Hj1MKNL39ld29Dq9RIeOd33ocJlroo3kAUZsXHC47ZyB7g2c2dotbeF
6zW0biV2SqDUggbV72DF1x67vZOO+RvEyA6rNUV5rLY0Nylwx1HxkqXtIgBBix8KAA19dfhhbEP8
T4SXIaye7EcFowesne1Q40uqaA3teztxZ12qYVxyylJJLirhZ7KFswnDHaDMxkWyWxlK+d6bTFBh
WBWXpt+4qxA/OjkBBkCJE6WV63JnWbI1nJrCU5VUNQQ+4bOKvaiuiHoT9itvsmIhNGRiHU4WLU+4
tdLSat65k4WLDR92rnSydrU9D8kcTSaWr6ZggLSNiaQONtjY6K3LKZACxI/IDRTX1GiH4mNDL4+o
iWjwoMxv5XjoLxPd7w99UowHtSmKdlMaCWb7yZpWRgOUziFMmguM/uMNPdVmqVQOOPQK6hsiJlxu
iFFxOqSaML+NcWcvUX9jiUsne1yhJe7bRhWmuQoxM1BkU5jp2rY1HskbT1Z10VMjlwFoNlk48FKS
oeejcOXFPgqmBRK/eu9Ntr1BOPgs4eXDYZUtk1bLzxpMuvOEJYmFRHgAoYBad0TAMbYQDkGzM8uH
crINFjkOQpRE5gnAC8OZedHg1XPfJxuER0U5xMKBiDPnFIvMJVB2nImgOVELDlECdxl6xHnhCRdj
5AtH40AwC6EfokNdy/VlhkCrn/XCBimzN3ZhVmeWzdkKo6QlLJOTe9KenJRlN5AdLXfp+D4osVrm
k+tSEQZM3JHaBRR17U6e/JmysGpmrWAQpZODMxJmzmDydUqsKcqHYfJ7EhZV4y0RNlBsc0yCJ2/o
79Nsfh4ULw71gW0LMQuXzcdyuPpYwWiuPk8oxXcvsiCtb5jg/JUf+vEvei4fCd3++K9/vidIqBaf
wENP9bKyBJTzh5p0+kjT5/3Rb4gPfOLmA79aU9+AWTNUtunPX//8R5wx7n/6tqHTYtYZ4CroGcUX
Nipq4BdX6LVr8OPTe7qYP/6Zr07g8CEJ0gUpGGXwvv7qEsgYl2l+/9x1+MOveXEdGFPzpAnIzdN1
oNJ9eR0ws1FOU3Rjgpm+fsvrgBD12OvAjEKM6dHXfu86kI4LXUmTFcarv+f9YAomn/FH8cMrj8Xr
twMpwEKfq1g0YMTX17cDDkYh/LU09fnbT1Oj3+ixYC6kWioKia86Vr98GVBoiJkTDahvHgchMqH1
9HR5nq7373T+Qp1iHnv+mE7p/dk42v5w/tYbngGZIR6Jz+LrqTX4G50/U0TxWvzJ5eHV5wCsGnwT
W+YSPP2hudFfvhZ5a6K1QYn//F0ek99reeB1AIKFcepxz4H2BiCbAqCN6b344he+vAzqGyAxCptn
4HPi67d7HJ7s3ubTn+cJSPdlA/PtbuHV20FkQTHBdtTnRfIPr0VDeSMDRrU1jEqfL9PvdTs8X4ej
dwsit0FI7SAVfz7Rl/eD/sZkDYJh+Pxc/IaPBUj44zdNCoFipgYhifffi/NneWR1sBlnPC8Pv93y
KOYnwJsYn1g66CbmLkdvnPQ3gh0Fse1548Q74OUlMZnZ8FLmJfH0iviFS/ITy8qXsgRDefxhKkiC
j9X36pbXfuDzXvzb7z/vw6esORaUr35Q1CdPx/44FUHiv//91etjqhVefPNz7TAd5/mfP5/gt4f+
6lifz+rz/9wEH8tD+d4fpm8Mzx/z7JBQ1tzAIX0FBPZlZ/R/H+pf//zqI79YLH50jL3fjK9jrZHz
PD1hRx/mY5m8diqfNznHHmNzgOrx6kHQFTsseMceZB3Erx/iac9+7CFWh7L6rqhZbAOgtB1/Etvq
08F//TSe9hrHnsZbbqs/sy2iVQOtwv7u2IOdZOXrd/HzNpKX47GHuf6YpK9ct+eD/A232OmhjA5j
8N1b4PkorFTHnsopo/70w+G1F8zzgdhjHHuguc+9xtPvH+InBM8hQrE1HMofniGlyrEH3mRlQhD3
j/9ef8O9d01Dh4NwNf8xO8TNe//P7kRR0R57cv8pPxweg/j1m2Tqohx7lHeH9DXH8fMm9G+4Ex8O
449gTObfcA9eZj+KRhMVxbFX6vIwEmr7yp+DMBvQ0Mcf5KczdL9sY/7apuBnouSOPMTPpmkceZif
pLkfeZS/zBg79rjTrqriBfvdG++79cGxN/ryL9MIjjzZX3Z7HXm8vyyTP/K4v6zBO/J4fxk7/MPj
fq8a+jJy+bZG+jxK+d4/+7oAFD/xPv54KP/9XwAAAP//</cx:binary>
              </cx:geoCache>
            </cx:geography>
          </cx:layoutPr>
          <cx:valueColors>
            <cx:minColor>
              <a:srgbClr val="C00000"/>
            </cx:minColor>
            <cx:midColor>
              <a:schemeClr val="bg1">
                <a:lumMod val="65000"/>
              </a:schemeClr>
            </cx:midColor>
            <cx:maxColor>
              <a:srgbClr val="00B050"/>
            </cx:maxColor>
          </cx:valueColors>
          <cx:valueColorPositions count="3"/>
        </cx:series>
      </cx:plotAreaRegion>
    </cx:plotArea>
    <cx:legend pos="r" align="ctr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1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/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/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70">
  <cs:axisTitle>
    <cs:lnRef idx="0"/>
    <cs:fillRef idx="0"/>
    <cs:effectRef idx="0"/>
    <cs:fontRef idx="minor">
      <a:schemeClr val="lt1">
        <a:lumMod val="95000"/>
      </a:schemeClr>
    </cs:fontRef>
    <cs:defRPr sz="900"/>
  </cs:axisTitle>
  <cs:categoryAxis>
    <cs:lnRef idx="0"/>
    <cs:fillRef idx="0"/>
    <cs:effectRef idx="0"/>
    <cs:fontRef idx="minor">
      <a:schemeClr val="lt1">
        <a:lumMod val="9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/>
  </cs:chartArea>
  <cs:dataLabel>
    <cs:lnRef idx="0"/>
    <cs:fillRef idx="0"/>
    <cs:effectRef idx="0"/>
    <cs:fontRef idx="minor">
      <a:schemeClr val="lt1">
        <a:lumMod val="9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lt1"/>
    </cs:fontRef>
    <cs:spPr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  <a:ln>
        <a:solidFill>
          <a:schemeClr val="tx1"/>
        </a:solidFill>
      </a:ln>
    </cs:spPr>
  </cs:dataPoint>
  <cs:dataPoint3D>
    <cs:lnRef idx="0"/>
    <cs:fillRef idx="0">
      <cs:styleClr val="auto"/>
    </cs:fillRef>
    <cs:effectRef idx="0"/>
    <cs:fontRef idx="minor">
      <a:schemeClr val="lt1"/>
    </cs:fontRef>
    <cs:spPr>
      <a:solidFill>
        <a:schemeClr val="phClr"/>
      </a:solidFill>
    </cs:spPr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lt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lt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9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10000"/>
            <a:lumOff val="1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95000"/>
      </a:schemeClr>
    </cs:fontRef>
    <cs:defRPr sz="9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9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lt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spc="10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lt1">
        <a:lumMod val="95000"/>
      </a:schemeClr>
    </cs:fontRef>
    <cs:defRPr sz="9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95000"/>
      </a:schemeClr>
    </cs:fontRef>
    <cs:defRPr sz="900"/>
  </cs:valueAxis>
  <cs:wall>
    <cs:lnRef idx="0"/>
    <cs:fillRef idx="0"/>
    <cs:effectRef idx="0"/>
    <cs:fontRef idx="minor">
      <a:schemeClr val="lt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496">
  <cs:axisTitle>
    <cs:lnRef idx="0"/>
    <cs:fillRef idx="0"/>
    <cs:effectRef idx="0"/>
    <cs:fontRef idx="minor">
      <a:schemeClr val="lt1">
        <a:lumMod val="95000"/>
      </a:schemeClr>
    </cs:fontRef>
    <cs:defRPr sz="1197"/>
  </cs:axisTitle>
  <cs:categoryAxis>
    <cs:lnRef idx="0"/>
    <cs:fillRef idx="0"/>
    <cs:effectRef idx="0"/>
    <cs:fontRef idx="minor">
      <a:schemeClr val="lt1">
        <a:lumMod val="9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</cs:spPr>
    <cs:defRPr sz="1330"/>
  </cs:chartArea>
  <cs:dataLabel>
    <cs:lnRef idx="0"/>
    <cs:fillRef idx="0"/>
    <cs:effectRef idx="0"/>
    <cs:fontRef idx="minor">
      <a:schemeClr val="lt1">
        <a:lumMod val="95000"/>
      </a:schemeClr>
    </cs:fontRef>
    <cs:defRPr sz="1131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lt1"/>
    </cs:fontRef>
    <cs:spPr>
      <a:solidFill>
        <a:schemeClr val="phClr"/>
      </a:solidFill>
      <a:ln w="3175">
        <a:solidFill>
          <a:schemeClr val="dk1">
            <a:lumMod val="65000"/>
            <a:lumOff val="35000"/>
          </a:schemeClr>
        </a:solidFill>
      </a:ln>
    </cs:spPr>
  </cs:dataPoint>
  <cs:dataPoint3D>
    <cs:lnRef idx="0"/>
    <cs:fillRef idx="0">
      <cs:styleClr val="auto"/>
    </cs:fillRef>
    <cs:effectRef idx="0"/>
    <cs:fontRef idx="minor">
      <a:schemeClr val="lt1"/>
    </cs:fontRef>
    <cs:spPr>
      <a:solidFill>
        <a:schemeClr val="phClr"/>
      </a:solidFill>
    </cs:spPr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lt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lt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9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10000"/>
            <a:lumOff val="1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95000"/>
      </a:schemeClr>
    </cs:fontRef>
    <cs:defRPr sz="1197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9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lt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lt1">
        <a:lumMod val="95000"/>
      </a:schemeClr>
    </cs:fontRef>
    <cs:defRPr sz="1197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95000"/>
      </a:schemeClr>
    </cs:fontRef>
    <cs:defRPr sz="1197"/>
  </cs:valueAxis>
  <cs:wall>
    <cs:lnRef idx="0"/>
    <cs:fillRef idx="0"/>
    <cs:effectRef idx="0"/>
    <cs:fontRef idx="minor">
      <a:schemeClr val="lt1"/>
    </cs:fontRef>
  </cs:wall>
</cs:chartStyle>
</file>

<file path=ppt/drawing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0.78602</cdr:x>
      <cdr:y>0.46111</cdr:y>
    </cdr:from>
    <cdr:to>
      <cdr:x>0.82309</cdr:x>
      <cdr:y>0.55833</cdr:y>
    </cdr:to>
    <cdr:pic>
      <cdr:nvPicPr>
        <cdr:cNvPr id="3" name="Graphic 2" descr="Arrow: Straight with solid fill">
          <a:extLst xmlns:a="http://schemas.openxmlformats.org/drawingml/2006/main">
            <a:ext uri="{FF2B5EF4-FFF2-40B4-BE49-F238E27FC236}">
              <a16:creationId xmlns:a16="http://schemas.microsoft.com/office/drawing/2014/main" id="{DFC34C8A-5BF3-399D-34C9-1E9287D35B79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>
          <a:extLst>
            <a:ext uri="{96DAC541-7B7A-43D3-8B79-37D633B846F1}">
              <asvg:svgBlip xmlns:asvg="http://schemas.microsoft.com/office/drawing/2016/SVG/main" r:embed="rId2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 rot="16200000">
          <a:off x="5654038" y="1264918"/>
          <a:ext cx="266702" cy="266702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0.74682</cdr:x>
      <cdr:y>0.39444</cdr:y>
    </cdr:from>
    <cdr:to>
      <cdr:x>0.94809</cdr:x>
      <cdr:y>0.525</cdr:y>
    </cdr:to>
    <cdr:sp macro="" textlink="">
      <cdr:nvSpPr>
        <cdr:cNvPr id="4" name="Rectangle 3">
          <a:extLst xmlns:a="http://schemas.openxmlformats.org/drawingml/2006/main">
            <a:ext uri="{FF2B5EF4-FFF2-40B4-BE49-F238E27FC236}">
              <a16:creationId xmlns:a16="http://schemas.microsoft.com/office/drawing/2014/main" id="{B72E15D8-5534-F36F-D3B3-51136C10038B}"/>
            </a:ext>
          </a:extLst>
        </cdr:cNvPr>
        <cdr:cNvSpPr/>
      </cdr:nvSpPr>
      <cdr:spPr>
        <a:xfrm xmlns:a="http://schemas.openxmlformats.org/drawingml/2006/main">
          <a:off x="5372098" y="1082040"/>
          <a:ext cx="1447800" cy="35814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r>
            <a:rPr lang="en-US" sz="1200" dirty="0">
              <a:solidFill>
                <a:schemeClr val="tx1"/>
              </a:solidFill>
            </a:rPr>
            <a:t>First Negative Month</a:t>
          </a:r>
        </a:p>
      </cdr:txBody>
    </cdr:sp>
  </cdr:relSizeAnchor>
  <cdr:relSizeAnchor xmlns:cdr="http://schemas.openxmlformats.org/drawingml/2006/chartDrawing">
    <cdr:from>
      <cdr:x>0.69625</cdr:x>
      <cdr:y>0.8012</cdr:y>
    </cdr:from>
    <cdr:to>
      <cdr:x>0.73332</cdr:x>
      <cdr:y>0.89842</cdr:y>
    </cdr:to>
    <cdr:pic>
      <cdr:nvPicPr>
        <cdr:cNvPr id="5" name="Graphic 1" descr="Arrow: Straight with solid fill">
          <a:extLst xmlns:a="http://schemas.openxmlformats.org/drawingml/2006/main">
            <a:ext uri="{FF2B5EF4-FFF2-40B4-BE49-F238E27FC236}">
              <a16:creationId xmlns:a16="http://schemas.microsoft.com/office/drawing/2014/main" id="{C826B51B-AEF2-0C2F-B99F-EDE651A6449E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>
          <a:extLst>
            <a:ext uri="{96DAC541-7B7A-43D3-8B79-37D633B846F1}">
              <asvg:svgBlip xmlns:asvg="http://schemas.microsoft.com/office/drawing/2016/SVG/main" r:embed="rId2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 rot="16200000">
          <a:off x="5111105" y="2068909"/>
          <a:ext cx="252225" cy="271610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0.02865</cdr:x>
      <cdr:y>0.00972</cdr:y>
    </cdr:from>
    <cdr:to>
      <cdr:x>0.97421</cdr:x>
      <cdr:y>0.09724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B5B380F4-3DC1-FF87-C432-90F0E9D90B0C}"/>
            </a:ext>
          </a:extLst>
        </cdr:cNvPr>
        <cdr:cNvSpPr/>
      </cdr:nvSpPr>
      <cdr:spPr>
        <a:xfrm xmlns:a="http://schemas.openxmlformats.org/drawingml/2006/main">
          <a:off x="76200" y="45720"/>
          <a:ext cx="2514600" cy="41148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r>
            <a:rPr lang="en-US" sz="1400" b="1" u="sng">
              <a:solidFill>
                <a:schemeClr val="bg2"/>
              </a:solidFill>
            </a:rPr>
            <a:t>Regional Performance Comparison</a:t>
          </a:r>
        </a:p>
      </cdr:txBody>
    </cdr:sp>
  </cdr:relSizeAnchor>
  <cdr:relSizeAnchor xmlns:cdr="http://schemas.openxmlformats.org/drawingml/2006/chartDrawing">
    <cdr:from>
      <cdr:x>0.62445</cdr:x>
      <cdr:y>0.08266</cdr:y>
    </cdr:from>
    <cdr:to>
      <cdr:x>0.62445</cdr:x>
      <cdr:y>0.94489</cdr:y>
    </cdr:to>
    <cdr:cxnSp macro="">
      <cdr:nvCxnSpPr>
        <cdr:cNvPr id="4" name="Straight Connector 3">
          <a:extLst xmlns:a="http://schemas.openxmlformats.org/drawingml/2006/main">
            <a:ext uri="{FF2B5EF4-FFF2-40B4-BE49-F238E27FC236}">
              <a16:creationId xmlns:a16="http://schemas.microsoft.com/office/drawing/2014/main" id="{0A92367C-F382-25FB-4A2F-34617378ED19}"/>
            </a:ext>
          </a:extLst>
        </cdr:cNvPr>
        <cdr:cNvCxnSpPr/>
      </cdr:nvCxnSpPr>
      <cdr:spPr>
        <a:xfrm xmlns:a="http://schemas.openxmlformats.org/drawingml/2006/main">
          <a:off x="2179320" y="388620"/>
          <a:ext cx="0" cy="4053840"/>
        </a:xfrm>
        <a:prstGeom xmlns:a="http://schemas.openxmlformats.org/drawingml/2006/main" prst="line">
          <a:avLst/>
        </a:prstGeom>
        <a:ln xmlns:a="http://schemas.openxmlformats.org/drawingml/2006/main">
          <a:solidFill>
            <a:srgbClr val="FFC000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0.58515</cdr:x>
      <cdr:y>0.93841</cdr:y>
    </cdr:from>
    <cdr:to>
      <cdr:x>0.90393</cdr:x>
      <cdr:y>0.99352</cdr:y>
    </cdr:to>
    <cdr:sp macro="" textlink="">
      <cdr:nvSpPr>
        <cdr:cNvPr id="10" name="Rectangle 9">
          <a:extLst xmlns:a="http://schemas.openxmlformats.org/drawingml/2006/main">
            <a:ext uri="{FF2B5EF4-FFF2-40B4-BE49-F238E27FC236}">
              <a16:creationId xmlns:a16="http://schemas.microsoft.com/office/drawing/2014/main" id="{D4DCAE55-B878-7D94-DF8C-6A665DE74FEA}"/>
            </a:ext>
          </a:extLst>
        </cdr:cNvPr>
        <cdr:cNvSpPr/>
      </cdr:nvSpPr>
      <cdr:spPr>
        <a:xfrm xmlns:a="http://schemas.openxmlformats.org/drawingml/2006/main">
          <a:off x="2042160" y="4524348"/>
          <a:ext cx="1112520" cy="265679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r>
            <a:rPr lang="en-US" dirty="0">
              <a:solidFill>
                <a:srgbClr val="FFC000"/>
              </a:solidFill>
            </a:rPr>
            <a:t>Average (12%)</a:t>
          </a: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476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2494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6744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401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793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8880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442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530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930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149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0049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66608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4/relationships/chartEx" Target="../charts/chartEx2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microsoft.com/office/2014/relationships/chartEx" Target="../charts/chartEx3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6736" y="789372"/>
            <a:ext cx="11418527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rPr lang="en-US" sz="3200" i="1" dirty="0"/>
              <a:t>Monthly Sales Dashboard</a:t>
            </a:r>
          </a:p>
          <a:p>
            <a:pPr>
              <a:defRPr sz="2400" b="1"/>
            </a:pPr>
            <a:r>
              <a:rPr lang="en-US" sz="2800" dirty="0"/>
              <a:t>────────────────────────────</a:t>
            </a:r>
          </a:p>
          <a:p>
            <a:pPr>
              <a:defRPr sz="2400" b="1"/>
            </a:pPr>
            <a:endParaRPr lang="en-US" sz="2400" dirty="0"/>
          </a:p>
          <a:p>
            <a:pPr>
              <a:defRPr sz="2400" b="1"/>
            </a:pPr>
            <a:r>
              <a:rPr lang="en-US" sz="2800" dirty="0"/>
              <a:t>Sales Performance Analysis</a:t>
            </a:r>
          </a:p>
          <a:p>
            <a:pPr>
              <a:defRPr sz="2400" b="1"/>
            </a:pPr>
            <a:r>
              <a:rPr lang="en-US" sz="2800" dirty="0">
                <a:solidFill>
                  <a:schemeClr val="tx1">
                    <a:lumMod val="65000"/>
                  </a:schemeClr>
                </a:solidFill>
              </a:rPr>
              <a:t>2020</a:t>
            </a:r>
            <a:r>
              <a:rPr lang="en-US" sz="2800" dirty="0"/>
              <a:t> vs. </a:t>
            </a:r>
            <a:r>
              <a:rPr lang="en-US" sz="2800" dirty="0">
                <a:solidFill>
                  <a:srgbClr val="00B0F0"/>
                </a:solidFill>
              </a:rPr>
              <a:t>2021</a:t>
            </a:r>
          </a:p>
          <a:p>
            <a:pPr>
              <a:defRPr sz="2400" b="1"/>
            </a:pPr>
            <a:endParaRPr lang="en-US" sz="2400" dirty="0"/>
          </a:p>
          <a:p>
            <a:pPr>
              <a:defRPr sz="2400" b="1"/>
            </a:pPr>
            <a:r>
              <a:rPr lang="en-US" sz="2800" dirty="0"/>
              <a:t>Prepared by</a:t>
            </a:r>
            <a:r>
              <a:rPr lang="fa-IR" sz="2800" dirty="0"/>
              <a:t>:</a:t>
            </a:r>
            <a:endParaRPr lang="en-US" sz="2800" dirty="0"/>
          </a:p>
          <a:p>
            <a:pPr>
              <a:defRPr sz="2400" b="1"/>
            </a:pPr>
            <a:r>
              <a:rPr lang="en-US" sz="2800" u="sng" dirty="0"/>
              <a:t>Yousef Nasibi</a:t>
            </a:r>
          </a:p>
          <a:p>
            <a:pPr>
              <a:defRPr sz="2400" b="1"/>
            </a:pPr>
            <a:endParaRPr lang="en-US" sz="2400" dirty="0"/>
          </a:p>
          <a:p>
            <a:pPr>
              <a:defRPr sz="2400" b="1"/>
            </a:pPr>
            <a:r>
              <a:rPr lang="en-US" sz="2800" dirty="0"/>
              <a:t>Data Visualization Project</a:t>
            </a:r>
            <a:endParaRPr lang="fa-I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A4E48B-553A-48CB-967B-21CAC51B6DFC}"/>
              </a:ext>
            </a:extLst>
          </p:cNvPr>
          <p:cNvSpPr txBox="1"/>
          <p:nvPr/>
        </p:nvSpPr>
        <p:spPr>
          <a:xfrm>
            <a:off x="304800" y="1938704"/>
            <a:ext cx="1163154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lang="en-US" sz="3200" dirty="0"/>
              <a:t>📈 </a:t>
            </a:r>
            <a:r>
              <a:rPr sz="3200" b="1" i="1" u="sng" dirty="0"/>
              <a:t>Strategy</a:t>
            </a:r>
            <a:r>
              <a:rPr sz="2800" b="1" i="1" u="sng" dirty="0"/>
              <a:t>:</a:t>
            </a:r>
            <a:endParaRPr lang="en-US" sz="2800" b="1" i="1" u="sng" dirty="0"/>
          </a:p>
          <a:p>
            <a:pPr>
              <a:defRPr sz="1800"/>
            </a:pPr>
            <a:endParaRPr lang="en-US" sz="2400" b="1" dirty="0"/>
          </a:p>
          <a:p>
            <a:pPr>
              <a:defRPr sz="1800"/>
            </a:pPr>
            <a:r>
              <a:rPr lang="en-US" sz="2400" b="1" dirty="0"/>
              <a:t>          • </a:t>
            </a:r>
            <a:r>
              <a:rPr sz="2400" b="1" dirty="0"/>
              <a:t>Compare 2020 and 2021, analyze trends, differences, growth and KPIs.</a:t>
            </a:r>
          </a:p>
          <a:p>
            <a:pPr>
              <a:defRPr sz="1800"/>
            </a:pPr>
            <a:endParaRPr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DC19BE-380B-2E35-E2E4-545C928B69EC}"/>
              </a:ext>
            </a:extLst>
          </p:cNvPr>
          <p:cNvSpPr txBox="1"/>
          <p:nvPr/>
        </p:nvSpPr>
        <p:spPr>
          <a:xfrm>
            <a:off x="216061" y="3672512"/>
            <a:ext cx="1175987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lang="en-US" sz="3200" dirty="0"/>
              <a:t>🎯</a:t>
            </a:r>
            <a:r>
              <a:rPr sz="3200" b="1" i="1" u="sng" dirty="0"/>
              <a:t>Objectives:</a:t>
            </a:r>
            <a:endParaRPr lang="en-US" sz="3200" b="1" i="1" u="sng" dirty="0"/>
          </a:p>
          <a:p>
            <a:pPr>
              <a:defRPr sz="1800"/>
            </a:pPr>
            <a:endParaRPr sz="2400" b="1" dirty="0"/>
          </a:p>
          <a:p>
            <a:pPr>
              <a:defRPr sz="1800"/>
            </a:pPr>
            <a:r>
              <a:rPr lang="en-US" sz="2800" b="1" dirty="0"/>
              <a:t>        </a:t>
            </a:r>
            <a:r>
              <a:rPr sz="2800" b="1" dirty="0"/>
              <a:t>• Compare monthly sales</a:t>
            </a:r>
          </a:p>
          <a:p>
            <a:pPr>
              <a:defRPr sz="1800"/>
            </a:pPr>
            <a:r>
              <a:rPr lang="en-US" sz="2800" b="1" dirty="0"/>
              <a:t>        </a:t>
            </a:r>
            <a:r>
              <a:rPr sz="2800" b="1" dirty="0"/>
              <a:t>• Identify trend reversals</a:t>
            </a:r>
          </a:p>
          <a:p>
            <a:pPr>
              <a:defRPr sz="1800"/>
            </a:pPr>
            <a:r>
              <a:rPr lang="en-US" sz="2800" b="1" dirty="0"/>
              <a:t>        </a:t>
            </a:r>
            <a:r>
              <a:rPr sz="2800" b="1" dirty="0"/>
              <a:t>• Evaluate yearly growth</a:t>
            </a:r>
          </a:p>
          <a:p>
            <a:pPr>
              <a:defRPr sz="1800"/>
            </a:pPr>
            <a:endParaRPr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83CEE3-872B-D6F6-0EBE-38451C888F93}"/>
              </a:ext>
            </a:extLst>
          </p:cNvPr>
          <p:cNvSpPr txBox="1"/>
          <p:nvPr/>
        </p:nvSpPr>
        <p:spPr>
          <a:xfrm>
            <a:off x="304800" y="143341"/>
            <a:ext cx="11759877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lang="en-US" sz="3200" dirty="0"/>
              <a:t>👁</a:t>
            </a:r>
            <a:r>
              <a:rPr sz="3200" b="1" i="1" u="sng" dirty="0"/>
              <a:t>Vision:</a:t>
            </a:r>
            <a:endParaRPr lang="en-US" sz="3200" b="1" i="1" u="sng" dirty="0"/>
          </a:p>
          <a:p>
            <a:pPr>
              <a:defRPr sz="1800"/>
            </a:pPr>
            <a:endParaRPr sz="2400" b="1" dirty="0"/>
          </a:p>
          <a:p>
            <a:pPr>
              <a:defRPr sz="1800"/>
            </a:pPr>
            <a:r>
              <a:rPr lang="en-US" sz="2800" b="1" dirty="0"/>
              <a:t>         • </a:t>
            </a:r>
            <a:r>
              <a:rPr sz="2800" b="1" dirty="0"/>
              <a:t>Provide actionable insights into monthly sales performance.</a:t>
            </a:r>
          </a:p>
          <a:p>
            <a:pPr>
              <a:defRPr sz="1800"/>
            </a:pPr>
            <a:endParaRPr sz="2000" b="1" dirty="0"/>
          </a:p>
        </p:txBody>
      </p:sp>
    </p:spTree>
    <p:extLst>
      <p:ext uri="{BB962C8B-B14F-4D97-AF65-F5344CB8AC3E}">
        <p14:creationId xmlns:p14="http://schemas.microsoft.com/office/powerpoint/2010/main" val="3003239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32933" y="138855"/>
            <a:ext cx="381809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rPr sz="3600" i="1" dirty="0"/>
              <a:t>Business Questions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4924F7-3980-FE9F-B9CA-E844C1DD8AB0}"/>
              </a:ext>
            </a:extLst>
          </p:cNvPr>
          <p:cNvSpPr txBox="1"/>
          <p:nvPr/>
        </p:nvSpPr>
        <p:spPr>
          <a:xfrm>
            <a:off x="1032933" y="920652"/>
            <a:ext cx="810928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?</a:t>
            </a:r>
          </a:p>
          <a:p>
            <a:r>
              <a:rPr lang="en-US" sz="2800" b="1" dirty="0"/>
              <a:t>How did sales change?</a:t>
            </a:r>
          </a:p>
          <a:p>
            <a:endParaRPr lang="en-US" sz="2800" b="1" dirty="0"/>
          </a:p>
          <a:p>
            <a:r>
              <a:rPr lang="en-US" sz="2800" b="1" dirty="0">
                <a:solidFill>
                  <a:schemeClr val="accent1"/>
                </a:solidFill>
              </a:rPr>
              <a:t>?</a:t>
            </a:r>
          </a:p>
          <a:p>
            <a:r>
              <a:rPr lang="en-US" sz="2800" b="1" dirty="0"/>
              <a:t>Which months contributed most?</a:t>
            </a:r>
          </a:p>
          <a:p>
            <a:endParaRPr lang="en-US" sz="2800" b="1" dirty="0"/>
          </a:p>
          <a:p>
            <a:r>
              <a:rPr lang="en-US" sz="2800" b="1" dirty="0">
                <a:solidFill>
                  <a:schemeClr val="accent1"/>
                </a:solidFill>
              </a:rPr>
              <a:t>?</a:t>
            </a:r>
          </a:p>
          <a:p>
            <a:r>
              <a:rPr lang="en-US" sz="2800" b="1" dirty="0"/>
              <a:t>When did trend reverse?</a:t>
            </a:r>
          </a:p>
          <a:p>
            <a:endParaRPr lang="en-US" sz="2800" b="1" dirty="0"/>
          </a:p>
          <a:p>
            <a:r>
              <a:rPr lang="en-US" sz="2800" b="1" dirty="0">
                <a:solidFill>
                  <a:schemeClr val="accent1"/>
                </a:solidFill>
              </a:rPr>
              <a:t>?</a:t>
            </a:r>
          </a:p>
          <a:p>
            <a:r>
              <a:rPr lang="en-US" sz="2800" b="1" dirty="0"/>
              <a:t>What is annual growth?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E2D36D-4A1E-B89C-F734-D9B42A2BA9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71225"/>
              </p:ext>
            </p:extLst>
          </p:nvPr>
        </p:nvGraphicFramePr>
        <p:xfrm>
          <a:off x="347240" y="185194"/>
          <a:ext cx="11678855" cy="5903091"/>
        </p:xfrm>
        <a:graphic>
          <a:graphicData uri="http://schemas.openxmlformats.org/drawingml/2006/table">
            <a:tbl>
              <a:tblPr firstRow="1" lastRow="1" bandRow="1" bandCol="1">
                <a:tableStyleId>{073A0DAA-6AF3-43AB-8588-CEC1D06C72B9}</a:tableStyleId>
              </a:tblPr>
              <a:tblGrid>
                <a:gridCol w="1884772">
                  <a:extLst>
                    <a:ext uri="{9D8B030D-6E8A-4147-A177-3AD203B41FA5}">
                      <a16:colId xmlns:a16="http://schemas.microsoft.com/office/drawing/2014/main" val="1592774126"/>
                    </a:ext>
                  </a:extLst>
                </a:gridCol>
                <a:gridCol w="1851115">
                  <a:extLst>
                    <a:ext uri="{9D8B030D-6E8A-4147-A177-3AD203B41FA5}">
                      <a16:colId xmlns:a16="http://schemas.microsoft.com/office/drawing/2014/main" val="2052873897"/>
                    </a:ext>
                  </a:extLst>
                </a:gridCol>
                <a:gridCol w="1851115">
                  <a:extLst>
                    <a:ext uri="{9D8B030D-6E8A-4147-A177-3AD203B41FA5}">
                      <a16:colId xmlns:a16="http://schemas.microsoft.com/office/drawing/2014/main" val="1819963551"/>
                    </a:ext>
                  </a:extLst>
                </a:gridCol>
                <a:gridCol w="4577304">
                  <a:extLst>
                    <a:ext uri="{9D8B030D-6E8A-4147-A177-3AD203B41FA5}">
                      <a16:colId xmlns:a16="http://schemas.microsoft.com/office/drawing/2014/main" val="941112859"/>
                    </a:ext>
                  </a:extLst>
                </a:gridCol>
                <a:gridCol w="1514549">
                  <a:extLst>
                    <a:ext uri="{9D8B030D-6E8A-4147-A177-3AD203B41FA5}">
                      <a16:colId xmlns:a16="http://schemas.microsoft.com/office/drawing/2014/main" val="3178197263"/>
                    </a:ext>
                  </a:extLst>
                </a:gridCol>
              </a:tblGrid>
              <a:tr h="418204">
                <a:tc rowSpan="2">
                  <a:txBody>
                    <a:bodyPr/>
                    <a:lstStyle/>
                    <a:p>
                      <a:pPr algn="ctr" rtl="1" fontAlgn="ctr"/>
                      <a:r>
                        <a:rPr lang="en-US" sz="2000" u="none" strike="noStrike" dirty="0">
                          <a:effectLst/>
                        </a:rPr>
                        <a:t>Month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800" u="none" strike="noStrike" dirty="0">
                          <a:effectLst/>
                        </a:rPr>
                        <a:t>Year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800" u="none" strike="noStrike" dirty="0">
                          <a:effectLst/>
                        </a:rPr>
                        <a:t>Year 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1" fontAlgn="ctr"/>
                      <a:r>
                        <a:rPr lang="en-US" sz="1800" u="none" strike="noStrike" dirty="0">
                          <a:effectLst/>
                        </a:rPr>
                        <a:t>Difference (2021 - 2020)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1" fontAlgn="ctr"/>
                      <a:r>
                        <a:rPr lang="en-US" sz="1800" u="none" strike="noStrike" dirty="0">
                          <a:effectLst/>
                        </a:rPr>
                        <a:t>Growth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2866412"/>
                  </a:ext>
                </a:extLst>
              </a:tr>
              <a:tr h="4182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2400" b="1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2020</a:t>
                      </a:r>
                      <a:endParaRPr lang="en-US" sz="1800" b="1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2400" b="1" u="none" strike="noStrike" dirty="0">
                          <a:solidFill>
                            <a:srgbClr val="00B0F0"/>
                          </a:solidFill>
                          <a:effectLst/>
                        </a:rPr>
                        <a:t>2021</a:t>
                      </a:r>
                      <a:endParaRPr lang="en-US" sz="1800" b="1" i="0" u="none" strike="noStrike" dirty="0">
                        <a:solidFill>
                          <a:srgbClr val="00B0F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227474"/>
                  </a:ext>
                </a:extLst>
              </a:tr>
              <a:tr h="386033"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January</a:t>
                      </a:r>
                      <a:endParaRPr lang="en-US" sz="16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en-US" sz="1600" b="1" u="none" strike="noStrike" dirty="0">
                          <a:effectLst/>
                        </a:rPr>
                        <a:t>$38,000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en-US" sz="1600" b="1" u="none" strike="noStrike" dirty="0">
                          <a:effectLst/>
                        </a:rPr>
                        <a:t>$99,000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u="none" strike="noStrike" dirty="0">
                          <a:effectLst/>
                        </a:rPr>
                        <a:t>$61,000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u="none" strike="noStrike" dirty="0">
                          <a:effectLst/>
                        </a:rPr>
                        <a:t>161%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3498781"/>
                  </a:ext>
                </a:extLst>
              </a:tr>
              <a:tr h="386033"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February</a:t>
                      </a:r>
                      <a:endParaRPr lang="en-US" sz="16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en-US" sz="1600" b="1" u="none" strike="noStrike" dirty="0">
                          <a:effectLst/>
                        </a:rPr>
                        <a:t>$47,000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en-US" sz="1600" b="1" u="none" strike="noStrike" dirty="0">
                          <a:effectLst/>
                        </a:rPr>
                        <a:t>$78,000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u="none" strike="noStrike" dirty="0">
                          <a:effectLst/>
                        </a:rPr>
                        <a:t>$31,000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u="none" strike="noStrike" dirty="0">
                          <a:effectLst/>
                        </a:rPr>
                        <a:t>66%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8841396"/>
                  </a:ext>
                </a:extLst>
              </a:tr>
              <a:tr h="386033"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March</a:t>
                      </a:r>
                      <a:endParaRPr lang="en-US" sz="16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en-US" sz="1600" b="1" u="none" strike="noStrike" dirty="0">
                          <a:effectLst/>
                        </a:rPr>
                        <a:t>$49,000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en-US" sz="1600" b="1" u="none" strike="noStrike" dirty="0">
                          <a:effectLst/>
                        </a:rPr>
                        <a:t>$90,000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u="none" strike="noStrike" dirty="0">
                          <a:effectLst/>
                        </a:rPr>
                        <a:t>$41,000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u="none" strike="noStrike" dirty="0">
                          <a:effectLst/>
                        </a:rPr>
                        <a:t>84%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934798"/>
                  </a:ext>
                </a:extLst>
              </a:tr>
              <a:tr h="386033"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April</a:t>
                      </a:r>
                      <a:endParaRPr lang="en-US" sz="16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en-US" sz="1600" b="1" u="none" strike="noStrike">
                          <a:effectLst/>
                        </a:rPr>
                        <a:t>$42,000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en-US" sz="1600" b="1" u="none" strike="noStrike" dirty="0">
                          <a:effectLst/>
                        </a:rPr>
                        <a:t>$77,000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u="none" strike="noStrike" dirty="0">
                          <a:effectLst/>
                        </a:rPr>
                        <a:t>$35,000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u="none" strike="noStrike" dirty="0">
                          <a:effectLst/>
                        </a:rPr>
                        <a:t>83%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5600484"/>
                  </a:ext>
                </a:extLst>
              </a:tr>
              <a:tr h="386033"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May</a:t>
                      </a:r>
                      <a:endParaRPr lang="en-US" sz="16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en-US" sz="1600" b="1" u="none" strike="noStrike">
                          <a:effectLst/>
                        </a:rPr>
                        <a:t>$42,000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en-US" sz="1600" b="1" u="none" strike="noStrike" dirty="0">
                          <a:effectLst/>
                        </a:rPr>
                        <a:t>$78,000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u="none" strike="noStrike" dirty="0">
                          <a:effectLst/>
                        </a:rPr>
                        <a:t>$36,000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u="none" strike="noStrike" dirty="0">
                          <a:effectLst/>
                        </a:rPr>
                        <a:t>86%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5300973"/>
                  </a:ext>
                </a:extLst>
              </a:tr>
              <a:tr h="386033"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June</a:t>
                      </a:r>
                      <a:endParaRPr lang="en-US" sz="16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en-US" sz="1600" b="1" u="none" strike="noStrike">
                          <a:effectLst/>
                        </a:rPr>
                        <a:t>$38,000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en-US" sz="1600" b="1" u="none" strike="noStrike">
                          <a:effectLst/>
                        </a:rPr>
                        <a:t>$71,000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u="none" strike="noStrike" dirty="0">
                          <a:effectLst/>
                        </a:rPr>
                        <a:t>$33,000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u="none" strike="noStrike" dirty="0">
                          <a:effectLst/>
                        </a:rPr>
                        <a:t>87%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6668413"/>
                  </a:ext>
                </a:extLst>
              </a:tr>
              <a:tr h="386033"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July</a:t>
                      </a:r>
                      <a:endParaRPr lang="en-US" sz="16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en-US" sz="1600" b="1" u="none" strike="noStrike">
                          <a:effectLst/>
                        </a:rPr>
                        <a:t>$43,000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en-US" sz="1600" b="1" u="none" strike="noStrike">
                          <a:effectLst/>
                        </a:rPr>
                        <a:t>$78,000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u="none" strike="noStrike" dirty="0">
                          <a:effectLst/>
                        </a:rPr>
                        <a:t>$35,000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u="none" strike="noStrike" dirty="0">
                          <a:effectLst/>
                        </a:rPr>
                        <a:t>81%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214165"/>
                  </a:ext>
                </a:extLst>
              </a:tr>
              <a:tr h="386033"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August</a:t>
                      </a:r>
                      <a:endParaRPr lang="en-US" sz="16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en-US" sz="1600" b="1" u="none" strike="noStrike">
                          <a:effectLst/>
                        </a:rPr>
                        <a:t>$52,000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en-US" sz="1600" b="1" u="none" strike="noStrike">
                          <a:effectLst/>
                        </a:rPr>
                        <a:t>$62,000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u="none" strike="noStrike" dirty="0">
                          <a:effectLst/>
                        </a:rPr>
                        <a:t>$10,000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u="none" strike="noStrike" dirty="0">
                          <a:effectLst/>
                        </a:rPr>
                        <a:t>19%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6458246"/>
                  </a:ext>
                </a:extLst>
              </a:tr>
              <a:tr h="386033"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September</a:t>
                      </a:r>
                      <a:endParaRPr lang="en-US" sz="16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en-US" sz="1600" b="1" u="none" strike="noStrike">
                          <a:effectLst/>
                        </a:rPr>
                        <a:t>$49,000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en-US" sz="1600" b="1" u="none" strike="noStrike">
                          <a:effectLst/>
                        </a:rPr>
                        <a:t>$68,000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u="none" strike="noStrike" dirty="0">
                          <a:effectLst/>
                        </a:rPr>
                        <a:t>$19,000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u="none" strike="noStrike" dirty="0">
                          <a:effectLst/>
                        </a:rPr>
                        <a:t>39%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237019"/>
                  </a:ext>
                </a:extLst>
              </a:tr>
              <a:tr h="386033"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October</a:t>
                      </a:r>
                      <a:endParaRPr lang="en-US" sz="16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en-US" sz="1600" b="1" u="none" strike="noStrike">
                          <a:effectLst/>
                        </a:rPr>
                        <a:t>$67,000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en-US" sz="1600" b="1" u="none" strike="noStrike">
                          <a:effectLst/>
                        </a:rPr>
                        <a:t>$50,000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u="none" strike="noStrike" dirty="0">
                          <a:effectLst/>
                        </a:rPr>
                        <a:t>-$17,000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u="none" strike="noStrike" dirty="0">
                          <a:effectLst/>
                        </a:rPr>
                        <a:t>-25%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487053"/>
                  </a:ext>
                </a:extLst>
              </a:tr>
              <a:tr h="386033"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November</a:t>
                      </a:r>
                      <a:endParaRPr lang="en-US" sz="16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en-US" sz="1600" b="1" u="none" strike="noStrike">
                          <a:effectLst/>
                        </a:rPr>
                        <a:t>$74,000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en-US" sz="1600" b="1" u="none" strike="noStrike">
                          <a:effectLst/>
                        </a:rPr>
                        <a:t>$43,000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u="none" strike="noStrike" dirty="0">
                          <a:effectLst/>
                        </a:rPr>
                        <a:t>-$31,000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u="none" strike="noStrike" dirty="0">
                          <a:effectLst/>
                        </a:rPr>
                        <a:t>-42%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4150290"/>
                  </a:ext>
                </a:extLst>
              </a:tr>
              <a:tr h="386033"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December</a:t>
                      </a:r>
                      <a:endParaRPr lang="en-US" sz="16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en-US" sz="1600" b="1" u="none" strike="noStrike">
                          <a:effectLst/>
                        </a:rPr>
                        <a:t>$86,000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en-US" sz="1600" b="1" u="none" strike="noStrike">
                          <a:effectLst/>
                        </a:rPr>
                        <a:t>$41,000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u="none" strike="noStrike" dirty="0">
                          <a:effectLst/>
                        </a:rPr>
                        <a:t>-$45,000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u="none" strike="noStrike" dirty="0">
                          <a:effectLst/>
                        </a:rPr>
                        <a:t>-52%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9720534"/>
                  </a:ext>
                </a:extLst>
              </a:tr>
              <a:tr h="434287"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total</a:t>
                      </a:r>
                      <a:endParaRPr 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80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$</a:t>
                      </a:r>
                      <a:r>
                        <a:rPr lang="en-US" sz="1800" u="none" strike="noStrike" dirty="0">
                          <a:solidFill>
                            <a:schemeClr val="tx1">
                              <a:lumMod val="65000"/>
                            </a:schemeClr>
                          </a:solidFill>
                          <a:effectLst/>
                        </a:rPr>
                        <a:t>627,000</a:t>
                      </a:r>
                      <a:endParaRPr lang="en-US" sz="1800" b="1" i="0" u="none" strike="noStrike" dirty="0">
                        <a:solidFill>
                          <a:schemeClr val="tx1">
                            <a:lumMod val="65000"/>
                          </a:schemeClr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800" u="none" strike="noStrike" dirty="0">
                          <a:solidFill>
                            <a:srgbClr val="00B0F0"/>
                          </a:solidFill>
                          <a:effectLst/>
                        </a:rPr>
                        <a:t>$835,000</a:t>
                      </a:r>
                      <a:endParaRPr lang="en-US" sz="1800" b="1" i="0" u="none" strike="noStrike" dirty="0">
                        <a:solidFill>
                          <a:srgbClr val="00B0F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8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$208,000</a:t>
                      </a:r>
                      <a:endParaRPr lang="en-US" sz="1800" b="1" i="0" u="none" strike="noStrike" dirty="0">
                        <a:solidFill>
                          <a:srgbClr val="00B05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8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33.2%</a:t>
                      </a:r>
                      <a:endParaRPr lang="en-US" sz="18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6635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7300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2D03DBDD-C37B-7014-0E64-673F8A27653A}"/>
              </a:ext>
            </a:extLst>
          </p:cNvPr>
          <p:cNvGrpSpPr/>
          <p:nvPr/>
        </p:nvGrpSpPr>
        <p:grpSpPr>
          <a:xfrm>
            <a:off x="127322" y="81023"/>
            <a:ext cx="11945073" cy="3596243"/>
            <a:chOff x="0" y="0"/>
            <a:chExt cx="6352025" cy="2647786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0C4CABC-A27E-B033-349D-615619C5B28B}"/>
                </a:ext>
              </a:extLst>
            </p:cNvPr>
            <p:cNvGrpSpPr/>
            <p:nvPr/>
          </p:nvGrpSpPr>
          <p:grpSpPr>
            <a:xfrm>
              <a:off x="0" y="0"/>
              <a:ext cx="6352025" cy="2647786"/>
              <a:chOff x="0" y="0"/>
              <a:chExt cx="6352025" cy="2374766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4290AC56-94E8-078C-1C13-25812C7C3497}"/>
                  </a:ext>
                </a:extLst>
              </p:cNvPr>
              <p:cNvGrpSpPr/>
              <p:nvPr/>
            </p:nvGrpSpPr>
            <p:grpSpPr>
              <a:xfrm>
                <a:off x="0" y="0"/>
                <a:ext cx="6347460" cy="2308860"/>
                <a:chOff x="0" y="0"/>
                <a:chExt cx="6347460" cy="2308860"/>
              </a:xfrm>
            </p:grpSpPr>
            <p:graphicFrame>
              <p:nvGraphicFramePr>
                <p:cNvPr id="43" name="Chart 42">
                  <a:extLst>
                    <a:ext uri="{FF2B5EF4-FFF2-40B4-BE49-F238E27FC236}">
                      <a16:creationId xmlns:a16="http://schemas.microsoft.com/office/drawing/2014/main" id="{125728AC-ACD3-7242-C518-BE7FBCF80961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520548012"/>
                    </p:ext>
                  </p:extLst>
                </p:nvPr>
              </p:nvGraphicFramePr>
              <p:xfrm>
                <a:off x="0" y="0"/>
                <a:ext cx="6347460" cy="2308860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2"/>
                </a:graphicData>
              </a:graphic>
            </p:graphicFrame>
            <p:sp>
              <p:nvSpPr>
                <p:cNvPr id="44" name="TextBox 3">
                  <a:extLst>
                    <a:ext uri="{FF2B5EF4-FFF2-40B4-BE49-F238E27FC236}">
                      <a16:creationId xmlns:a16="http://schemas.microsoft.com/office/drawing/2014/main" id="{53E0ACF0-4262-6B9E-3C76-C7F82B02702F}"/>
                    </a:ext>
                  </a:extLst>
                </p:cNvPr>
                <p:cNvSpPr txBox="1"/>
                <p:nvPr/>
              </p:nvSpPr>
              <p:spPr>
                <a:xfrm>
                  <a:off x="5900795" y="707029"/>
                  <a:ext cx="348330" cy="20298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  <p:txBody>
                <a:bodyPr wrap="square" rtlCol="0" anchor="t">
                  <a:spAutoFit/>
                </a:bodyPr>
                <a:lstStyle>
                  <a:lvl1pPr marL="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fa-IR" sz="1200" b="1">
                      <a:solidFill>
                        <a:srgbClr val="7F7F7F"/>
                      </a:solidFill>
                    </a:rPr>
                    <a:t>2020</a:t>
                  </a:r>
                  <a:endParaRPr lang="en-US" sz="1100" b="1">
                    <a:solidFill>
                      <a:srgbClr val="7F7F7F"/>
                    </a:solidFill>
                  </a:endParaRPr>
                </a:p>
              </p:txBody>
            </p:sp>
            <p:sp>
              <p:nvSpPr>
                <p:cNvPr id="45" name="TextBox 5">
                  <a:extLst>
                    <a:ext uri="{FF2B5EF4-FFF2-40B4-BE49-F238E27FC236}">
                      <a16:creationId xmlns:a16="http://schemas.microsoft.com/office/drawing/2014/main" id="{82A056E2-E048-47F3-8FC4-165D4F6F055D}"/>
                    </a:ext>
                  </a:extLst>
                </p:cNvPr>
                <p:cNvSpPr txBox="1"/>
                <p:nvPr/>
              </p:nvSpPr>
              <p:spPr>
                <a:xfrm>
                  <a:off x="5960216" y="1425038"/>
                  <a:ext cx="387244" cy="20298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  <p:txBody>
                <a:bodyPr wrap="square" rtlCol="0" anchor="t">
                  <a:spAutoFit/>
                </a:bodyPr>
                <a:lstStyle>
                  <a:lvl1pPr marL="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fa-IR" sz="1200" b="1">
                      <a:solidFill>
                        <a:srgbClr val="00B0F0"/>
                      </a:solidFill>
                      <a:latin typeface="+mn-lt"/>
                      <a:ea typeface="+mn-ea"/>
                      <a:cs typeface="+mn-cs"/>
                    </a:rPr>
                    <a:t>2021</a:t>
                  </a:r>
                  <a:endParaRPr lang="en-US" sz="1100" b="1">
                    <a:solidFill>
                      <a:srgbClr val="00B0F0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F9BC1A37-7F9B-B57F-BB44-572CB04A29E9}"/>
                  </a:ext>
                </a:extLst>
              </p:cNvPr>
              <p:cNvSpPr/>
              <p:nvPr/>
            </p:nvSpPr>
            <p:spPr>
              <a:xfrm rot="5400000">
                <a:off x="3162236" y="-815022"/>
                <a:ext cx="38821" cy="634075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lang="en-US" sz="1100"/>
              </a:p>
            </p:txBody>
          </p:sp>
        </p:grpSp>
        <p:pic>
          <p:nvPicPr>
            <p:cNvPr id="38" name="Graphic 12" descr="Arrow: Straight with solid fill">
              <a:extLst>
                <a:ext uri="{FF2B5EF4-FFF2-40B4-BE49-F238E27FC236}">
                  <a16:creationId xmlns:a16="http://schemas.microsoft.com/office/drawing/2014/main" id="{71EE450D-1C28-1263-F016-72C0F0C3F8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4569240" y="886498"/>
              <a:ext cx="426720" cy="266700"/>
            </a:xfrm>
            <a:prstGeom prst="rect">
              <a:avLst/>
            </a:prstGeom>
          </p:spPr>
        </p:pic>
        <p:sp>
          <p:nvSpPr>
            <p:cNvPr id="39" name="Text Box 2">
              <a:extLst>
                <a:ext uri="{FF2B5EF4-FFF2-40B4-BE49-F238E27FC236}">
                  <a16:creationId xmlns:a16="http://schemas.microsoft.com/office/drawing/2014/main" id="{98B62317-D547-3CC7-AFB9-FA412AF1AD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7362" y="671509"/>
              <a:ext cx="510559" cy="2819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36576" tIns="32004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>
                <a:defRPr sz="1000"/>
              </a:pPr>
              <a:r>
                <a:rPr lang="en-US" sz="1100" b="0" i="0" u="none" strike="noStrike" baseline="0" dirty="0">
                  <a:latin typeface="Calibri"/>
                  <a:ea typeface="Calibri"/>
                  <a:cs typeface="B Nazanin" panose="00000400000000000000" pitchFamily="2" charset="-78"/>
                </a:rPr>
                <a:t>Trend Reversal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B1AE9B1-4156-49A2-6934-FA6362D3E169}"/>
              </a:ext>
            </a:extLst>
          </p:cNvPr>
          <p:cNvSpPr txBox="1"/>
          <p:nvPr/>
        </p:nvSpPr>
        <p:spPr>
          <a:xfrm>
            <a:off x="8784" y="3735219"/>
            <a:ext cx="12157814" cy="64633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E8EAED"/>
                </a:solidFill>
                <a:effectLst/>
                <a:latin typeface="inherit"/>
              </a:rPr>
              <a:t>The year </a:t>
            </a:r>
            <a:r>
              <a:rPr kumimoji="0" lang="en-US" altLang="en-US" sz="1800" b="1" i="0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inherit"/>
              </a:rPr>
              <a:t>2021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E8EAED"/>
                </a:solidFill>
                <a:effectLst/>
                <a:latin typeface="inherit"/>
              </a:rPr>
              <a:t> began with a stunning surge, peaking in January with a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inherit"/>
              </a:rPr>
              <a:t>161%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E8EAED"/>
                </a:solidFill>
                <a:effectLst/>
                <a:latin typeface="inherit"/>
              </a:rPr>
              <a:t> growth rate. This strong performance continued through the end of September, establishing a comfortable profit margin for the organization.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D8CEF2-FA2D-7EA8-ADD5-EF4DC230A136}"/>
              </a:ext>
            </a:extLst>
          </p:cNvPr>
          <p:cNvSpPr txBox="1"/>
          <p:nvPr/>
        </p:nvSpPr>
        <p:spPr>
          <a:xfrm>
            <a:off x="25718" y="4531849"/>
            <a:ext cx="12132570" cy="92333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October served as a turning point, marking the first time the </a:t>
            </a:r>
            <a:r>
              <a:rPr lang="en-US" dirty="0">
                <a:solidFill>
                  <a:srgbClr val="00B0F0"/>
                </a:solidFill>
              </a:rPr>
              <a:t>2021</a:t>
            </a:r>
            <a:r>
              <a:rPr lang="en-US" dirty="0"/>
              <a:t> sales figures fell 25% behind the previous year's levels. This alarm signal intensified in December, when sales plummeted by 52% (a drop of $45,000)—resulting in December </a:t>
            </a:r>
            <a:r>
              <a:rPr lang="en-US" dirty="0">
                <a:solidFill>
                  <a:srgbClr val="4C6E7A"/>
                </a:solidFill>
              </a:rPr>
              <a:t>2020</a:t>
            </a:r>
            <a:r>
              <a:rPr lang="en-US" dirty="0"/>
              <a:t> sales figures that were more than double those of December </a:t>
            </a:r>
            <a:r>
              <a:rPr lang="en-US" dirty="0">
                <a:solidFill>
                  <a:srgbClr val="00B0F0"/>
                </a:solidFill>
              </a:rPr>
              <a:t>2021</a:t>
            </a:r>
            <a:r>
              <a:rPr lang="en-US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C4ECC5-87D7-B921-DEE1-28AC413FC07F}"/>
              </a:ext>
            </a:extLst>
          </p:cNvPr>
          <p:cNvSpPr txBox="1"/>
          <p:nvPr/>
        </p:nvSpPr>
        <p:spPr>
          <a:xfrm>
            <a:off x="8784" y="5599119"/>
            <a:ext cx="12183215" cy="1200329"/>
          </a:xfrm>
          <a:prstGeom prst="rect">
            <a:avLst/>
          </a:prstGeom>
          <a:solidFill>
            <a:schemeClr val="tx2">
              <a:lumMod val="90000"/>
            </a:schemeClr>
          </a:solidFill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Although an unprecedented surge in sales during the first nine months of the year managed to offset the crisis and sharp decline of the fourth quarter (Q4)—keeping full-year growth in positive territory (up 33.2% year-over-year)—this growth model is unsustainable due to extreme vulnerability during the colder seasons, necessitating a serious re-evaluation of the winter sales strategy.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62CD8F9-BA27-37C8-F119-A1F3F795713A}"/>
              </a:ext>
            </a:extLst>
          </p:cNvPr>
          <p:cNvGrpSpPr/>
          <p:nvPr/>
        </p:nvGrpSpPr>
        <p:grpSpPr>
          <a:xfrm>
            <a:off x="115747" y="289367"/>
            <a:ext cx="11968223" cy="5822066"/>
            <a:chOff x="0" y="0"/>
            <a:chExt cx="7200900" cy="5029941"/>
          </a:xfrm>
          <a:noFill/>
        </p:grpSpPr>
        <p:graphicFrame>
          <p:nvGraphicFramePr>
            <p:cNvPr id="3" name="Chart 2">
              <a:extLst>
                <a:ext uri="{FF2B5EF4-FFF2-40B4-BE49-F238E27FC236}">
                  <a16:creationId xmlns:a16="http://schemas.microsoft.com/office/drawing/2014/main" id="{596D4A12-33FC-FC56-3044-D834E18FFA6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947188763"/>
                </p:ext>
              </p:extLst>
            </p:nvPr>
          </p:nvGraphicFramePr>
          <p:xfrm>
            <a:off x="7622" y="0"/>
            <a:ext cx="7193278" cy="2743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4BFC8ED-4FD5-4875-A27E-19064B4F52C7}"/>
                </a:ext>
              </a:extLst>
            </p:cNvPr>
            <p:cNvSpPr/>
            <p:nvPr/>
          </p:nvSpPr>
          <p:spPr>
            <a:xfrm rot="5400000">
              <a:off x="3573779" y="-792476"/>
              <a:ext cx="60961" cy="71932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100"/>
            </a:p>
          </p:txBody>
        </p:sp>
        <p:sp>
          <p:nvSpPr>
            <p:cNvPr id="5" name="Text Box 1">
              <a:extLst>
                <a:ext uri="{FF2B5EF4-FFF2-40B4-BE49-F238E27FC236}">
                  <a16:creationId xmlns:a16="http://schemas.microsoft.com/office/drawing/2014/main" id="{D3BC187C-3CDF-4651-B88C-40A97BD18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850990"/>
              <a:ext cx="7193280" cy="217895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square" lIns="36576" tIns="32004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>
                <a:defRPr sz="1000"/>
              </a:pPr>
              <a:r>
                <a:rPr lang="en-US" sz="2400" b="1" i="1" u="none" strike="noStrike" baseline="0" dirty="0">
                  <a:latin typeface="Calibri"/>
                  <a:ea typeface="Calibri"/>
                  <a:cs typeface="B Nazanin" panose="00000400000000000000" pitchFamily="2" charset="-78"/>
                </a:rPr>
                <a:t>Insight</a:t>
              </a:r>
              <a:r>
                <a:rPr lang="fa-IR" sz="2400" b="1" i="1" u="none" strike="noStrike" baseline="0" dirty="0">
                  <a:latin typeface="Calibri"/>
                  <a:ea typeface="Calibri"/>
                  <a:cs typeface="B Nazanin" panose="00000400000000000000" pitchFamily="2" charset="-78"/>
                </a:rPr>
                <a:t>:</a:t>
              </a:r>
            </a:p>
            <a:p>
              <a:pPr algn="l" rtl="0">
                <a:defRPr sz="1000"/>
              </a:pPr>
              <a:endParaRPr lang="en-US" sz="1200" b="0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B Nazanin" panose="00000400000000000000" pitchFamily="2" charset="-78"/>
              </a:endParaRPr>
            </a:p>
            <a:p>
              <a:pPr marL="0" indent="0" algn="l" rtl="0">
                <a:defRPr sz="1000"/>
              </a:pPr>
              <a:r>
                <a:rPr lang="en-US" sz="2000" dirty="0"/>
                <a:t>• Monthly sales differences remained positive from </a:t>
              </a:r>
              <a:r>
                <a:rPr lang="en-US" sz="2000" b="1" u="sng" dirty="0">
                  <a:solidFill>
                    <a:srgbClr val="2E7D32"/>
                  </a:solidFill>
                </a:rPr>
                <a:t>January</a:t>
              </a:r>
              <a:r>
                <a:rPr lang="en-US" sz="2000" dirty="0"/>
                <a:t> through </a:t>
              </a:r>
              <a:r>
                <a:rPr lang="en-US" sz="2000" b="1" u="sng" dirty="0">
                  <a:solidFill>
                    <a:srgbClr val="7F7F7F"/>
                  </a:solidFill>
                </a:rPr>
                <a:t>September</a:t>
              </a:r>
              <a:r>
                <a:rPr lang="en-US" sz="2000" dirty="0"/>
                <a:t>.</a:t>
              </a:r>
              <a:endParaRPr lang="fa-IR" sz="2000" dirty="0"/>
            </a:p>
            <a:p>
              <a:pPr marL="0" indent="0" algn="l" rtl="0">
                <a:defRPr sz="1000"/>
              </a:pPr>
              <a:endParaRPr lang="fa-IR" sz="1800" dirty="0"/>
            </a:p>
            <a:p>
              <a:pPr marL="0" indent="0" algn="l" rtl="0">
                <a:defRPr sz="1000"/>
              </a:pPr>
              <a:r>
                <a:rPr lang="en-US" sz="2000" dirty="0"/>
                <a:t>• </a:t>
              </a:r>
              <a:r>
                <a:rPr lang="en-US" sz="2000" b="1" u="sng" dirty="0">
                  <a:solidFill>
                    <a:srgbClr val="C62828"/>
                  </a:solidFill>
                </a:rPr>
                <a:t>October</a:t>
              </a:r>
              <a:r>
                <a:rPr lang="en-US" sz="2000" dirty="0"/>
                <a:t> marked the first negative year-over-year difference.</a:t>
              </a:r>
              <a:endParaRPr lang="fa-IR" sz="2000" dirty="0"/>
            </a:p>
            <a:p>
              <a:pPr marL="0" indent="0" algn="l" rtl="0">
                <a:defRPr sz="1000"/>
              </a:pPr>
              <a:endParaRPr lang="fa-IR" sz="1800" dirty="0"/>
            </a:p>
            <a:p>
              <a:pPr marL="0" indent="0" algn="l" rtl="0">
                <a:defRPr sz="1000"/>
              </a:pPr>
              <a:r>
                <a:rPr lang="en-US" sz="1800" dirty="0"/>
                <a:t>•</a:t>
              </a:r>
              <a:r>
                <a:rPr lang="en-US" sz="1800" b="1" dirty="0"/>
                <a:t> </a:t>
              </a:r>
              <a:r>
                <a:rPr lang="en-US" sz="1800" b="1" u="sng" dirty="0">
                  <a:solidFill>
                    <a:srgbClr val="C62828"/>
                  </a:solidFill>
                </a:rPr>
                <a:t>December</a:t>
              </a:r>
              <a:r>
                <a:rPr lang="en-US" sz="1800" b="1" dirty="0"/>
                <a:t> </a:t>
              </a:r>
              <a:r>
                <a:rPr lang="en-US" sz="2000" dirty="0"/>
                <a:t>recorded the largest decline </a:t>
              </a:r>
              <a:r>
                <a:rPr lang="en-US" sz="2400" b="1" dirty="0">
                  <a:solidFill>
                    <a:srgbClr val="FF0000"/>
                  </a:solidFill>
                </a:rPr>
                <a:t>(</a:t>
              </a:r>
              <a:r>
                <a:rPr lang="en-US" sz="1800" b="1" i="0" u="sng" strike="noStrike" dirty="0">
                  <a:solidFill>
                    <a:srgbClr val="FF0000"/>
                  </a:solidFill>
                  <a:effectLst/>
                  <a:latin typeface="+mn-lt"/>
                  <a:ea typeface="+mn-ea"/>
                  <a:cs typeface="+mn-cs"/>
                </a:rPr>
                <a:t>-$45,000</a:t>
              </a:r>
              <a:r>
                <a:rPr lang="en-US" sz="2400" b="1" dirty="0">
                  <a:solidFill>
                    <a:srgbClr val="FF0000"/>
                  </a:solidFill>
                </a:rPr>
                <a:t>).</a:t>
              </a:r>
              <a:endParaRPr lang="en-US" sz="1800" b="1" dirty="0">
                <a:solidFill>
                  <a:srgbClr val="FF0000"/>
                </a:solidFill>
                <a:latin typeface="+mn-lt"/>
                <a:ea typeface="+mn-ea"/>
                <a:cs typeface="+mn-cs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499985-FEA7-179C-262F-70A3A9286E32}"/>
              </a:ext>
            </a:extLst>
          </p:cNvPr>
          <p:cNvCxnSpPr>
            <a:cxnSpLocks/>
          </p:cNvCxnSpPr>
          <p:nvPr/>
        </p:nvCxnSpPr>
        <p:spPr>
          <a:xfrm flipV="1">
            <a:off x="745067" y="2048933"/>
            <a:ext cx="11247120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6828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C56D52AC-7B3B-13B2-CCBD-D0E28AB79A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2550503"/>
              </p:ext>
            </p:extLst>
          </p:nvPr>
        </p:nvGraphicFramePr>
        <p:xfrm>
          <a:off x="136647" y="398498"/>
          <a:ext cx="11958897" cy="35021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Text Box 1">
            <a:extLst>
              <a:ext uri="{FF2B5EF4-FFF2-40B4-BE49-F238E27FC236}">
                <a16:creationId xmlns:a16="http://schemas.microsoft.com/office/drawing/2014/main" id="{86865787-2931-4BE0-9CE5-1C6EF74C2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57" y="3900668"/>
            <a:ext cx="11958896" cy="2831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576" tIns="32004" rIns="0" bIns="0" anchor="t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>
              <a:defRPr sz="1000"/>
            </a:pPr>
            <a:r>
              <a:rPr lang="en-US" sz="2800" b="1" i="1" u="none" strike="noStrike" baseline="0" dirty="0">
                <a:latin typeface="Calibri"/>
                <a:ea typeface="Calibri"/>
                <a:cs typeface="B Nazanin" panose="00000400000000000000" pitchFamily="2" charset="-78"/>
              </a:rPr>
              <a:t>Insight</a:t>
            </a:r>
            <a:r>
              <a:rPr lang="fa-IR" sz="2800" b="1" i="1" u="none" strike="noStrike" baseline="0" dirty="0">
                <a:latin typeface="Calibri"/>
                <a:ea typeface="Calibri"/>
                <a:cs typeface="B Nazanin" panose="00000400000000000000" pitchFamily="2" charset="-78"/>
              </a:rPr>
              <a:t>:</a:t>
            </a:r>
          </a:p>
          <a:p>
            <a:pPr algn="l" rtl="0">
              <a:defRPr sz="1000"/>
            </a:pPr>
            <a:endParaRPr lang="en-US" sz="1200" b="0" i="0" u="none" strike="noStrike" baseline="0" dirty="0">
              <a:solidFill>
                <a:srgbClr val="000000"/>
              </a:solidFill>
              <a:latin typeface="Calibri"/>
              <a:ea typeface="Calibri"/>
              <a:cs typeface="B Nazanin" panose="00000400000000000000" pitchFamily="2" charset="-78"/>
            </a:endParaRPr>
          </a:p>
          <a:p>
            <a:pPr marL="0" indent="0" algn="l" rtl="0">
              <a:defRPr sz="1000"/>
            </a:pPr>
            <a:r>
              <a:rPr lang="en-US" sz="2000" b="1" dirty="0"/>
              <a:t>• </a:t>
            </a:r>
            <a:r>
              <a:rPr lang="en-US" sz="2400" b="1" i="0" u="none" strike="noStrike" kern="1200" spc="0" baseline="0" dirty="0">
                <a:solidFill>
                  <a:srgbClr val="00B0F0"/>
                </a:solidFill>
                <a:latin typeface="+mn-lt"/>
                <a:ea typeface="+mn-ea"/>
                <a:cs typeface="+mn-cs"/>
              </a:rPr>
              <a:t>2021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achieved a higher average monthly sales level </a:t>
            </a:r>
            <a:r>
              <a:rPr lang="en-US" sz="2000" b="1" i="0" u="none" strike="noStrike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 </a:t>
            </a:r>
            <a:r>
              <a:rPr lang="en-US" sz="2400" b="1" i="0" u="none" strike="noStrike" kern="1200" spc="0" baseline="0" dirty="0">
                <a:solidFill>
                  <a:srgbClr val="A6A6A6"/>
                </a:solidFill>
                <a:latin typeface="+mn-lt"/>
                <a:ea typeface="+mn-ea"/>
                <a:cs typeface="+mn-cs"/>
              </a:rPr>
              <a:t>2020</a:t>
            </a:r>
            <a:r>
              <a:rPr lang="en-US" sz="2400" b="1" dirty="0"/>
              <a:t>.</a:t>
            </a:r>
            <a:endParaRPr lang="fa-IR" sz="2400" b="1" dirty="0"/>
          </a:p>
          <a:p>
            <a:pPr marL="0" indent="0" algn="l" rtl="0">
              <a:defRPr sz="1000"/>
            </a:pPr>
            <a:endParaRPr lang="fa-IR" sz="1800" dirty="0"/>
          </a:p>
          <a:p>
            <a:pPr marL="0" indent="0" algn="l" rtl="0">
              <a:defRPr sz="1000"/>
            </a:pPr>
            <a:r>
              <a:rPr lang="en-US" sz="1800" b="1" dirty="0"/>
              <a:t>• </a:t>
            </a:r>
            <a:r>
              <a:rPr lang="en-US" sz="2400" b="1" dirty="0"/>
              <a:t>Both the highest and lowest monthly sales values increased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, </a:t>
            </a:r>
            <a:r>
              <a:rPr lang="en-US" sz="2400" b="1" dirty="0">
                <a:solidFill>
                  <a:srgbClr val="00B050"/>
                </a:solidFill>
              </a:rPr>
              <a:t>indicating an overall improvement in sales performance.</a:t>
            </a:r>
            <a:endParaRPr lang="en-US" sz="1800" b="1" dirty="0">
              <a:solidFill>
                <a:srgbClr val="00B05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C26ACB-1FAF-D6EE-904D-5ED7768E0305}"/>
              </a:ext>
            </a:extLst>
          </p:cNvPr>
          <p:cNvSpPr txBox="1"/>
          <p:nvPr/>
        </p:nvSpPr>
        <p:spPr>
          <a:xfrm>
            <a:off x="300737" y="873337"/>
            <a:ext cx="594208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800" dirty="0"/>
              <a:t>🏆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F95347-9C04-195E-AD02-20C156B413EB}"/>
              </a:ext>
            </a:extLst>
          </p:cNvPr>
          <p:cNvSpPr txBox="1"/>
          <p:nvPr/>
        </p:nvSpPr>
        <p:spPr>
          <a:xfrm>
            <a:off x="291417" y="1832484"/>
            <a:ext cx="476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📊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61436B-48B7-710B-53F7-B19638AAA4B8}"/>
              </a:ext>
            </a:extLst>
          </p:cNvPr>
          <p:cNvSpPr txBox="1"/>
          <p:nvPr/>
        </p:nvSpPr>
        <p:spPr>
          <a:xfrm>
            <a:off x="364377" y="2803021"/>
            <a:ext cx="4669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📉</a:t>
            </a:r>
          </a:p>
        </p:txBody>
      </p:sp>
    </p:spTree>
    <p:extLst>
      <p:ext uri="{BB962C8B-B14F-4D97-AF65-F5344CB8AC3E}">
        <p14:creationId xmlns:p14="http://schemas.microsoft.com/office/powerpoint/2010/main" val="4081317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0678306-3ED5-A8DD-BEE8-2103178916C7}"/>
              </a:ext>
            </a:extLst>
          </p:cNvPr>
          <p:cNvGrpSpPr/>
          <p:nvPr/>
        </p:nvGrpSpPr>
        <p:grpSpPr>
          <a:xfrm>
            <a:off x="0" y="0"/>
            <a:ext cx="12095544" cy="6076709"/>
            <a:chOff x="2" y="0"/>
            <a:chExt cx="8157824" cy="274161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B5DE03E-FC50-924B-9531-AAD0BDAC6F87}"/>
                </a:ext>
              </a:extLst>
            </p:cNvPr>
            <p:cNvGrpSpPr/>
            <p:nvPr/>
          </p:nvGrpSpPr>
          <p:grpSpPr>
            <a:xfrm>
              <a:off x="2" y="26361"/>
              <a:ext cx="6073551" cy="2660592"/>
              <a:chOff x="0" y="26361"/>
              <a:chExt cx="5951610" cy="2720283"/>
            </a:xfrm>
          </p:grpSpPr>
          <mc:AlternateContent xmlns:mc="http://schemas.openxmlformats.org/markup-compatibility/2006" xmlns:cx1="http://schemas.microsoft.com/office/drawing/2015/9/8/chartex">
            <mc:Choice Requires="cx1">
              <p:graphicFrame>
                <p:nvGraphicFramePr>
                  <p:cNvPr id="9" name="Chart 8">
                    <a:extLst>
                      <a:ext uri="{FF2B5EF4-FFF2-40B4-BE49-F238E27FC236}">
                        <a16:creationId xmlns:a16="http://schemas.microsoft.com/office/drawing/2014/main" id="{B03188A0-FD1F-F983-2CB1-0EE63083FA50}"/>
                      </a:ext>
                    </a:extLst>
                  </p:cNvPr>
                  <p:cNvGraphicFramePr/>
                  <p:nvPr>
                    <p:extLst>
                      <p:ext uri="{D42A27DB-BD31-4B8C-83A1-F6EECF244321}">
                        <p14:modId xmlns:p14="http://schemas.microsoft.com/office/powerpoint/2010/main" val="2745705147"/>
                      </p:ext>
                    </p:extLst>
                  </p:nvPr>
                </p:nvGraphicFramePr>
                <p:xfrm>
                  <a:off x="0" y="26361"/>
                  <a:ext cx="5949205" cy="2720283"/>
                </p:xfrm>
                <a:graphic>
                  <a:graphicData uri="http://schemas.microsoft.com/office/drawing/2014/chartex">
                    <cx:chart xmlns:cx="http://schemas.microsoft.com/office/drawing/2014/chartex" xmlns:r="http://schemas.openxmlformats.org/officeDocument/2006/relationships" r:id="rId2"/>
                  </a:graphicData>
                </a:graphic>
              </p:graphicFrame>
            </mc:Choice>
            <mc:Fallback xmlns="">
              <p:pic>
                <p:nvPicPr>
                  <p:cNvPr id="9" name="Chart 8">
                    <a:extLst>
                      <a:ext uri="{FF2B5EF4-FFF2-40B4-BE49-F238E27FC236}">
                        <a16:creationId xmlns:a16="http://schemas.microsoft.com/office/drawing/2014/main" id="{B03188A0-FD1F-F983-2CB1-0EE63083FA50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0" y="58428"/>
                    <a:ext cx="9001569" cy="5897120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F8FDB4C-6819-F894-1A40-524F38B3BA74}"/>
                  </a:ext>
                </a:extLst>
              </p:cNvPr>
              <p:cNvSpPr/>
              <p:nvPr/>
            </p:nvSpPr>
            <p:spPr>
              <a:xfrm>
                <a:off x="1900" y="875175"/>
                <a:ext cx="548884" cy="16480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600" b="1" dirty="0">
                    <a:solidFill>
                      <a:schemeClr val="tx1"/>
                    </a:solidFill>
                  </a:rPr>
                  <a:t>$627K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88DA813-B376-4883-982F-7DBAEC6C6E5C}"/>
                  </a:ext>
                </a:extLst>
              </p:cNvPr>
              <p:cNvSpPr/>
              <p:nvPr/>
            </p:nvSpPr>
            <p:spPr>
              <a:xfrm>
                <a:off x="5404366" y="45688"/>
                <a:ext cx="547244" cy="16294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600" b="1" dirty="0">
                    <a:solidFill>
                      <a:schemeClr val="tx1"/>
                    </a:solidFill>
                  </a:rPr>
                  <a:t>$835K</a:t>
                </a:r>
              </a:p>
            </p:txBody>
          </p:sp>
          <p:pic>
            <p:nvPicPr>
              <p:cNvPr id="12" name="Graphic 18" descr="Arrow: Straight with solid fill">
                <a:extLst>
                  <a:ext uri="{FF2B5EF4-FFF2-40B4-BE49-F238E27FC236}">
                    <a16:creationId xmlns:a16="http://schemas.microsoft.com/office/drawing/2014/main" id="{962C60E5-3A93-40DB-AEA0-B12C1F4BB5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rot="16200000">
                <a:off x="4332622" y="2468452"/>
                <a:ext cx="181688" cy="180266"/>
              </a:xfrm>
              <a:prstGeom prst="rect">
                <a:avLst/>
              </a:prstGeom>
            </p:spPr>
          </p:pic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37E272B-C0C2-40A3-9C71-DE54EBCDD6A5}"/>
                  </a:ext>
                </a:extLst>
              </p:cNvPr>
              <p:cNvSpPr/>
              <p:nvPr/>
            </p:nvSpPr>
            <p:spPr>
              <a:xfrm>
                <a:off x="3917600" y="2223160"/>
                <a:ext cx="1013606" cy="2681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600" b="1" dirty="0">
                    <a:solidFill>
                      <a:srgbClr val="FF0000"/>
                    </a:solidFill>
                  </a:rPr>
                  <a:t>Final Quarter Decline</a:t>
                </a:r>
              </a:p>
            </p:txBody>
          </p:sp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FFC76C1-C04F-4D6D-9EFF-DB4D7538F906}"/>
                </a:ext>
              </a:extLst>
            </p:cNvPr>
            <p:cNvSpPr/>
            <p:nvPr/>
          </p:nvSpPr>
          <p:spPr>
            <a:xfrm>
              <a:off x="6099195" y="0"/>
              <a:ext cx="46345" cy="274161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10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41F7030-0EB8-4147-A990-17F225CBAE97}"/>
                </a:ext>
              </a:extLst>
            </p:cNvPr>
            <p:cNvSpPr/>
            <p:nvPr/>
          </p:nvSpPr>
          <p:spPr>
            <a:xfrm>
              <a:off x="442043" y="712627"/>
              <a:ext cx="504906" cy="161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$61K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530DED2-4886-411C-83FF-5536FC7002AC}"/>
                </a:ext>
              </a:extLst>
            </p:cNvPr>
            <p:cNvSpPr/>
            <p:nvPr/>
          </p:nvSpPr>
          <p:spPr>
            <a:xfrm>
              <a:off x="3855479" y="281017"/>
              <a:ext cx="477573" cy="1364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$19K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4E78C31-9FBF-4865-93F8-0140A64F54FB}"/>
                </a:ext>
              </a:extLst>
            </p:cNvPr>
            <p:cNvSpPr/>
            <p:nvPr/>
          </p:nvSpPr>
          <p:spPr>
            <a:xfrm>
              <a:off x="4299689" y="271803"/>
              <a:ext cx="477573" cy="15576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$-17K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161749-3ED0-2B68-F575-1E8687CE62C2}"/>
                </a:ext>
              </a:extLst>
            </p:cNvPr>
            <p:cNvSpPr/>
            <p:nvPr/>
          </p:nvSpPr>
          <p:spPr>
            <a:xfrm>
              <a:off x="6196825" y="45264"/>
              <a:ext cx="1961001" cy="26904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200" b="1" i="1" baseline="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rPr>
                <a:t>Insight</a:t>
              </a:r>
              <a:r>
                <a:rPr lang="fa-IR" sz="3200" b="1" i="1" baseline="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rPr>
                <a:t>:</a:t>
              </a:r>
              <a:endParaRPr lang="en-US" sz="3200" b="1" i="1" dirty="0">
                <a:solidFill>
                  <a:schemeClr val="tx1"/>
                </a:solidFill>
                <a:effectLst/>
              </a:endParaRPr>
            </a:p>
            <a:p>
              <a:pPr algn="l"/>
              <a:endParaRPr lang="en-US" sz="1100" dirty="0">
                <a:solidFill>
                  <a:schemeClr val="tx1"/>
                </a:solidFill>
              </a:endParaRPr>
            </a:p>
            <a:p>
              <a:pPr algn="l"/>
              <a:endParaRPr lang="en-US" dirty="0">
                <a:solidFill>
                  <a:schemeClr val="tx1"/>
                </a:solidFill>
              </a:endParaRPr>
            </a:p>
            <a:p>
              <a:pPr algn="l"/>
              <a:endParaRPr lang="en-US" sz="1100" dirty="0">
                <a:solidFill>
                  <a:schemeClr val="tx1"/>
                </a:solidFill>
              </a:endParaRPr>
            </a:p>
            <a:p>
              <a:pPr algn="l"/>
              <a:endParaRPr lang="en-US" sz="1100" dirty="0">
                <a:solidFill>
                  <a:schemeClr val="tx1"/>
                </a:solidFill>
              </a:endParaRPr>
            </a:p>
            <a:p>
              <a:pPr algn="l"/>
              <a:r>
                <a:rPr lang="en-US" sz="2800" dirty="0">
                  <a:solidFill>
                    <a:schemeClr val="tx1"/>
                  </a:solidFill>
                </a:rPr>
                <a:t>Strong sales gains during the first nine months more than offset the declines in Q4, resulting in a net annual sales increase of $208K </a:t>
              </a:r>
              <a:r>
                <a:rPr lang="en-US" sz="3200" dirty="0">
                  <a:solidFill>
                    <a:srgbClr val="00B050"/>
                  </a:solidFill>
                </a:rPr>
                <a:t>(+33.2%).</a:t>
              </a:r>
              <a:endParaRPr lang="fa-IR" sz="2800" dirty="0">
                <a:solidFill>
                  <a:srgbClr val="00B050"/>
                </a:solidFill>
              </a:endParaRPr>
            </a:p>
            <a:p>
              <a:pPr algn="l"/>
              <a:endParaRPr lang="fa-IR" sz="1100" dirty="0"/>
            </a:p>
            <a:p>
              <a:pPr algn="l"/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98377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14E1C0-E360-A715-195B-5504165406E9}"/>
              </a:ext>
            </a:extLst>
          </p:cNvPr>
          <p:cNvSpPr txBox="1"/>
          <p:nvPr/>
        </p:nvSpPr>
        <p:spPr>
          <a:xfrm>
            <a:off x="902240" y="761959"/>
            <a:ext cx="943826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dirty="0"/>
              <a:t>Executive Summary</a:t>
            </a:r>
          </a:p>
          <a:p>
            <a:endParaRPr lang="en-US" dirty="0"/>
          </a:p>
          <a:p>
            <a:r>
              <a:rPr lang="en-US" dirty="0"/>
              <a:t>① </a:t>
            </a:r>
            <a:r>
              <a:rPr lang="en-US" sz="2000" b="1" dirty="0">
                <a:solidFill>
                  <a:srgbClr val="00B0F0"/>
                </a:solidFill>
              </a:rPr>
              <a:t>2021</a:t>
            </a:r>
            <a:r>
              <a:rPr lang="en-US" sz="2000" b="1" dirty="0"/>
              <a:t> outperformed </a:t>
            </a:r>
            <a:r>
              <a:rPr lang="en-US" sz="2000" b="1" dirty="0">
                <a:solidFill>
                  <a:srgbClr val="7F7F7F"/>
                </a:solidFill>
              </a:rPr>
              <a:t>2020</a:t>
            </a:r>
            <a:r>
              <a:rPr lang="en-US" sz="2000" b="1" dirty="0"/>
              <a:t> during the first three quarters.</a:t>
            </a:r>
          </a:p>
          <a:p>
            <a:endParaRPr lang="en-US" sz="2000" dirty="0"/>
          </a:p>
          <a:p>
            <a:endParaRPr lang="en-US" dirty="0"/>
          </a:p>
          <a:p>
            <a:r>
              <a:rPr lang="en-US" dirty="0"/>
              <a:t>② </a:t>
            </a:r>
            <a:r>
              <a:rPr lang="en-US" sz="2000" b="1" dirty="0">
                <a:solidFill>
                  <a:srgbClr val="FF0000"/>
                </a:solidFill>
              </a:rPr>
              <a:t>October</a:t>
            </a:r>
            <a:r>
              <a:rPr lang="en-US" sz="2000" b="1" dirty="0"/>
              <a:t> marked the trend reversal.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③ </a:t>
            </a:r>
            <a:r>
              <a:rPr lang="en-US" sz="2000" b="1" dirty="0"/>
              <a:t>Strong gains offset Q4 declines.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④ </a:t>
            </a:r>
            <a:r>
              <a:rPr lang="en-US" sz="2000" b="1" dirty="0"/>
              <a:t>Net annual sales increased by </a:t>
            </a:r>
            <a:r>
              <a:rPr lang="en-US" sz="2000" b="1" dirty="0">
                <a:solidFill>
                  <a:srgbClr val="00B050"/>
                </a:solidFill>
              </a:rPr>
              <a:t>$208K (+33.2%)</a:t>
            </a:r>
            <a:r>
              <a:rPr lang="en-US" sz="2000" b="1" dirty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6736" y="789372"/>
            <a:ext cx="11418527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rPr lang="en-US" sz="3200" i="1" dirty="0"/>
              <a:t>Regional Performance Dashboard</a:t>
            </a:r>
            <a:endParaRPr lang="fa-IR" sz="3200" i="1" dirty="0"/>
          </a:p>
          <a:p>
            <a:pPr>
              <a:defRPr sz="2400" b="1"/>
            </a:pPr>
            <a:r>
              <a:rPr lang="en-US" sz="2800" dirty="0"/>
              <a:t>────────────────────────────</a:t>
            </a:r>
          </a:p>
          <a:p>
            <a:pPr>
              <a:defRPr sz="2400" b="1"/>
            </a:pPr>
            <a:endParaRPr lang="en-US" sz="2400" dirty="0"/>
          </a:p>
          <a:p>
            <a:pPr>
              <a:defRPr sz="2400" b="1"/>
            </a:pPr>
            <a:r>
              <a:rPr lang="en-US" sz="2800" dirty="0"/>
              <a:t>Regional Sales Performance Analysis Across Iranian Provinces</a:t>
            </a:r>
            <a:endParaRPr lang="fa-IR" sz="2800" dirty="0"/>
          </a:p>
          <a:p>
            <a:pPr>
              <a:defRPr sz="2400" b="1"/>
            </a:pPr>
            <a:endParaRPr lang="fa-IR" sz="2000" dirty="0"/>
          </a:p>
          <a:p>
            <a:pPr>
              <a:defRPr sz="2400" b="1"/>
            </a:pPr>
            <a:endParaRPr lang="en-US" sz="2400" dirty="0"/>
          </a:p>
          <a:p>
            <a:pPr>
              <a:defRPr sz="2400" b="1"/>
            </a:pPr>
            <a:r>
              <a:rPr lang="en-US" sz="2800" dirty="0"/>
              <a:t>Prepared by</a:t>
            </a:r>
            <a:r>
              <a:rPr lang="fa-IR" sz="2800" dirty="0"/>
              <a:t>:</a:t>
            </a:r>
            <a:endParaRPr lang="en-US" sz="2800" dirty="0"/>
          </a:p>
          <a:p>
            <a:pPr>
              <a:defRPr sz="2400" b="1"/>
            </a:pPr>
            <a:r>
              <a:rPr lang="en-US" sz="2800" u="sng" dirty="0"/>
              <a:t>Yousef Nasibi</a:t>
            </a:r>
          </a:p>
          <a:p>
            <a:pPr>
              <a:defRPr sz="2400" b="1"/>
            </a:pPr>
            <a:endParaRPr lang="en-US" sz="2400" dirty="0"/>
          </a:p>
          <a:p>
            <a:pPr>
              <a:defRPr sz="2400" b="1"/>
            </a:pPr>
            <a:r>
              <a:rPr lang="en-US" sz="2800" dirty="0"/>
              <a:t>Data Visualization Project</a:t>
            </a:r>
            <a:endParaRPr lang="fa-IR" sz="2800" dirty="0"/>
          </a:p>
          <a:p>
            <a:pPr>
              <a:defRPr sz="2400" b="1"/>
            </a:pPr>
            <a:endParaRPr lang="fa-IR" sz="2800" dirty="0"/>
          </a:p>
        </p:txBody>
      </p:sp>
    </p:spTree>
    <p:extLst>
      <p:ext uri="{BB962C8B-B14F-4D97-AF65-F5344CB8AC3E}">
        <p14:creationId xmlns:p14="http://schemas.microsoft.com/office/powerpoint/2010/main" val="223549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04AD89A-3D5D-2683-768B-F9AE5E9CBADD}"/>
              </a:ext>
            </a:extLst>
          </p:cNvPr>
          <p:cNvSpPr/>
          <p:nvPr/>
        </p:nvSpPr>
        <p:spPr>
          <a:xfrm>
            <a:off x="0" y="0"/>
            <a:ext cx="12192000" cy="1794933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i="1" u="sng" dirty="0">
                <a:solidFill>
                  <a:srgbClr val="FF0000"/>
                </a:solidFill>
              </a:rPr>
              <a:t>Business Context</a:t>
            </a:r>
            <a:r>
              <a:rPr lang="fa-IR" sz="2400" b="1" i="1" u="sng" dirty="0">
                <a:solidFill>
                  <a:srgbClr val="FF0000"/>
                </a:solidFill>
              </a:rPr>
              <a:t>:</a:t>
            </a:r>
            <a:endParaRPr lang="en-US" sz="2400" b="1" i="1" u="sng" dirty="0">
              <a:solidFill>
                <a:srgbClr val="FF0000"/>
              </a:solidFill>
            </a:endParaRPr>
          </a:p>
          <a:p>
            <a:endParaRPr lang="en-US" sz="2400" b="1" i="1" u="sng" dirty="0">
              <a:solidFill>
                <a:schemeClr val="bg1"/>
              </a:solidFill>
            </a:endParaRPr>
          </a:p>
          <a:p>
            <a:r>
              <a:rPr lang="fa-IR" dirty="0">
                <a:solidFill>
                  <a:schemeClr val="bg1"/>
                </a:solidFill>
              </a:rPr>
              <a:t>      </a:t>
            </a:r>
            <a:r>
              <a:rPr lang="en-US" dirty="0">
                <a:solidFill>
                  <a:schemeClr val="bg1"/>
                </a:solidFill>
              </a:rPr>
              <a:t>This dashboard evaluates regional sales performance across selected provinces in Iran. By comparing regional </a:t>
            </a:r>
            <a:r>
              <a:rPr lang="fa-IR" dirty="0">
                <a:solidFill>
                  <a:schemeClr val="bg1"/>
                </a:solidFill>
              </a:rPr>
              <a:t>   </a:t>
            </a:r>
          </a:p>
          <a:p>
            <a:r>
              <a:rPr lang="fa-IR" dirty="0">
                <a:solidFill>
                  <a:schemeClr val="bg1"/>
                </a:solidFill>
              </a:rPr>
              <a:t>       </a:t>
            </a:r>
            <a:r>
              <a:rPr lang="en-US" dirty="0">
                <a:solidFill>
                  <a:schemeClr val="bg1"/>
                </a:solidFill>
              </a:rPr>
              <a:t>percentages and identifying top and bottom performers, decision-makers can better understand performance disparities </a:t>
            </a:r>
            <a:r>
              <a:rPr lang="fa-IR" dirty="0">
                <a:solidFill>
                  <a:schemeClr val="bg1"/>
                </a:solidFill>
              </a:rPr>
              <a:t>      </a:t>
            </a:r>
          </a:p>
          <a:p>
            <a:r>
              <a:rPr lang="fa-IR" dirty="0">
                <a:solidFill>
                  <a:schemeClr val="bg1"/>
                </a:solidFill>
              </a:rPr>
              <a:t>       </a:t>
            </a:r>
            <a:r>
              <a:rPr lang="en-US" dirty="0">
                <a:solidFill>
                  <a:schemeClr val="bg1"/>
                </a:solidFill>
              </a:rPr>
              <a:t>and prioritize strategic actions.</a:t>
            </a:r>
          </a:p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1642F2-F7C7-B8B6-5052-2F4A98BEAD05}"/>
              </a:ext>
            </a:extLst>
          </p:cNvPr>
          <p:cNvSpPr/>
          <p:nvPr/>
        </p:nvSpPr>
        <p:spPr>
          <a:xfrm>
            <a:off x="0" y="1794934"/>
            <a:ext cx="12192000" cy="2167466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a-IR" sz="2400" b="1" i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i="1" dirty="0">
                <a:solidFill>
                  <a:srgbClr val="00B050"/>
                </a:solidFill>
              </a:rPr>
              <a:t>Business Objectives</a:t>
            </a:r>
            <a:r>
              <a:rPr lang="fa-IR" sz="2400" b="1" i="1" dirty="0">
                <a:solidFill>
                  <a:srgbClr val="00B050"/>
                </a:solidFill>
              </a:rPr>
              <a:t>:</a:t>
            </a:r>
            <a:endParaRPr lang="en-US" sz="2400" b="1" i="1" dirty="0">
              <a:solidFill>
                <a:srgbClr val="00B050"/>
              </a:solidFill>
            </a:endParaRPr>
          </a:p>
          <a:p>
            <a:endParaRPr lang="en-US" sz="2400" b="1" i="1" dirty="0">
              <a:solidFill>
                <a:srgbClr val="00B050"/>
              </a:solidFill>
            </a:endParaRPr>
          </a:p>
          <a:p>
            <a:r>
              <a:rPr lang="fa-IR" dirty="0"/>
              <a:t>       </a:t>
            </a:r>
            <a:r>
              <a:rPr lang="en-US" b="1" dirty="0"/>
              <a:t>Compare regional sales performance. </a:t>
            </a:r>
          </a:p>
          <a:p>
            <a:r>
              <a:rPr lang="fa-IR" b="1" dirty="0"/>
              <a:t>       </a:t>
            </a:r>
            <a:r>
              <a:rPr lang="en-US" b="1" dirty="0"/>
              <a:t>Identify top-performing and underperforming provinces. </a:t>
            </a:r>
          </a:p>
          <a:p>
            <a:r>
              <a:rPr lang="fa-IR" b="1" dirty="0"/>
              <a:t>       </a:t>
            </a:r>
            <a:r>
              <a:rPr lang="en-US" b="1" dirty="0"/>
              <a:t>Evaluate regional distribution patterns. </a:t>
            </a:r>
          </a:p>
          <a:p>
            <a:r>
              <a:rPr lang="fa-IR" b="1" dirty="0"/>
              <a:t>       </a:t>
            </a:r>
            <a:r>
              <a:rPr lang="en-US" b="1" dirty="0"/>
              <a:t>Support data-driven resource allocation.</a:t>
            </a:r>
          </a:p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2319B0-09E4-394D-96B6-8E7E594CE940}"/>
              </a:ext>
            </a:extLst>
          </p:cNvPr>
          <p:cNvSpPr/>
          <p:nvPr/>
        </p:nvSpPr>
        <p:spPr>
          <a:xfrm>
            <a:off x="0" y="3962400"/>
            <a:ext cx="12191999" cy="21759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i="1" dirty="0">
                <a:solidFill>
                  <a:srgbClr val="0070C0"/>
                </a:solidFill>
              </a:rPr>
              <a:t>Business Questions</a:t>
            </a:r>
            <a:r>
              <a:rPr lang="fa-IR" sz="2400" b="1" i="1" dirty="0">
                <a:solidFill>
                  <a:srgbClr val="0070C0"/>
                </a:solidFill>
              </a:rPr>
              <a:t>:</a:t>
            </a:r>
            <a:endParaRPr lang="en-US" sz="2400" b="1" i="1" dirty="0">
              <a:solidFill>
                <a:srgbClr val="0070C0"/>
              </a:solidFill>
            </a:endParaRPr>
          </a:p>
          <a:p>
            <a:endParaRPr lang="en-US" sz="2400" b="1" i="1" dirty="0">
              <a:solidFill>
                <a:srgbClr val="0070C0"/>
              </a:solidFill>
            </a:endParaRPr>
          </a:p>
          <a:p>
            <a:r>
              <a:rPr lang="fa-IR" dirty="0"/>
              <a:t>       </a:t>
            </a:r>
            <a:r>
              <a:rPr lang="en-US" sz="2000" dirty="0"/>
              <a:t>Which province achieved the highest sales performance? </a:t>
            </a:r>
          </a:p>
          <a:p>
            <a:r>
              <a:rPr lang="fa-IR" sz="2000" dirty="0"/>
              <a:t>       </a:t>
            </a:r>
            <a:r>
              <a:rPr lang="en-US" sz="2000" dirty="0"/>
              <a:t>Which provinces performed below the regional average? </a:t>
            </a:r>
          </a:p>
          <a:p>
            <a:r>
              <a:rPr lang="fa-IR" sz="2000" dirty="0"/>
              <a:t>       </a:t>
            </a:r>
            <a:r>
              <a:rPr lang="en-US" sz="2000" dirty="0"/>
              <a:t>How is performance distributed across regions? </a:t>
            </a:r>
          </a:p>
          <a:p>
            <a:r>
              <a:rPr lang="fa-IR" sz="2000" dirty="0"/>
              <a:t>       </a:t>
            </a:r>
            <a:r>
              <a:rPr lang="en-US" sz="2000" dirty="0"/>
              <a:t>Which regions should be prioritized for improvement?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626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55C3755-D103-98A4-BB4C-A4AB39248330}"/>
              </a:ext>
            </a:extLst>
          </p:cNvPr>
          <p:cNvGrpSpPr/>
          <p:nvPr/>
        </p:nvGrpSpPr>
        <p:grpSpPr>
          <a:xfrm>
            <a:off x="-41026" y="0"/>
            <a:ext cx="12233026" cy="6858000"/>
            <a:chOff x="0" y="0"/>
            <a:chExt cx="10065417" cy="8415763"/>
          </a:xfrm>
        </p:grpSpPr>
        <p:graphicFrame>
          <p:nvGraphicFramePr>
            <p:cNvPr id="6" name="Chart 5">
              <a:extLst>
                <a:ext uri="{FF2B5EF4-FFF2-40B4-BE49-F238E27FC236}">
                  <a16:creationId xmlns:a16="http://schemas.microsoft.com/office/drawing/2014/main" id="{0838B233-B923-0D55-D70A-E3C84EA7F7B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251388998"/>
                </p:ext>
              </p:extLst>
            </p:nvPr>
          </p:nvGraphicFramePr>
          <p:xfrm>
            <a:off x="0" y="1592026"/>
            <a:ext cx="3489436" cy="472750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30F9C62-DC36-5706-CAF2-89B3022D40A7}"/>
                </a:ext>
              </a:extLst>
            </p:cNvPr>
            <p:cNvSpPr/>
            <p:nvPr/>
          </p:nvSpPr>
          <p:spPr>
            <a:xfrm>
              <a:off x="7620" y="6352286"/>
              <a:ext cx="3481816" cy="762897"/>
            </a:xfrm>
            <a:prstGeom prst="rect">
              <a:avLst/>
            </a:prstGeom>
            <a:solidFill>
              <a:schemeClr val="tx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dirty="0">
                  <a:solidFill>
                    <a:schemeClr val="bg1"/>
                  </a:solidFill>
                  <a:cs typeface="B Nazanin" panose="00000400000000000000" pitchFamily="2" charset="-78"/>
                </a:rPr>
                <a:t>Regions above the average demonstrate </a:t>
              </a:r>
              <a:r>
                <a:rPr lang="en-US" sz="1200" b="1" dirty="0">
                  <a:solidFill>
                    <a:srgbClr val="00B050"/>
                  </a:solidFill>
                  <a:cs typeface="B Nazanin" panose="00000400000000000000" pitchFamily="2" charset="-78"/>
                </a:rPr>
                <a:t>stronger</a:t>
              </a:r>
              <a:r>
                <a:rPr lang="en-US" sz="1200" b="1" dirty="0">
                  <a:solidFill>
                    <a:schemeClr val="bg1"/>
                  </a:solidFill>
                  <a:cs typeface="B Nazanin" panose="00000400000000000000" pitchFamily="2" charset="-78"/>
                </a:rPr>
                <a:t> performance, while those </a:t>
              </a:r>
              <a:r>
                <a:rPr lang="en-US" sz="1200" b="1" dirty="0">
                  <a:solidFill>
                    <a:srgbClr val="FF0000"/>
                  </a:solidFill>
                  <a:cs typeface="B Nazanin" panose="00000400000000000000" pitchFamily="2" charset="-78"/>
                </a:rPr>
                <a:t>below</a:t>
              </a:r>
              <a:r>
                <a:rPr lang="en-US" sz="1200" b="1" dirty="0">
                  <a:solidFill>
                    <a:schemeClr val="bg1"/>
                  </a:solidFill>
                  <a:cs typeface="B Nazanin" panose="00000400000000000000" pitchFamily="2" charset="-78"/>
                </a:rPr>
                <a:t> the </a:t>
              </a:r>
              <a:r>
                <a:rPr lang="en-US" sz="1200" b="1" dirty="0">
                  <a:solidFill>
                    <a:srgbClr val="FFC000"/>
                  </a:solidFill>
                  <a:cs typeface="B Nazanin" panose="00000400000000000000" pitchFamily="2" charset="-78"/>
                </a:rPr>
                <a:t>average</a:t>
              </a:r>
              <a:r>
                <a:rPr lang="en-US" sz="1200" b="1" dirty="0">
                  <a:solidFill>
                    <a:schemeClr val="bg1"/>
                  </a:solidFill>
                  <a:cs typeface="B Nazanin" panose="00000400000000000000" pitchFamily="2" charset="-78"/>
                </a:rPr>
                <a:t> require attention.</a:t>
              </a:r>
            </a:p>
            <a:p>
              <a:pPr algn="l"/>
              <a:endParaRPr lang="en-US" sz="1100" dirty="0">
                <a:solidFill>
                  <a:schemeClr val="bg1"/>
                </a:solidFill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2193923-9AE8-3087-6F88-437C01BD7F76}"/>
                </a:ext>
              </a:extLst>
            </p:cNvPr>
            <p:cNvGrpSpPr/>
            <p:nvPr/>
          </p:nvGrpSpPr>
          <p:grpSpPr>
            <a:xfrm>
              <a:off x="3553464" y="1585965"/>
              <a:ext cx="6503597" cy="3030380"/>
              <a:chOff x="3553464" y="1585965"/>
              <a:chExt cx="6589024" cy="3015244"/>
            </a:xfrm>
          </p:grpSpPr>
          <mc:AlternateContent xmlns:mc="http://schemas.openxmlformats.org/markup-compatibility/2006" xmlns:cx1="http://schemas.microsoft.com/office/drawing/2015/9/8/chartex">
            <mc:Choice Requires="cx1">
              <p:graphicFrame>
                <p:nvGraphicFramePr>
                  <p:cNvPr id="16" name="Chart 15">
                    <a:extLst>
                      <a:ext uri="{FF2B5EF4-FFF2-40B4-BE49-F238E27FC236}">
                        <a16:creationId xmlns:a16="http://schemas.microsoft.com/office/drawing/2014/main" id="{89116F44-7094-D4BF-7599-6D2923242744}"/>
                      </a:ext>
                    </a:extLst>
                  </p:cNvPr>
                  <p:cNvGraphicFramePr/>
                  <p:nvPr>
                    <p:extLst>
                      <p:ext uri="{D42A27DB-BD31-4B8C-83A1-F6EECF244321}">
                        <p14:modId xmlns:p14="http://schemas.microsoft.com/office/powerpoint/2010/main" val="2778893428"/>
                      </p:ext>
                    </p:extLst>
                  </p:nvPr>
                </p:nvGraphicFramePr>
                <p:xfrm>
                  <a:off x="3553464" y="1585965"/>
                  <a:ext cx="6589024" cy="3015244"/>
                </p:xfrm>
                <a:graphic>
                  <a:graphicData uri="http://schemas.microsoft.com/office/drawing/2014/chartex">
                    <cx:chart xmlns:cx="http://schemas.microsoft.com/office/drawing/2014/chartex" xmlns:r="http://schemas.openxmlformats.org/officeDocument/2006/relationships" r:id="rId3"/>
                  </a:graphicData>
                </a:graphic>
              </p:graphicFrame>
            </mc:Choice>
            <mc:Fallback xmlns="">
              <p:pic>
                <p:nvPicPr>
                  <p:cNvPr id="16" name="Chart 15">
                    <a:extLst>
                      <a:ext uri="{FF2B5EF4-FFF2-40B4-BE49-F238E27FC236}">
                        <a16:creationId xmlns:a16="http://schemas.microsoft.com/office/drawing/2014/main" id="{89116F44-7094-D4BF-7599-6D2923242744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4277684" y="1292402"/>
                    <a:ext cx="7904160" cy="2469455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90A2A39-259E-0AE7-9C15-C72E488E11F4}"/>
                  </a:ext>
                </a:extLst>
              </p:cNvPr>
              <p:cNvSpPr/>
              <p:nvPr/>
            </p:nvSpPr>
            <p:spPr>
              <a:xfrm>
                <a:off x="3598689" y="1648430"/>
                <a:ext cx="3796628" cy="30169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sz="1600"/>
                  <a:t>Regional Contribution Analysis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6C9DF28-182B-32E7-536D-FF514A3FA094}"/>
                </a:ext>
              </a:extLst>
            </p:cNvPr>
            <p:cNvGrpSpPr/>
            <p:nvPr/>
          </p:nvGrpSpPr>
          <p:grpSpPr>
            <a:xfrm>
              <a:off x="3524468" y="4646587"/>
              <a:ext cx="6525170" cy="2484429"/>
              <a:chOff x="3524468" y="4646587"/>
              <a:chExt cx="6610597" cy="2468129"/>
            </a:xfrm>
          </p:grpSpPr>
          <mc:AlternateContent xmlns:mc="http://schemas.openxmlformats.org/markup-compatibility/2006" xmlns:cx4="http://schemas.microsoft.com/office/drawing/2016/5/10/chartex">
            <mc:Choice Requires="cx4">
              <p:graphicFrame>
                <p:nvGraphicFramePr>
                  <p:cNvPr id="14" name="Chart 13">
                    <a:extLst>
                      <a:ext uri="{FF2B5EF4-FFF2-40B4-BE49-F238E27FC236}">
                        <a16:creationId xmlns:a16="http://schemas.microsoft.com/office/drawing/2014/main" id="{AA939C02-2E70-6534-9B49-62636EC6635A}"/>
                      </a:ext>
                    </a:extLst>
                  </p:cNvPr>
                  <p:cNvGraphicFramePr/>
                  <p:nvPr>
                    <p:extLst>
                      <p:ext uri="{D42A27DB-BD31-4B8C-83A1-F6EECF244321}">
                        <p14:modId xmlns:p14="http://schemas.microsoft.com/office/powerpoint/2010/main" val="1333405598"/>
                      </p:ext>
                    </p:extLst>
                  </p:nvPr>
                </p:nvGraphicFramePr>
                <p:xfrm>
                  <a:off x="3545196" y="4646587"/>
                  <a:ext cx="6589869" cy="2468129"/>
                </p:xfrm>
                <a:graphic>
                  <a:graphicData uri="http://schemas.microsoft.com/office/drawing/2014/chartex">
                    <cx:chart xmlns:cx="http://schemas.microsoft.com/office/drawing/2014/chartex" xmlns:r="http://schemas.openxmlformats.org/officeDocument/2006/relationships" r:id="rId5"/>
                  </a:graphicData>
                </a:graphic>
              </p:graphicFrame>
            </mc:Choice>
            <mc:Fallback xmlns="">
              <p:pic>
                <p:nvPicPr>
                  <p:cNvPr id="14" name="Chart 13">
                    <a:extLst>
                      <a:ext uri="{FF2B5EF4-FFF2-40B4-BE49-F238E27FC236}">
                        <a16:creationId xmlns:a16="http://schemas.microsoft.com/office/drawing/2014/main" id="{AA939C02-2E70-6534-9B49-62636EC6635A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4267310" y="3786501"/>
                    <a:ext cx="7905513" cy="2024560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4C921A2-EF0E-078A-8F47-0B6DFD4BBDA1}"/>
                  </a:ext>
                </a:extLst>
              </p:cNvPr>
              <p:cNvSpPr/>
              <p:nvPr/>
            </p:nvSpPr>
            <p:spPr>
              <a:xfrm>
                <a:off x="3524468" y="4650586"/>
                <a:ext cx="2585157" cy="3067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sz="1600" b="1"/>
                  <a:t>Regional Performance Map</a:t>
                </a: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24515F9-5035-88D6-CACC-D589D54A12A8}"/>
                </a:ext>
              </a:extLst>
            </p:cNvPr>
            <p:cNvSpPr/>
            <p:nvPr/>
          </p:nvSpPr>
          <p:spPr>
            <a:xfrm>
              <a:off x="33756" y="29690"/>
              <a:ext cx="3300648" cy="152807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dirty="0">
                  <a:solidFill>
                    <a:sysClr val="windowText" lastClr="000000"/>
                  </a:solidFill>
                </a:rPr>
                <a:t>Highest Region</a:t>
              </a:r>
            </a:p>
            <a:p>
              <a:pPr algn="ctr"/>
              <a:r>
                <a:rPr lang="en-US" sz="2400" dirty="0">
                  <a:solidFill>
                    <a:sysClr val="windowText" lastClr="000000"/>
                  </a:solidFill>
                </a:rPr>
                <a:t>Mazandaran</a:t>
              </a:r>
            </a:p>
            <a:p>
              <a:pPr algn="ctr"/>
              <a:r>
                <a:rPr lang="en-US" sz="2400" dirty="0">
                  <a:solidFill>
                    <a:sysClr val="windowText" lastClr="000000"/>
                  </a:solidFill>
                </a:rPr>
                <a:t>20%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CA83020-A5B2-4F34-BEAA-59430D0641CE}"/>
                </a:ext>
              </a:extLst>
            </p:cNvPr>
            <p:cNvSpPr/>
            <p:nvPr/>
          </p:nvSpPr>
          <p:spPr>
            <a:xfrm>
              <a:off x="3334405" y="0"/>
              <a:ext cx="3425248" cy="152807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600"/>
                <a:t>Average</a:t>
              </a:r>
            </a:p>
            <a:p>
              <a:pPr algn="ctr"/>
              <a:r>
                <a:rPr lang="en-US" sz="3600"/>
                <a:t>12%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77B71D9-605B-42C5-AE56-ABBE3365A8A3}"/>
                </a:ext>
              </a:extLst>
            </p:cNvPr>
            <p:cNvSpPr/>
            <p:nvPr/>
          </p:nvSpPr>
          <p:spPr>
            <a:xfrm>
              <a:off x="6776649" y="16505"/>
              <a:ext cx="3288768" cy="1528074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dirty="0"/>
                <a:t>Lowest Region</a:t>
              </a:r>
            </a:p>
            <a:p>
              <a:pPr algn="ctr"/>
              <a:r>
                <a:rPr lang="en-US" sz="2000" dirty="0" err="1"/>
                <a:t>Khuzestan,Kerman,Kermanshah</a:t>
              </a:r>
              <a:endParaRPr lang="en-US" sz="2400" dirty="0"/>
            </a:p>
            <a:p>
              <a:pPr algn="ctr"/>
              <a:r>
                <a:rPr lang="en-US" sz="2400" dirty="0"/>
                <a:t>8%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E3A53E0-EE84-85D8-104D-93EEA11AC01E}"/>
                </a:ext>
              </a:extLst>
            </p:cNvPr>
            <p:cNvSpPr/>
            <p:nvPr/>
          </p:nvSpPr>
          <p:spPr>
            <a:xfrm>
              <a:off x="29687" y="7140912"/>
              <a:ext cx="10035729" cy="1274851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00" dirty="0"/>
                <a:t>Regional performance ranged from </a:t>
              </a:r>
              <a:r>
                <a:rPr lang="en-US" sz="1600" b="1" dirty="0">
                  <a:solidFill>
                    <a:srgbClr val="FF0000"/>
                  </a:solidFill>
                </a:rPr>
                <a:t>8% </a:t>
              </a:r>
              <a:r>
                <a:rPr lang="en-US" sz="1600" b="1" dirty="0"/>
                <a:t>to </a:t>
              </a:r>
              <a:r>
                <a:rPr lang="en-US" sz="1600" b="1" dirty="0">
                  <a:solidFill>
                    <a:srgbClr val="00B050"/>
                  </a:solidFill>
                </a:rPr>
                <a:t>20%</a:t>
              </a:r>
              <a:r>
                <a:rPr lang="en-US" sz="1600" dirty="0"/>
                <a:t>, demonstrating moderate variation across provinces. While several provinces exceeded the regional benchmark, others remained below the </a:t>
              </a:r>
              <a:r>
                <a:rPr lang="en-US" sz="1600" dirty="0">
                  <a:solidFill>
                    <a:srgbClr val="FFC000"/>
                  </a:solidFill>
                </a:rPr>
                <a:t>average</a:t>
              </a:r>
              <a:r>
                <a:rPr lang="en-US" sz="1600" dirty="0"/>
                <a:t>, highlighting opportunities for targeted performance improvement. The analysis provides a clear foundation for prioritizing sales initiatives and allocating resources more effectively across regions.</a:t>
              </a:r>
              <a:endParaRPr lang="en-US" sz="105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886005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04AD89A-3D5D-2683-768B-F9AE5E9CBADD}"/>
              </a:ext>
            </a:extLst>
          </p:cNvPr>
          <p:cNvSpPr/>
          <p:nvPr/>
        </p:nvSpPr>
        <p:spPr>
          <a:xfrm>
            <a:off x="0" y="0"/>
            <a:ext cx="12192000" cy="17949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1642F2-F7C7-B8B6-5052-2F4A98BEAD05}"/>
              </a:ext>
            </a:extLst>
          </p:cNvPr>
          <p:cNvSpPr/>
          <p:nvPr/>
        </p:nvSpPr>
        <p:spPr>
          <a:xfrm>
            <a:off x="0" y="1794934"/>
            <a:ext cx="12192000" cy="21674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The country's southern and western triangle—comprising </a:t>
            </a:r>
            <a:r>
              <a:rPr lang="en-US" sz="2400" dirty="0">
                <a:solidFill>
                  <a:srgbClr val="FF0000"/>
                </a:solidFill>
              </a:rPr>
              <a:t>Khuzestan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FF0000"/>
                </a:solidFill>
              </a:rPr>
              <a:t>Kerman</a:t>
            </a:r>
            <a:r>
              <a:rPr lang="en-US" sz="2400" dirty="0"/>
              <a:t>, and </a:t>
            </a:r>
            <a:r>
              <a:rPr lang="en-US" sz="2400" dirty="0">
                <a:solidFill>
                  <a:srgbClr val="FF0000"/>
                </a:solidFill>
              </a:rPr>
              <a:t>Kermanshah</a:t>
            </a:r>
            <a:r>
              <a:rPr lang="en-US" sz="2400" dirty="0"/>
              <a:t>—falls at the bottom of the performance range </a:t>
            </a:r>
            <a:r>
              <a:rPr lang="en-US" sz="2400" dirty="0">
                <a:solidFill>
                  <a:srgbClr val="FF0000"/>
                </a:solidFill>
              </a:rPr>
              <a:t>(8%),</a:t>
            </a:r>
            <a:r>
              <a:rPr lang="en-US" sz="2400" dirty="0"/>
              <a:t> indicating either severely weak market penetration or a lack of optimal resource allocation.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2319B0-09E4-394D-96B6-8E7E594CE940}"/>
              </a:ext>
            </a:extLst>
          </p:cNvPr>
          <p:cNvSpPr/>
          <p:nvPr/>
        </p:nvSpPr>
        <p:spPr>
          <a:xfrm>
            <a:off x="0" y="3962400"/>
            <a:ext cx="12191999" cy="2175932"/>
          </a:xfrm>
          <a:prstGeom prst="rect">
            <a:avLst/>
          </a:prstGeom>
          <a:solidFill>
            <a:srgbClr val="334A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5E9B33-5509-3421-0438-FCCF63CCCAAA}"/>
              </a:ext>
            </a:extLst>
          </p:cNvPr>
          <p:cNvSpPr txBox="1"/>
          <p:nvPr/>
        </p:nvSpPr>
        <p:spPr>
          <a:xfrm>
            <a:off x="0" y="-1"/>
            <a:ext cx="1219199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The northern and western provinces—including </a:t>
            </a:r>
            <a:r>
              <a:rPr lang="en-US" sz="2400" dirty="0">
                <a:solidFill>
                  <a:srgbClr val="00B050"/>
                </a:solidFill>
              </a:rPr>
              <a:t>Mazandaran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rgbClr val="00B050"/>
                </a:solidFill>
              </a:rPr>
              <a:t>(20%)</a:t>
            </a:r>
            <a:r>
              <a:rPr lang="en-US" sz="2400" dirty="0">
                <a:solidFill>
                  <a:schemeClr val="bg1"/>
                </a:solidFill>
              </a:rPr>
              <a:t> and </a:t>
            </a:r>
            <a:r>
              <a:rPr lang="en-US" sz="2400" u="sng" dirty="0">
                <a:solidFill>
                  <a:srgbClr val="4C6E7A"/>
                </a:solidFill>
              </a:rPr>
              <a:t>Ardabil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rgbClr val="4C6E7A"/>
                </a:solidFill>
              </a:rPr>
              <a:t>(16%),</a:t>
            </a:r>
            <a:r>
              <a:rPr lang="en-US" sz="2400" dirty="0">
                <a:solidFill>
                  <a:schemeClr val="bg1"/>
                </a:solidFill>
              </a:rPr>
              <a:t> alongside </a:t>
            </a:r>
            <a:r>
              <a:rPr lang="en-US" sz="2400" u="sng" dirty="0">
                <a:solidFill>
                  <a:schemeClr val="bg1"/>
                </a:solidFill>
              </a:rPr>
              <a:t>Gilan</a:t>
            </a:r>
            <a:r>
              <a:rPr lang="en-US" sz="2400" dirty="0">
                <a:solidFill>
                  <a:schemeClr val="bg1"/>
                </a:solidFill>
              </a:rPr>
              <a:t> and </a:t>
            </a:r>
            <a:r>
              <a:rPr lang="en-US" sz="2400" u="sng" dirty="0">
                <a:solidFill>
                  <a:schemeClr val="bg1"/>
                </a:solidFill>
              </a:rPr>
              <a:t>Hormozgan</a:t>
            </a:r>
            <a:r>
              <a:rPr lang="en-US" sz="2400" dirty="0">
                <a:solidFill>
                  <a:schemeClr val="bg1"/>
                </a:solidFill>
              </a:rPr>
              <a:t> (15%)—are the primary engines of the organization's growth, performing well above the national </a:t>
            </a:r>
            <a:r>
              <a:rPr lang="en-US" sz="2400" dirty="0">
                <a:solidFill>
                  <a:srgbClr val="FFC000"/>
                </a:solidFill>
              </a:rPr>
              <a:t>average (12%)</a:t>
            </a:r>
            <a:r>
              <a:rPr lang="en-US" sz="2400" dirty="0">
                <a:solidFill>
                  <a:schemeClr val="bg1"/>
                </a:solidFill>
              </a:rPr>
              <a:t>. </a:t>
            </a:r>
            <a:r>
              <a:rPr lang="en-US" sz="2400" dirty="0">
                <a:solidFill>
                  <a:srgbClr val="00B050"/>
                </a:solidFill>
              </a:rPr>
              <a:t>Mazandaran</a:t>
            </a:r>
            <a:r>
              <a:rPr lang="en-US" sz="2400" dirty="0">
                <a:solidFill>
                  <a:schemeClr val="bg1"/>
                </a:solidFill>
              </a:rPr>
              <a:t> alone accounts for a share </a:t>
            </a:r>
            <a:r>
              <a:rPr lang="en-US" sz="2400" b="1" u="sng" dirty="0">
                <a:solidFill>
                  <a:schemeClr val="bg1"/>
                </a:solidFill>
              </a:rPr>
              <a:t>2.5</a:t>
            </a:r>
            <a:r>
              <a:rPr lang="en-US" sz="2400" dirty="0">
                <a:solidFill>
                  <a:schemeClr val="bg1"/>
                </a:solidFill>
              </a:rPr>
              <a:t> times that of the provinces at the bottom of the list.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D819A3E-965F-75DF-3E54-CFF887B2E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944776"/>
            <a:ext cx="12113625" cy="21935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-11109" rIns="0" bIns="-11109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E8EAED"/>
                </a:solidFill>
                <a:effectLst/>
                <a:latin typeface="inherit"/>
              </a:rPr>
              <a:t>Instead of distributing the budget uniformly,</a:t>
            </a:r>
            <a:endParaRPr kumimoji="0" lang="fa-IR" altLang="en-US" sz="2400" b="0" i="0" u="none" strike="noStrike" cap="none" normalizeH="0" baseline="0" dirty="0">
              <a:ln>
                <a:noFill/>
              </a:ln>
              <a:solidFill>
                <a:srgbClr val="E8EAED"/>
              </a:solidFill>
              <a:effectLst/>
              <a:latin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E8EAED"/>
                </a:solidFill>
                <a:effectLst/>
                <a:latin typeface="inherit"/>
              </a:rPr>
              <a:t> it is recommended that the organization launch a "sales revitalization campaign" in the provinces of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Khuzestan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E8EAED"/>
                </a:solidFill>
                <a:effectLst/>
                <a:latin typeface="inherit"/>
              </a:rPr>
              <a:t> and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Kerman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E8EAED"/>
                </a:solidFill>
                <a:effectLst/>
                <a:latin typeface="inherit"/>
              </a:rPr>
              <a:t>.</a:t>
            </a:r>
            <a:endParaRPr kumimoji="0" lang="fa-IR" altLang="en-US" sz="2400" b="0" i="0" u="none" strike="noStrike" cap="none" normalizeH="0" baseline="0" dirty="0">
              <a:ln>
                <a:noFill/>
              </a:ln>
              <a:solidFill>
                <a:srgbClr val="E8EAED"/>
              </a:solidFill>
              <a:effectLst/>
              <a:latin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E8EAED"/>
                </a:solidFill>
                <a:effectLst/>
                <a:latin typeface="inherit"/>
              </a:rPr>
              <a:t> The potential of these regions currently falls below the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average (12%)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E8EAED"/>
                </a:solidFill>
                <a:effectLst/>
                <a:latin typeface="inherit"/>
              </a:rPr>
              <a:t>,</a:t>
            </a:r>
            <a:endParaRPr kumimoji="0" lang="fa-IR" altLang="en-US" sz="2400" b="0" i="0" u="none" strike="noStrike" cap="none" normalizeH="0" baseline="0" dirty="0">
              <a:ln>
                <a:noFill/>
              </a:ln>
              <a:solidFill>
                <a:srgbClr val="E8EAED"/>
              </a:solidFill>
              <a:effectLst/>
              <a:latin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E8EAED"/>
                </a:solidFill>
                <a:effectLst/>
                <a:latin typeface="inherit"/>
              </a:rPr>
              <a:t> and raising them to the average level represents the fastest way to achieve a surge in total sales next year.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81083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514</TotalTime>
  <Words>990</Words>
  <Application>Microsoft Office PowerPoint</Application>
  <PresentationFormat>Widescreen</PresentationFormat>
  <Paragraphs>209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B Nazanin</vt:lpstr>
      <vt:lpstr>Calibri</vt:lpstr>
      <vt:lpstr>Gill Sans MT</vt:lpstr>
      <vt:lpstr>inherit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yousef nasibi</cp:lastModifiedBy>
  <cp:revision>19</cp:revision>
  <dcterms:created xsi:type="dcterms:W3CDTF">2013-01-27T09:14:16Z</dcterms:created>
  <dcterms:modified xsi:type="dcterms:W3CDTF">2026-07-07T10:48:35Z</dcterms:modified>
  <cp:category/>
</cp:coreProperties>
</file>