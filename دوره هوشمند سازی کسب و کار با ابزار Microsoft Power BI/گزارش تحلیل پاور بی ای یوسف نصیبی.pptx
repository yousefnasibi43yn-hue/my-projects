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5A5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10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0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49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52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8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8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5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8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17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91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1DACF-479B-4393-93DE-F37F0249719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4EB04-BF97-4081-9C00-757514CF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50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CC484E-1729-5162-DC1C-6867229C1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86960" cy="3566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3BCF5D-F837-12B5-458A-D62BA24190F6}"/>
              </a:ext>
            </a:extLst>
          </p:cNvPr>
          <p:cNvSpPr txBox="1"/>
          <p:nvPr/>
        </p:nvSpPr>
        <p:spPr>
          <a:xfrm>
            <a:off x="6254695" y="186269"/>
            <a:ext cx="5911907" cy="6247864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 rtl="1"/>
            <a:r>
              <a:rPr lang="fa-IR" sz="2000" b="1" i="1" u="sng" dirty="0">
                <a:solidFill>
                  <a:srgbClr val="002060"/>
                </a:solidFill>
                <a:cs typeface="B Titr" panose="00000700000000000000" pitchFamily="2" charset="-78"/>
              </a:rPr>
              <a:t>مردان(</a:t>
            </a:r>
            <a:r>
              <a:rPr lang="en-US" sz="2000" b="1" i="1" u="sng" dirty="0">
                <a:solidFill>
                  <a:srgbClr val="002060"/>
                </a:solidFill>
                <a:cs typeface="B Titr" panose="00000700000000000000" pitchFamily="2" charset="-78"/>
              </a:rPr>
              <a:t> (MEN</a:t>
            </a:r>
            <a:endParaRPr lang="fa-IR" sz="2000" b="1" i="1" u="sng" dirty="0">
              <a:solidFill>
                <a:srgbClr val="002060"/>
              </a:solidFill>
              <a:cs typeface="B Titr" panose="00000700000000000000" pitchFamily="2" charset="-78"/>
            </a:endParaRPr>
          </a:p>
          <a:p>
            <a:pPr algn="r" rtl="1">
              <a:buFont typeface="+mj-lt"/>
              <a:buAutoNum type="arabicPeriod"/>
            </a:pPr>
            <a:r>
              <a:rPr lang="fa-IR" dirty="0"/>
              <a:t>از ۱۴ بیمار مرد، ۴ نفر فوت کرده‌اند؛ نرخ مرگ‌ومیر (Mortality Rate) برابر </a:t>
            </a:r>
            <a:r>
              <a:rPr lang="fa-IR" b="1" dirty="0"/>
              <a:t>۲۸.۵۷٪</a:t>
            </a:r>
            <a:r>
              <a:rPr lang="fa-IR" dirty="0"/>
              <a:t> است. میانگین سنی </a:t>
            </a:r>
            <a:r>
              <a:rPr lang="fa-IR" b="1" dirty="0"/>
              <a:t>۵۰.۴ سال</a:t>
            </a:r>
            <a:r>
              <a:rPr lang="fa-IR" dirty="0"/>
              <a:t> بوده که نسبت به زنان کمتر است.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میانگین امتیاز MELD (معیار ارزیابی شدت بیماری کبدی) در مردان </a:t>
            </a:r>
            <a:r>
              <a:rPr lang="fa-IR" b="1" dirty="0"/>
              <a:t>۱۹.۶</a:t>
            </a:r>
            <a:r>
              <a:rPr lang="fa-IR" dirty="0"/>
              <a:t> است که به‌مراتب بالاتر از زنان (۸.۸) می‌باشد؛ این نشان‌دهنده شدت بیشتر بیماری کبدی در مردان این گروه است.</a:t>
            </a:r>
          </a:p>
          <a:p>
            <a:pPr algn="r" rtl="1"/>
            <a:r>
              <a:rPr lang="en-US" dirty="0"/>
              <a:t>.3</a:t>
            </a:r>
            <a:r>
              <a:rPr lang="fa-IR" dirty="0"/>
              <a:t>میانگین طول اقامت در بیمارستان (Length of Stay) مردان </a:t>
            </a:r>
            <a:r>
              <a:rPr lang="fa-IR" b="1" dirty="0"/>
              <a:t>۸.۵ روز</a:t>
            </a:r>
            <a:r>
              <a:rPr lang="fa-IR" dirty="0"/>
              <a:t> بوده که بیشتر از زنان (۶.۵ روز) است؛ میانگین امتیاز CTP (Child-Turcotte-Pugh — معیار طبقه‌بندی نارسایی کبد) نیز </a:t>
            </a:r>
            <a:r>
              <a:rPr lang="fa-IR" b="1" dirty="0"/>
              <a:t>۷.۵</a:t>
            </a:r>
            <a:r>
              <a:rPr lang="fa-IR" dirty="0"/>
              <a:t> بوده و بیشتر بیماران در طبقه Class A قرار داشتند.</a:t>
            </a:r>
            <a:br>
              <a:rPr lang="en-US" dirty="0"/>
            </a:br>
            <a:r>
              <a:rPr lang="fa-IR" sz="2000" b="1" i="1" u="sng" dirty="0">
                <a:solidFill>
                  <a:srgbClr val="00B0F0"/>
                </a:solidFill>
                <a:cs typeface="B Titr" panose="00000700000000000000" pitchFamily="2" charset="-78"/>
              </a:rPr>
              <a:t>زنان </a:t>
            </a:r>
            <a:r>
              <a:rPr lang="en-US" sz="2000" b="1" i="1" u="sng" dirty="0">
                <a:solidFill>
                  <a:srgbClr val="00B0F0"/>
                </a:solidFill>
                <a:cs typeface="B Titr" panose="00000700000000000000" pitchFamily="2" charset="-78"/>
              </a:rPr>
              <a:t>(Female)</a:t>
            </a:r>
            <a:endParaRPr lang="fa-IR" b="1" i="1" u="sng" dirty="0">
              <a:solidFill>
                <a:srgbClr val="00B0F0"/>
              </a:solidFill>
              <a:cs typeface="B Titr" panose="00000700000000000000" pitchFamily="2" charset="-78"/>
            </a:endParaRPr>
          </a:p>
          <a:p>
            <a:pPr algn="r" rtl="1">
              <a:buFont typeface="+mj-lt"/>
              <a:buAutoNum type="arabicPeriod"/>
            </a:pPr>
            <a:r>
              <a:rPr lang="fa-IR" dirty="0"/>
              <a:t>از ۸ بیمار زن، ۴ نفر فوت کرده‌اند؛ نرخ مرگ‌ومیر (Mortality Rate) برابر </a:t>
            </a:r>
            <a:r>
              <a:rPr lang="fa-IR" b="1" dirty="0"/>
              <a:t>۵۰٪</a:t>
            </a:r>
            <a:r>
              <a:rPr lang="fa-IR" dirty="0"/>
              <a:t> است که به‌طور قابل‌توجهی بالاتر از مردان (۲۸.۵۷٪) می‌باشد، با میانگین سنی </a:t>
            </a:r>
            <a:r>
              <a:rPr lang="fa-IR" b="1" dirty="0"/>
              <a:t>۵۲.۰ سال</a:t>
            </a:r>
            <a:r>
              <a:rPr lang="fa-IR" dirty="0"/>
              <a:t>.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برخلاف مردان، میانگین امتیاز MELD</a:t>
            </a:r>
            <a:r>
              <a:rPr lang="en-US" dirty="0"/>
              <a:t>)</a:t>
            </a:r>
            <a:r>
              <a:rPr lang="fa-IR" dirty="0"/>
              <a:t>) در زنان تنها </a:t>
            </a:r>
            <a:r>
              <a:rPr lang="fa-IR" b="1" dirty="0"/>
              <a:t>۸.۸</a:t>
            </a:r>
            <a:r>
              <a:rPr lang="fa-IR" dirty="0"/>
              <a:t> است (پایین‌تر از مردان)، اما میانگین امتیاز CTP برابر </a:t>
            </a:r>
            <a:r>
              <a:rPr lang="fa-IR" b="1" dirty="0"/>
              <a:t>۸.۴</a:t>
            </a:r>
            <a:r>
              <a:rPr lang="fa-IR" dirty="0"/>
              <a:t> بوده که از مردان (۷.۵) بیشتر است؛ بیشتر بیماران زن در طبقه Class B قرار داشتند.</a:t>
            </a:r>
          </a:p>
          <a:p>
            <a:pPr algn="r" rtl="1">
              <a:buFont typeface="+mj-lt"/>
              <a:buAutoNum type="arabicPeriod"/>
            </a:pPr>
            <a:r>
              <a:rPr lang="fa-IR" dirty="0"/>
              <a:t>میانگین طول اقامت در بیمارستان (Length of Stay) زنان </a:t>
            </a:r>
            <a:r>
              <a:rPr lang="fa-IR" b="1" dirty="0"/>
              <a:t>۶.۵ روز</a:t>
            </a:r>
            <a:r>
              <a:rPr lang="fa-IR" dirty="0"/>
              <a:t> بوده که کمتر از مردان است؛ در نمودار طبقه‌بندی MELD، بیشترین فراوانی زنان در طبقه Below Standard Range (زیر محدوده استاندارد) قرار داشت.</a:t>
            </a:r>
          </a:p>
          <a:p>
            <a:pPr algn="r"/>
            <a:endParaRPr lang="fa-I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12332C-29B1-3A20-F726-6BC41BF39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1" y="3358565"/>
            <a:ext cx="6186960" cy="349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1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D65B70-3B9E-1043-884D-87712F252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51"/>
            <a:ext cx="6158812" cy="3580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CD6D4B-6AFF-F539-5D70-DCC008DEE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9804"/>
            <a:ext cx="6158811" cy="33189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263315-DE79-5B8F-EAFC-6F963851A2F4}"/>
              </a:ext>
            </a:extLst>
          </p:cNvPr>
          <p:cNvSpPr txBox="1"/>
          <p:nvPr/>
        </p:nvSpPr>
        <p:spPr>
          <a:xfrm>
            <a:off x="6223000" y="287867"/>
            <a:ext cx="5909740" cy="6247864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2000" b="1" i="1" u="sng">
                <a:solidFill>
                  <a:srgbClr val="002060"/>
                </a:solidFill>
                <a:cs typeface="B Titr" panose="00000700000000000000" pitchFamily="2" charset="-78"/>
              </a:defRPr>
            </a:lvl1pPr>
          </a:lstStyle>
          <a:p>
            <a:pPr>
              <a:lnSpc>
                <a:spcPct val="150000"/>
              </a:lnSpc>
            </a:pPr>
            <a:r>
              <a:rPr lang="fa-IR" dirty="0"/>
              <a:t>سال 2019</a:t>
            </a:r>
            <a:br>
              <a:rPr lang="fa-IR" dirty="0"/>
            </a:br>
            <a:r>
              <a:rPr lang="fa-IR" dirty="0"/>
              <a:t>مردان(</a:t>
            </a:r>
            <a:r>
              <a:rPr lang="en-US" dirty="0"/>
              <a:t>Male</a:t>
            </a:r>
            <a:r>
              <a:rPr lang="fa-IR" dirty="0"/>
              <a:t> </a:t>
            </a:r>
            <a:r>
              <a:rPr lang="en-US" dirty="0"/>
              <a:t>(</a:t>
            </a:r>
            <a:br>
              <a:rPr lang="fa-IR" dirty="0"/>
            </a:br>
            <a:r>
              <a:rPr lang="fa-IR" sz="1600" b="0" i="0" u="none" dirty="0">
                <a:solidFill>
                  <a:schemeClr val="tx1"/>
                </a:solidFill>
              </a:rPr>
              <a:t>نرخ مرگ‌ومیر ۹۰.۹ درصد (۱۰ فوتی) با میانگین امتیاز شدت بیماری کبدی</a:t>
            </a:r>
            <a:r>
              <a:rPr lang="en-US" sz="1600" b="0" i="0" u="none" dirty="0">
                <a:solidFill>
                  <a:schemeClr val="tx1"/>
                </a:solidFill>
              </a:rPr>
              <a:t> </a:t>
            </a:r>
            <a:r>
              <a:rPr lang="fa-IR" sz="1600" b="0" i="0" u="none" dirty="0">
                <a:solidFill>
                  <a:schemeClr val="tx1"/>
                </a:solidFill>
              </a:rPr>
              <a:t>برابر ۱۹.۷ نشان‌دهنده وخامت بالای بیماری در بدو پذیرش است. توزیع طبقه‌بندی شدت بیماری شامل موارد متوسط، شدید، زیر حد استاندارد، بحرانی، خفیف و بسیار شدید است که پراکندگی زیادی در شدت بالینی نشان می‌دهد. وضعیت نارسایی حاد بر مزمن کبد در تمام موارد نامشخص ثبت شده و تشخیص اصلی همه بیماران الکل</a:t>
            </a:r>
            <a:r>
              <a:rPr lang="en-US" sz="1600" b="0" i="0" u="none" dirty="0">
                <a:solidFill>
                  <a:schemeClr val="tx1"/>
                </a:solidFill>
              </a:rPr>
              <a:t> </a:t>
            </a:r>
            <a:r>
              <a:rPr lang="fa-IR" sz="1600" b="0" i="0" u="none" dirty="0">
                <a:solidFill>
                  <a:schemeClr val="tx1"/>
                </a:solidFill>
              </a:rPr>
              <a:t>بوده است. تنها یک بیمار (۱ نفر) دیابت داشته و سابقه مصرف سیگار در همه موارد نامشخص است، اما مصرف الکل در تمام بیماران مثبت گزارش شده.</a:t>
            </a:r>
            <a:br>
              <a:rPr lang="fa-IR" dirty="0"/>
            </a:br>
            <a:r>
              <a:rPr lang="fa-IR" dirty="0"/>
              <a:t>زنان(</a:t>
            </a:r>
            <a:r>
              <a:rPr lang="en-US" dirty="0"/>
              <a:t>Female</a:t>
            </a:r>
            <a:r>
              <a:rPr lang="fa-IR" dirty="0"/>
              <a:t> </a:t>
            </a:r>
            <a:r>
              <a:rPr lang="en-US" dirty="0"/>
              <a:t>(</a:t>
            </a:r>
            <a:br>
              <a:rPr lang="fa-IR" dirty="0"/>
            </a:br>
            <a:r>
              <a:rPr lang="fa-IR" sz="1600" b="0" i="0" u="none" dirty="0">
                <a:solidFill>
                  <a:schemeClr val="tx1"/>
                </a:solidFill>
              </a:rPr>
              <a:t>نرخ مرگ‌ومیر ۱۰۰ درصد (۴ فوتی از ۴ نفر) با میانگین امتیاز شدت بیماری کبدی برابر ۱۴.۱ ثبت شده که پایین‌تر از مردان است اما پیامد بدتری داشته. طبقه‌بندی شدت بیماری شامل زیر حد استاندارد، خفیف، متوسط و بسیار شدید است. هیچ موردی از آسیت یا دیابت گزارش نشده و سابقه سیگار در همه موارد نامشخص است، در حالی که مصرف الکل در تمام بیماران مثبت بوده. وضعیت نارسایی حاد بر مزمن کبد نیز مانند مردان نامشخص ثبت شده است.</a:t>
            </a:r>
            <a:endParaRPr lang="en-US" sz="1600" b="0" i="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59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883000-8183-0F81-CCF4-D3031E9DEC7B}"/>
              </a:ext>
            </a:extLst>
          </p:cNvPr>
          <p:cNvSpPr txBox="1"/>
          <p:nvPr/>
        </p:nvSpPr>
        <p:spPr>
          <a:xfrm>
            <a:off x="116416" y="4574897"/>
            <a:ext cx="119591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dirty="0"/>
              <a:t>در بازه زمانی </a:t>
            </a:r>
            <a:r>
              <a:rPr lang="fa-IR" b="1" dirty="0"/>
              <a:t>سال‌های ۲۰۲۰ تا ۲۰۲۱</a:t>
            </a:r>
            <a:r>
              <a:rPr lang="fa-IR" dirty="0"/>
              <a:t>، </a:t>
            </a:r>
            <a:r>
              <a:rPr lang="fa-IR" b="1" dirty="0"/>
              <a:t>مجموع فروش از ابتدای سال</a:t>
            </a:r>
            <a:r>
              <a:rPr lang="fa-IR" dirty="0"/>
              <a:t> حدود </a:t>
            </a:r>
            <a:r>
              <a:rPr lang="fa-IR" b="1" dirty="0"/>
              <a:t>۴ میلیون دلار</a:t>
            </a:r>
            <a:r>
              <a:rPr lang="fa-IR" dirty="0"/>
              <a:t> ثبت شده است، اما </a:t>
            </a:r>
            <a:r>
              <a:rPr lang="fa-IR" b="1" dirty="0"/>
              <a:t>نرخ رشد فروش نسبت به سال قبل</a:t>
            </a:r>
            <a:r>
              <a:rPr lang="fa-IR" dirty="0"/>
              <a:t> کاهش </a:t>
            </a:r>
            <a:r>
              <a:rPr lang="fa-IR" b="1" dirty="0"/>
              <a:t>۱۰۰ درصدی</a:t>
            </a:r>
            <a:r>
              <a:rPr lang="fa-IR" dirty="0"/>
              <a:t> را نشان می‌دهد که بیانگر افت قابل توجه عملکرد فروش در مقایسه با دوره قبل است. در مقابل، </a:t>
            </a:r>
            <a:r>
              <a:rPr lang="fa-IR" b="1" dirty="0"/>
              <a:t>میانگین قیمت فروش</a:t>
            </a:r>
            <a:r>
              <a:rPr lang="fa-IR" dirty="0"/>
              <a:t> به حدود </a:t>
            </a:r>
            <a:r>
              <a:rPr lang="fa-IR" b="1" dirty="0"/>
              <a:t>۳۳٫۲ هزار دلار</a:t>
            </a:r>
            <a:r>
              <a:rPr lang="fa-IR" dirty="0"/>
              <a:t> رسیده و </a:t>
            </a:r>
            <a:r>
              <a:rPr lang="fa-IR" b="1" dirty="0"/>
              <a:t>رشد ۱۳۴٫۱ درصدی میانگین قیمت</a:t>
            </a:r>
            <a:r>
              <a:rPr lang="fa-IR" dirty="0"/>
              <a:t> نشان می‌دهد که تمرکز فروش به سمت خودروهای گران‌تر و با ارزش بالاتر تغییر کرده است. همچنین، بیشترین سهم فروش مربوط به خودروهای </a:t>
            </a:r>
            <a:r>
              <a:rPr lang="fa-IR" b="1" dirty="0"/>
              <a:t>کم‌کارکرد</a:t>
            </a:r>
            <a:r>
              <a:rPr lang="fa-IR" dirty="0"/>
              <a:t> و خودروهای دارای </a:t>
            </a:r>
            <a:r>
              <a:rPr lang="fa-IR" b="1" dirty="0"/>
              <a:t>فاصله محوری متوسط</a:t>
            </a:r>
            <a:r>
              <a:rPr lang="fa-IR" dirty="0"/>
              <a:t> بوده که نشان‌دهنده تقاضای بیشتر بازار برای این دسته از خودروها است. از نظر پراکندگی جغرافیایی، بیشترین فروش در کشورهای </a:t>
            </a:r>
            <a:r>
              <a:rPr lang="fa-IR" b="1" dirty="0"/>
              <a:t>اروپایی</a:t>
            </a:r>
            <a:r>
              <a:rPr lang="fa-IR" dirty="0"/>
              <a:t> مشاهده می‌شود و در میان تولیدکنندگان، </a:t>
            </a:r>
            <a:r>
              <a:rPr lang="fa-IR" b="1" dirty="0"/>
              <a:t>آئودی، بی‌ام‌و و لندروور</a:t>
            </a:r>
            <a:r>
              <a:rPr lang="fa-IR" dirty="0"/>
              <a:t> بیشترین سهم از فروش را به خود اختصاص داده‌اند که نشان‌دهنده جایگاه قوی این برندها در بازار طی این دوره است.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9AFAC9-F642-28E1-01E7-0AA81B164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99" y="169334"/>
            <a:ext cx="11446933" cy="41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20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741</TotalTime>
  <Words>614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 Titr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yousef nasibi</dc:creator>
  <cp:lastModifiedBy>yousef nasibi</cp:lastModifiedBy>
  <cp:revision>7</cp:revision>
  <dcterms:created xsi:type="dcterms:W3CDTF">2026-07-12T00:27:46Z</dcterms:created>
  <dcterms:modified xsi:type="dcterms:W3CDTF">2026-07-13T22:51:20Z</dcterms:modified>
</cp:coreProperties>
</file>